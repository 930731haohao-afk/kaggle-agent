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end-to-end agent for Kaggle competitions: it takes a raw dataset and returns a submission, with no person in the loop. I benchmarked it against two frozen reference agents on twenty competitions, scored on the real leaderboards. (18s)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Competitions demand the whole expert loop, and the top of the leaderboard separates at the fourth or fifth decimal, so tuning skill distinguishes nobody — and at that scale a pipeline's own cross-validation routinely disagrees with the leaderboard. What an agent brings is tireless, logged search: between thirty-seven and two hundred and twenty-four candidate configurations per competition, and the same protocol run twenty times without drifting. (32s)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reads top to bottom. An LLM reasons and decides at every stage, gradient boosting does the fitting, and a tree search over complete candidate solutions is the optimisation loop. The one design decision that mattered is where outside knowledge enters. My first version put it downstream, at the blend — measured, it was worth ten to the minus five. So it moved upstream, into a dossier stage that classifies the task before any modelling. The lanes hold no Kaggle credentials, so nothing inside a run can touch a leaderboard.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reading. All twenty lanes are scored on the real leaderboard, and every one of the sixty duels is judged against the score noise measured on Kaggle's own split of the test set: thirty-eight decide, twenty-two the data refuses to call. My agent leads — sixteen wins to eight of its decided duels, sixty-six point seven percent, against forty-two point three for each yardstick. It takes the best private score on ten of the twenty competitions, and on three harder competitions outside tabular data it takes the best of the three every time.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 would tell anyone doing this. Put knowledge injection upstream — at the blend stage it bought nothing. While you iterate, local cross-validation is the only feedback you get, and it can look healthy while the leaderboard says otherwise. Version the agent, not just the code: an architecture change invalidates every run before it. And isolate mechanically, then read the transcripts — including your auditor's: mine was exempting the commands every lane actually issues, so the one command it existed to catch was never examined. (43s)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working this way still falls short. Engineering judgment is the gap, not technique: nothing in the loop can tell at design time whether an architecture will hold, and by the time the flaws surface the debt is already there. A pipeline will happily log success for work nothing performed — ours emitted instructions the evaluator had never implemented, and the ledger recorded them as handled. And AI writing habits survive review — redundant suffixes, invented terminology, and detail in place of the question you actually came for. Thank you. (37s)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C64"/>
        </a:solidFill>
      </p:bgPr>
    </p:bg>
    <p:spTree>
      <p:nvGrpSpPr>
        <p:cNvPr id="1" name=""/>
        <p:cNvGrpSpPr/>
        <p:nvPr/>
      </p:nvGrpSpPr>
      <p:grpSpPr>
        <a:xfrm>
          <a:off x="0" y="0"/>
          <a:ext cx="0" cy="0"/>
          <a:chOff x="0" y="0"/>
          <a:chExt cx="0" cy="0"/>
        </a:xfrm>
      </p:grpSpPr>
      <p:sp>
        <p:nvSpPr>
          <p:cNvPr id="2" name="Text 0"/>
          <p:cNvSpPr/>
          <p:nvPr/>
        </p:nvSpPr>
        <p:spPr>
          <a:xfrm>
            <a:off x="822960" y="1417320"/>
            <a:ext cx="10515600" cy="173736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An End-to-End AI Agent</a:t>
            </a:r>
            <a:endParaRPr lang="en-US" sz="4000" dirty="0"/>
          </a:p>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for Kaggle Competitions</a:t>
            </a:r>
            <a:endParaRPr lang="en-US" sz="4000" dirty="0"/>
          </a:p>
        </p:txBody>
      </p:sp>
      <p:sp>
        <p:nvSpPr>
          <p:cNvPr id="3" name="Text 1"/>
          <p:cNvSpPr/>
          <p:nvPr/>
        </p:nvSpPr>
        <p:spPr>
          <a:xfrm>
            <a:off x="822960" y="3337560"/>
            <a:ext cx="10058400" cy="45720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An end-to-end LLM agent benchmarked against two frozen yardsticks on 20 Kaggle competitions</a:t>
            </a:r>
            <a:endParaRPr lang="en-US" sz="1800" dirty="0"/>
          </a:p>
        </p:txBody>
      </p:sp>
      <p:sp>
        <p:nvSpPr>
          <p:cNvPr id="4" name="Text 2"/>
          <p:cNvSpPr/>
          <p:nvPr/>
        </p:nvSpPr>
        <p:spPr>
          <a:xfrm>
            <a:off x="822960" y="5577840"/>
            <a:ext cx="10789920" cy="402336"/>
          </a:xfrm>
          <a:prstGeom prst="rect">
            <a:avLst/>
          </a:prstGeom>
          <a:noFill/>
          <a:ln/>
        </p:spPr>
        <p:txBody>
          <a:bodyPr wrap="square" lIns="0" tIns="0" rIns="0" bIns="0" rtlCol="0" anchor="ctr"/>
          <a:lstStyle/>
          <a:p>
            <a:pPr indent="0" marL="0">
              <a:buNone/>
            </a:pPr>
            <a:r>
              <a:rPr lang="en-US" sz="1300" dirty="0">
                <a:solidFill>
                  <a:srgbClr val="A8BDD4"/>
                </a:solidFill>
                <a:latin typeface="Arial" pitchFamily="34" charset="0"/>
                <a:ea typeface="Arial" pitchFamily="34" charset="-122"/>
                <a:cs typeface="Arial" pitchFamily="34" charset="-120"/>
              </a:rPr>
              <a:t>Wei-Hao Huang, National Chengchi University   ·   PI: Dr. Tso-Jung Yen, Institute of Statistical Science, Academia Sinica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10972800" cy="548640"/>
          </a:xfrm>
          <a:prstGeom prst="rect">
            <a:avLst/>
          </a:prstGeom>
          <a:noFill/>
          <a:ln/>
        </p:spPr>
        <p:txBody>
          <a:bodyPr wrap="square" lIns="0" tIns="0" rIns="0" bIns="0" rtlCol="0" anchor="ctr"/>
          <a:lstStyle/>
          <a:p>
            <a:pPr indent="0" marL="0">
              <a:buNone/>
            </a:pPr>
            <a:r>
              <a:rPr lang="en-US" sz="2600" b="1" dirty="0">
                <a:solidFill>
                  <a:srgbClr val="003C64"/>
                </a:solidFill>
                <a:latin typeface="Arial" pitchFamily="34" charset="0"/>
                <a:ea typeface="Arial" pitchFamily="34" charset="-122"/>
                <a:cs typeface="Arial" pitchFamily="34" charset="-120"/>
              </a:rPr>
              <a:t>1 · Motivation</a:t>
            </a:r>
            <a:endParaRPr lang="en-US" sz="2600" dirty="0"/>
          </a:p>
        </p:txBody>
      </p:sp>
      <p:sp>
        <p:nvSpPr>
          <p:cNvPr id="3" name="Text 1"/>
          <p:cNvSpPr/>
          <p:nvPr/>
        </p:nvSpPr>
        <p:spPr>
          <a:xfrm>
            <a:off x="658368" y="1051560"/>
            <a:ext cx="10881360" cy="365760"/>
          </a:xfrm>
          <a:prstGeom prst="rect">
            <a:avLst/>
          </a:prstGeom>
          <a:noFill/>
          <a:ln/>
        </p:spPr>
        <p:txBody>
          <a:bodyPr wrap="square" lIns="0" tIns="0" rIns="0" bIns="0" rtlCol="0" anchor="ctr"/>
          <a:lstStyle/>
          <a:p>
            <a:pPr indent="0" marL="0">
              <a:buNone/>
            </a:pPr>
            <a:r>
              <a:rPr lang="en-US" sz="1900" b="1" dirty="0">
                <a:solidFill>
                  <a:srgbClr val="111111"/>
                </a:solidFill>
                <a:latin typeface="Arial" pitchFamily="34" charset="0"/>
                <a:ea typeface="Arial" pitchFamily="34" charset="-122"/>
                <a:cs typeface="Arial" pitchFamily="34" charset="-120"/>
              </a:rPr>
              <a:t>Why these tasks are hard</a:t>
            </a:r>
            <a:endParaRPr lang="en-US" sz="1900" dirty="0"/>
          </a:p>
        </p:txBody>
      </p:sp>
      <p:sp>
        <p:nvSpPr>
          <p:cNvPr id="4" name="Text 2"/>
          <p:cNvSpPr/>
          <p:nvPr/>
        </p:nvSpPr>
        <p:spPr>
          <a:xfrm>
            <a:off x="868680" y="1481328"/>
            <a:ext cx="10607040" cy="777240"/>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   A competition demands the whole expert loop — validation design, features, model selection, ensembling — and the top entries separate at the </a:t>
            </a:r>
            <a:pPr indent="0" marL="0">
              <a:buNone/>
            </a:pPr>
            <a:r>
              <a:rPr lang="en-US" sz="1700" b="1" dirty="0">
                <a:solidFill>
                  <a:srgbClr val="111111"/>
                </a:solidFill>
                <a:latin typeface="Arial" pitchFamily="34" charset="0"/>
                <a:ea typeface="Arial" pitchFamily="34" charset="-122"/>
                <a:cs typeface="Arial" pitchFamily="34" charset="-120"/>
              </a:rPr>
              <a:t>fourth or fifth decimal.</a:t>
            </a:r>
            <a:endParaRPr lang="en-US" sz="1700" dirty="0"/>
          </a:p>
        </p:txBody>
      </p:sp>
      <p:sp>
        <p:nvSpPr>
          <p:cNvPr id="5" name="Text 3"/>
          <p:cNvSpPr/>
          <p:nvPr/>
        </p:nvSpPr>
        <p:spPr>
          <a:xfrm>
            <a:off x="868680" y="2304288"/>
            <a:ext cx="10607040" cy="502920"/>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   At that scale </a:t>
            </a:r>
            <a:pPr indent="0" marL="0">
              <a:buNone/>
            </a:pPr>
            <a:r>
              <a:rPr lang="en-US" sz="1700" b="1" dirty="0">
                <a:solidFill>
                  <a:srgbClr val="111111"/>
                </a:solidFill>
                <a:latin typeface="Arial" pitchFamily="34" charset="0"/>
                <a:ea typeface="Arial" pitchFamily="34" charset="-122"/>
                <a:cs typeface="Arial" pitchFamily="34" charset="-120"/>
              </a:rPr>
              <a:t>local cross-validation is an unreliable compass</a:t>
            </a:r>
            <a:pPr indent="0" marL="0">
              <a:buNone/>
            </a:pPr>
            <a:r>
              <a:rPr lang="en-US" sz="1700" dirty="0">
                <a:solidFill>
                  <a:srgbClr val="111111"/>
                </a:solidFill>
                <a:latin typeface="Arial" pitchFamily="34" charset="0"/>
                <a:ea typeface="Arial" pitchFamily="34" charset="-122"/>
                <a:cs typeface="Arial" pitchFamily="34" charset="-120"/>
              </a:rPr>
              <a:t>: a pipeline's own score routinely disagrees with the leaderboard.</a:t>
            </a:r>
            <a:endParaRPr lang="en-US" sz="1700" dirty="0"/>
          </a:p>
        </p:txBody>
      </p:sp>
      <p:sp>
        <p:nvSpPr>
          <p:cNvPr id="6" name="Text 4"/>
          <p:cNvSpPr/>
          <p:nvPr/>
        </p:nvSpPr>
        <p:spPr>
          <a:xfrm>
            <a:off x="658368" y="3154680"/>
            <a:ext cx="10881360" cy="365760"/>
          </a:xfrm>
          <a:prstGeom prst="rect">
            <a:avLst/>
          </a:prstGeom>
          <a:noFill/>
          <a:ln/>
        </p:spPr>
        <p:txBody>
          <a:bodyPr wrap="square" lIns="0" tIns="0" rIns="0" bIns="0" rtlCol="0" anchor="ctr"/>
          <a:lstStyle/>
          <a:p>
            <a:pPr indent="0" marL="0">
              <a:buNone/>
            </a:pPr>
            <a:r>
              <a:rPr lang="en-US" sz="1900" b="1" dirty="0">
                <a:solidFill>
                  <a:srgbClr val="111111"/>
                </a:solidFill>
                <a:latin typeface="Arial" pitchFamily="34" charset="0"/>
                <a:ea typeface="Arial" pitchFamily="34" charset="-122"/>
                <a:cs typeface="Arial" pitchFamily="34" charset="-120"/>
              </a:rPr>
              <a:t>Why an AI agent</a:t>
            </a:r>
            <a:endParaRPr lang="en-US" sz="1900" dirty="0"/>
          </a:p>
        </p:txBody>
      </p:sp>
      <p:sp>
        <p:nvSpPr>
          <p:cNvPr id="7" name="Text 5"/>
          <p:cNvSpPr/>
          <p:nvPr/>
        </p:nvSpPr>
        <p:spPr>
          <a:xfrm>
            <a:off x="868680" y="3584448"/>
            <a:ext cx="10607040" cy="502920"/>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   Tireless, systematic search: </a:t>
            </a:r>
            <a:pPr indent="0" marL="0">
              <a:buNone/>
            </a:pPr>
            <a:r>
              <a:rPr lang="en-US" sz="1700" b="1" dirty="0">
                <a:solidFill>
                  <a:srgbClr val="111111"/>
                </a:solidFill>
                <a:latin typeface="Arial" pitchFamily="34" charset="0"/>
                <a:ea typeface="Arial" pitchFamily="34" charset="-122"/>
                <a:cs typeface="Arial" pitchFamily="34" charset="-120"/>
              </a:rPr>
              <a:t>37–224</a:t>
            </a:r>
            <a:pPr indent="0" marL="0">
              <a:buNone/>
            </a:pPr>
            <a:r>
              <a:rPr lang="en-US" sz="1700" dirty="0">
                <a:solidFill>
                  <a:srgbClr val="111111"/>
                </a:solidFill>
                <a:latin typeface="Arial" pitchFamily="34" charset="0"/>
                <a:ea typeface="Arial" pitchFamily="34" charset="-122"/>
                <a:cs typeface="Arial" pitchFamily="34" charset="-120"/>
              </a:rPr>
              <a:t> candidate configurations per competition, every experiment logged.</a:t>
            </a:r>
            <a:endParaRPr lang="en-US" sz="1700" dirty="0"/>
          </a:p>
        </p:txBody>
      </p:sp>
      <p:sp>
        <p:nvSpPr>
          <p:cNvPr id="8" name="Text 6"/>
          <p:cNvSpPr/>
          <p:nvPr/>
        </p:nvSpPr>
        <p:spPr>
          <a:xfrm>
            <a:off x="868680" y="4133088"/>
            <a:ext cx="10607040" cy="502920"/>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   The same disciplined protocol on 20 competitions in a row — a consistency a person cannot hold.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10972800" cy="548640"/>
          </a:xfrm>
          <a:prstGeom prst="rect">
            <a:avLst/>
          </a:prstGeom>
          <a:noFill/>
          <a:ln/>
        </p:spPr>
        <p:txBody>
          <a:bodyPr wrap="square" lIns="0" tIns="0" rIns="0" bIns="0" rtlCol="0" anchor="ctr"/>
          <a:lstStyle/>
          <a:p>
            <a:pPr indent="0" marL="0">
              <a:buNone/>
            </a:pPr>
            <a:r>
              <a:rPr lang="en-US" sz="2600" b="1" dirty="0">
                <a:solidFill>
                  <a:srgbClr val="003C64"/>
                </a:solidFill>
                <a:latin typeface="Arial" pitchFamily="34" charset="0"/>
                <a:ea typeface="Arial" pitchFamily="34" charset="-122"/>
                <a:cs typeface="Arial" pitchFamily="34" charset="-120"/>
              </a:rPr>
              <a:t>2 · Workflow</a:t>
            </a:r>
            <a:endParaRPr lang="en-US" sz="2600" dirty="0"/>
          </a:p>
        </p:txBody>
      </p:sp>
      <p:pic>
        <p:nvPicPr>
          <p:cNvPr id="3" name="Image 0" descr="fig1_arch_hi-1.png">    </p:cNvPr>
          <p:cNvPicPr>
            <a:picLocks noChangeAspect="1"/>
          </p:cNvPicPr>
          <p:nvPr/>
        </p:nvPicPr>
        <p:blipFill>
          <a:blip r:embed="rId1"/>
          <a:stretch>
            <a:fillRect/>
          </a:stretch>
        </p:blipFill>
        <p:spPr>
          <a:xfrm>
            <a:off x="658368" y="960120"/>
            <a:ext cx="6355080" cy="5660136"/>
          </a:xfrm>
          <a:prstGeom prst="rect">
            <a:avLst/>
          </a:prstGeom>
        </p:spPr>
      </p:pic>
      <p:sp>
        <p:nvSpPr>
          <p:cNvPr id="4" name="Text 1"/>
          <p:cNvSpPr/>
          <p:nvPr/>
        </p:nvSpPr>
        <p:spPr>
          <a:xfrm>
            <a:off x="7360920" y="1463040"/>
            <a:ext cx="4160520" cy="146304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The LLM reasons and decides at every stage</a:t>
            </a:r>
            <a:pPr indent="0" marL="0">
              <a:buNone/>
            </a:pPr>
            <a:r>
              <a:rPr lang="en-US" sz="1600" dirty="0">
                <a:solidFill>
                  <a:srgbClr val="111111"/>
                </a:solidFill>
                <a:latin typeface="Arial" pitchFamily="34" charset="0"/>
                <a:ea typeface="Arial" pitchFamily="34" charset="-122"/>
                <a:cs typeface="Arial" pitchFamily="34" charset="-120"/>
              </a:rPr>
              <a:t>; gradient boosting does the fitting; a tree search over complete candidate solutions is the optimisation loop.</a:t>
            </a:r>
            <a:endParaRPr lang="en-US" sz="1600" dirty="0"/>
          </a:p>
        </p:txBody>
      </p:sp>
      <p:sp>
        <p:nvSpPr>
          <p:cNvPr id="5" name="Text 2"/>
          <p:cNvSpPr/>
          <p:nvPr/>
        </p:nvSpPr>
        <p:spPr>
          <a:xfrm>
            <a:off x="7360920" y="3063240"/>
            <a:ext cx="4160520" cy="109728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The problem dossier</a:t>
            </a:r>
            <a:pPr indent="0" marL="0">
              <a:buNone/>
            </a:pPr>
            <a:r>
              <a:rPr lang="en-US" sz="1600" dirty="0">
                <a:solidFill>
                  <a:srgbClr val="111111"/>
                </a:solidFill>
                <a:latin typeface="Arial" pitchFamily="34" charset="0"/>
                <a:ea typeface="Arial" pitchFamily="34" charset="-122"/>
                <a:cs typeface="Arial" pitchFamily="34" charset="-120"/>
              </a:rPr>
              <a:t> classifies the task and injects external data </a:t>
            </a:r>
            <a:pPr indent="0" marL="0">
              <a:buNone/>
            </a:pPr>
            <a:r>
              <a:rPr lang="en-US" sz="1600" i="1" dirty="0">
                <a:solidFill>
                  <a:srgbClr val="111111"/>
                </a:solidFill>
                <a:latin typeface="Arial" pitchFamily="34" charset="0"/>
                <a:ea typeface="Arial" pitchFamily="34" charset="-122"/>
                <a:cs typeface="Arial" pitchFamily="34" charset="-120"/>
              </a:rPr>
              <a:t>upstream</a:t>
            </a:r>
            <a:pPr indent="0" marL="0">
              <a:buNone/>
            </a:pPr>
            <a:r>
              <a:rPr lang="en-US" sz="1600" dirty="0">
                <a:solidFill>
                  <a:srgbClr val="111111"/>
                </a:solidFill>
                <a:latin typeface="Arial" pitchFamily="34" charset="0"/>
                <a:ea typeface="Arial" pitchFamily="34" charset="-122"/>
                <a:cs typeface="Arial" pitchFamily="34" charset="-120"/>
              </a:rPr>
              <a:t>, before any modelling.</a:t>
            </a:r>
            <a:endParaRPr lang="en-US" sz="1600" dirty="0"/>
          </a:p>
        </p:txBody>
      </p:sp>
      <p:sp>
        <p:nvSpPr>
          <p:cNvPr id="6" name="Text 3"/>
          <p:cNvSpPr/>
          <p:nvPr/>
        </p:nvSpPr>
        <p:spPr>
          <a:xfrm>
            <a:off x="7360920" y="4297680"/>
            <a:ext cx="4160520" cy="1005840"/>
          </a:xfrm>
          <a:prstGeom prst="rect">
            <a:avLst/>
          </a:prstGeom>
          <a:noFill/>
          <a:ln/>
        </p:spPr>
        <p:txBody>
          <a:bodyPr wrap="square" lIns="0" tIns="0" rIns="0" bIns="0" rtlCol="0" anchor="ctr"/>
          <a:lstStyle/>
          <a:p>
            <a:pPr indent="0" marL="0">
              <a:buNone/>
            </a:pPr>
            <a:r>
              <a:rPr lang="en-US" sz="1500" dirty="0">
                <a:solidFill>
                  <a:srgbClr val="5A5F66"/>
                </a:solidFill>
                <a:latin typeface="Arial" pitchFamily="34" charset="0"/>
                <a:ea typeface="Arial" pitchFamily="34" charset="-122"/>
                <a:cs typeface="Arial" pitchFamily="34" charset="-120"/>
              </a:rPr>
              <a:t>Lanes hold no Kaggle credentials; submissions are scored post-run on the real leaderboard.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10972800" cy="548640"/>
          </a:xfrm>
          <a:prstGeom prst="rect">
            <a:avLst/>
          </a:prstGeom>
          <a:noFill/>
          <a:ln/>
        </p:spPr>
        <p:txBody>
          <a:bodyPr wrap="square" lIns="0" tIns="0" rIns="0" bIns="0" rtlCol="0" anchor="ctr"/>
          <a:lstStyle/>
          <a:p>
            <a:pPr indent="0" marL="0">
              <a:buNone/>
            </a:pPr>
            <a:r>
              <a:rPr lang="en-US" sz="2600" b="1" dirty="0">
                <a:solidFill>
                  <a:srgbClr val="003C64"/>
                </a:solidFill>
                <a:latin typeface="Arial" pitchFamily="34" charset="0"/>
                <a:ea typeface="Arial" pitchFamily="34" charset="-122"/>
                <a:cs typeface="Arial" pitchFamily="34" charset="-120"/>
              </a:rPr>
              <a:t>3 · Results</a:t>
            </a:r>
            <a:endParaRPr lang="en-US" sz="2600" dirty="0"/>
          </a:p>
        </p:txBody>
      </p:sp>
      <p:sp>
        <p:nvSpPr>
          <p:cNvPr id="3" name="Text 1"/>
          <p:cNvSpPr/>
          <p:nvPr/>
        </p:nvSpPr>
        <p:spPr>
          <a:xfrm>
            <a:off x="658368" y="1024128"/>
            <a:ext cx="10881360" cy="731520"/>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All 20 lanes scored on the real leaderboard; each of the 60 duels judged against the score noise measured on Kaggle's own public/private split — 38 decided, 22 too close to call.</a:t>
            </a:r>
            <a:endParaRPr lang="en-US" sz="1700" dirty="0"/>
          </a:p>
        </p:txBody>
      </p:sp>
      <p:sp>
        <p:nvSpPr>
          <p:cNvPr id="4" name="Text 2"/>
          <p:cNvSpPr/>
          <p:nvPr/>
        </p:nvSpPr>
        <p:spPr>
          <a:xfrm>
            <a:off x="658368" y="1874520"/>
            <a:ext cx="10881360" cy="50292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my-agent leads: 16 wins / 8 losses (66.7% of its decided duels)</a:t>
            </a:r>
            <a:pPr indent="0" marL="0">
              <a:buNone/>
            </a:pPr>
            <a:r>
              <a:rPr lang="en-US" sz="1700" dirty="0">
                <a:solidFill>
                  <a:srgbClr val="111111"/>
                </a:solidFill>
                <a:latin typeface="Arial" pitchFamily="34" charset="0"/>
                <a:ea typeface="Arial" pitchFamily="34" charset="-122"/>
                <a:cs typeface="Arial" pitchFamily="34" charset="-120"/>
              </a:rPr>
              <a:t> against 42.3% for each frozen yardstick.</a:t>
            </a:r>
            <a:endParaRPr lang="en-US" sz="1700" dirty="0"/>
          </a:p>
        </p:txBody>
      </p:sp>
      <p:sp>
        <p:nvSpPr>
          <p:cNvPr id="5" name="Text 3"/>
          <p:cNvSpPr/>
          <p:nvPr/>
        </p:nvSpPr>
        <p:spPr>
          <a:xfrm>
            <a:off x="658368" y="2606040"/>
            <a:ext cx="10881360" cy="36576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Head-to-head best private score</a:t>
            </a:r>
            <a:endParaRPr lang="en-US" sz="1700" dirty="0"/>
          </a:p>
        </p:txBody>
      </p:sp>
      <p:sp>
        <p:nvSpPr>
          <p:cNvPr id="6" name="Text 4"/>
          <p:cNvSpPr/>
          <p:nvPr/>
        </p:nvSpPr>
        <p:spPr>
          <a:xfrm>
            <a:off x="658368" y="3108960"/>
            <a:ext cx="1828800" cy="420624"/>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my-agent</a:t>
            </a:r>
            <a:endParaRPr lang="en-US" sz="1700" dirty="0"/>
          </a:p>
        </p:txBody>
      </p:sp>
      <p:sp>
        <p:nvSpPr>
          <p:cNvPr id="7" name="Shape 5"/>
          <p:cNvSpPr/>
          <p:nvPr/>
        </p:nvSpPr>
        <p:spPr>
          <a:xfrm>
            <a:off x="2606040" y="3154680"/>
            <a:ext cx="5120640" cy="329184"/>
          </a:xfrm>
          <a:prstGeom prst="rect">
            <a:avLst/>
          </a:prstGeom>
          <a:solidFill>
            <a:srgbClr val="EEF0F3"/>
          </a:solidFill>
          <a:ln w="12700">
            <a:solidFill>
              <a:srgbClr val="EEF0F3"/>
            </a:solidFill>
            <a:prstDash val="solid"/>
          </a:ln>
        </p:spPr>
      </p:sp>
      <p:sp>
        <p:nvSpPr>
          <p:cNvPr id="8" name="Shape 6"/>
          <p:cNvSpPr/>
          <p:nvPr/>
        </p:nvSpPr>
        <p:spPr>
          <a:xfrm>
            <a:off x="2606040" y="3154680"/>
            <a:ext cx="2560320" cy="329184"/>
          </a:xfrm>
          <a:prstGeom prst="rect">
            <a:avLst/>
          </a:prstGeom>
          <a:solidFill>
            <a:srgbClr val="003C64"/>
          </a:solidFill>
          <a:ln w="12700">
            <a:solidFill>
              <a:srgbClr val="003C64"/>
            </a:solidFill>
            <a:prstDash val="solid"/>
          </a:ln>
        </p:spPr>
      </p:sp>
      <p:sp>
        <p:nvSpPr>
          <p:cNvPr id="9" name="Text 7"/>
          <p:cNvSpPr/>
          <p:nvPr/>
        </p:nvSpPr>
        <p:spPr>
          <a:xfrm>
            <a:off x="7909560" y="3108960"/>
            <a:ext cx="1463040" cy="420624"/>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10 / 20</a:t>
            </a:r>
            <a:endParaRPr lang="en-US" sz="1700" dirty="0"/>
          </a:p>
        </p:txBody>
      </p:sp>
      <p:sp>
        <p:nvSpPr>
          <p:cNvPr id="10" name="Text 8"/>
          <p:cNvSpPr/>
          <p:nvPr/>
        </p:nvSpPr>
        <p:spPr>
          <a:xfrm>
            <a:off x="658368" y="3657600"/>
            <a:ext cx="1828800" cy="420624"/>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NVIDIA</a:t>
            </a:r>
            <a:endParaRPr lang="en-US" sz="1700" dirty="0"/>
          </a:p>
        </p:txBody>
      </p:sp>
      <p:sp>
        <p:nvSpPr>
          <p:cNvPr id="11" name="Shape 9"/>
          <p:cNvSpPr/>
          <p:nvPr/>
        </p:nvSpPr>
        <p:spPr>
          <a:xfrm>
            <a:off x="2606040" y="3703320"/>
            <a:ext cx="5120640" cy="329184"/>
          </a:xfrm>
          <a:prstGeom prst="rect">
            <a:avLst/>
          </a:prstGeom>
          <a:solidFill>
            <a:srgbClr val="EEF0F3"/>
          </a:solidFill>
          <a:ln w="12700">
            <a:solidFill>
              <a:srgbClr val="EEF0F3"/>
            </a:solidFill>
            <a:prstDash val="solid"/>
          </a:ln>
        </p:spPr>
      </p:sp>
      <p:sp>
        <p:nvSpPr>
          <p:cNvPr id="12" name="Shape 10"/>
          <p:cNvSpPr/>
          <p:nvPr/>
        </p:nvSpPr>
        <p:spPr>
          <a:xfrm>
            <a:off x="2606040" y="3703320"/>
            <a:ext cx="1792224" cy="329184"/>
          </a:xfrm>
          <a:prstGeom prst="rect">
            <a:avLst/>
          </a:prstGeom>
          <a:solidFill>
            <a:srgbClr val="B0BAC4"/>
          </a:solidFill>
          <a:ln w="12700">
            <a:solidFill>
              <a:srgbClr val="B0BAC4"/>
            </a:solidFill>
            <a:prstDash val="solid"/>
          </a:ln>
        </p:spPr>
      </p:sp>
      <p:sp>
        <p:nvSpPr>
          <p:cNvPr id="13" name="Text 11"/>
          <p:cNvSpPr/>
          <p:nvPr/>
        </p:nvSpPr>
        <p:spPr>
          <a:xfrm>
            <a:off x="7909560" y="3657600"/>
            <a:ext cx="1463040" cy="420624"/>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7 / 20</a:t>
            </a:r>
            <a:endParaRPr lang="en-US" sz="1700" dirty="0"/>
          </a:p>
        </p:txBody>
      </p:sp>
      <p:sp>
        <p:nvSpPr>
          <p:cNvPr id="14" name="Text 12"/>
          <p:cNvSpPr/>
          <p:nvPr/>
        </p:nvSpPr>
        <p:spPr>
          <a:xfrm>
            <a:off x="658368" y="4206240"/>
            <a:ext cx="1828800" cy="420624"/>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AIDE</a:t>
            </a:r>
            <a:endParaRPr lang="en-US" sz="1700" dirty="0"/>
          </a:p>
        </p:txBody>
      </p:sp>
      <p:sp>
        <p:nvSpPr>
          <p:cNvPr id="15" name="Shape 13"/>
          <p:cNvSpPr/>
          <p:nvPr/>
        </p:nvSpPr>
        <p:spPr>
          <a:xfrm>
            <a:off x="2606040" y="4251960"/>
            <a:ext cx="5120640" cy="329184"/>
          </a:xfrm>
          <a:prstGeom prst="rect">
            <a:avLst/>
          </a:prstGeom>
          <a:solidFill>
            <a:srgbClr val="EEF0F3"/>
          </a:solidFill>
          <a:ln w="12700">
            <a:solidFill>
              <a:srgbClr val="EEF0F3"/>
            </a:solidFill>
            <a:prstDash val="solid"/>
          </a:ln>
        </p:spPr>
      </p:sp>
      <p:sp>
        <p:nvSpPr>
          <p:cNvPr id="16" name="Shape 14"/>
          <p:cNvSpPr/>
          <p:nvPr/>
        </p:nvSpPr>
        <p:spPr>
          <a:xfrm>
            <a:off x="2606040" y="4251960"/>
            <a:ext cx="768096" cy="329184"/>
          </a:xfrm>
          <a:prstGeom prst="rect">
            <a:avLst/>
          </a:prstGeom>
          <a:solidFill>
            <a:srgbClr val="B0BAC4"/>
          </a:solidFill>
          <a:ln w="12700">
            <a:solidFill>
              <a:srgbClr val="B0BAC4"/>
            </a:solidFill>
            <a:prstDash val="solid"/>
          </a:ln>
        </p:spPr>
      </p:sp>
      <p:sp>
        <p:nvSpPr>
          <p:cNvPr id="17" name="Text 15"/>
          <p:cNvSpPr/>
          <p:nvPr/>
        </p:nvSpPr>
        <p:spPr>
          <a:xfrm>
            <a:off x="7909560" y="4206240"/>
            <a:ext cx="1463040" cy="420624"/>
          </a:xfrm>
          <a:prstGeom prst="rect">
            <a:avLst/>
          </a:prstGeom>
          <a:noFill/>
          <a:ln/>
        </p:spPr>
        <p:txBody>
          <a:bodyPr wrap="square" lIns="0" tIns="0" rIns="0" bIns="0" rtlCol="0" anchor="ctr"/>
          <a:lstStyle/>
          <a:p>
            <a:pPr indent="0" marL="0">
              <a:buNone/>
            </a:pPr>
            <a:r>
              <a:rPr lang="en-US" sz="1700" dirty="0">
                <a:solidFill>
                  <a:srgbClr val="111111"/>
                </a:solidFill>
                <a:latin typeface="Arial" pitchFamily="34" charset="0"/>
                <a:ea typeface="Arial" pitchFamily="34" charset="-122"/>
                <a:cs typeface="Arial" pitchFamily="34" charset="-120"/>
              </a:rPr>
              <a:t>3 / 20</a:t>
            </a:r>
            <a:endParaRPr lang="en-US" sz="1700" dirty="0"/>
          </a:p>
        </p:txBody>
      </p:sp>
      <p:sp>
        <p:nvSpPr>
          <p:cNvPr id="18" name="Text 16"/>
          <p:cNvSpPr/>
          <p:nvPr/>
        </p:nvSpPr>
        <p:spPr>
          <a:xfrm>
            <a:off x="658368" y="4983480"/>
            <a:ext cx="10881360" cy="640080"/>
          </a:xfrm>
          <a:prstGeom prst="rect">
            <a:avLst/>
          </a:prstGeom>
          <a:noFill/>
          <a:ln/>
        </p:spPr>
        <p:txBody>
          <a:bodyPr wrap="square" lIns="0" tIns="0" rIns="0" bIns="0" rtlCol="0" anchor="ctr"/>
          <a:lstStyle/>
          <a:p>
            <a:pPr indent="0" marL="0">
              <a:buNone/>
            </a:pPr>
            <a:r>
              <a:rPr lang="en-US" sz="1500" dirty="0">
                <a:solidFill>
                  <a:srgbClr val="5A5F66"/>
                </a:solidFill>
                <a:latin typeface="Arial" pitchFamily="34" charset="0"/>
                <a:ea typeface="Arial" pitchFamily="34" charset="-122"/>
                <a:cs typeface="Arial" pitchFamily="34" charset="-120"/>
              </a:rPr>
              <a:t>Beyond tabular: on three mid-complexity competitions (NLP, physiological time series, medical imaging) my-agent takes the three-way best on all three.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10972800" cy="548640"/>
          </a:xfrm>
          <a:prstGeom prst="rect">
            <a:avLst/>
          </a:prstGeom>
          <a:noFill/>
          <a:ln/>
        </p:spPr>
        <p:txBody>
          <a:bodyPr wrap="square" lIns="0" tIns="0" rIns="0" bIns="0" rtlCol="0" anchor="ctr"/>
          <a:lstStyle/>
          <a:p>
            <a:pPr indent="0" marL="0">
              <a:buNone/>
            </a:pPr>
            <a:r>
              <a:rPr lang="en-US" sz="2600" b="1" dirty="0">
                <a:solidFill>
                  <a:srgbClr val="003C64"/>
                </a:solidFill>
                <a:latin typeface="Arial" pitchFamily="34" charset="0"/>
                <a:ea typeface="Arial" pitchFamily="34" charset="-122"/>
                <a:cs typeface="Arial" pitchFamily="34" charset="-120"/>
              </a:rPr>
              <a:t>4 · Lessons learned</a:t>
            </a:r>
            <a:endParaRPr lang="en-US" sz="2600" dirty="0"/>
          </a:p>
        </p:txBody>
      </p:sp>
      <p:sp>
        <p:nvSpPr>
          <p:cNvPr id="3" name="Text 1"/>
          <p:cNvSpPr/>
          <p:nvPr/>
        </p:nvSpPr>
        <p:spPr>
          <a:xfrm>
            <a:off x="868680" y="1097280"/>
            <a:ext cx="10607040" cy="77724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   Put knowledge injection upstream.</a:t>
            </a:r>
            <a:pPr indent="0" marL="0">
              <a:buNone/>
            </a:pPr>
            <a:r>
              <a:rPr lang="en-US" sz="1600" dirty="0">
                <a:solidFill>
                  <a:srgbClr val="111111"/>
                </a:solidFill>
                <a:latin typeface="Arial" pitchFamily="34" charset="0"/>
                <a:ea typeface="Arial" pitchFamily="34" charset="-122"/>
                <a:cs typeface="Arial" pitchFamily="34" charset="-120"/>
              </a:rPr>
              <a:t> At the blend stage it measured near-nothing; moved into problem identification it flags exactly the competitions that need external data.</a:t>
            </a:r>
            <a:endParaRPr lang="en-US" sz="1600" dirty="0"/>
          </a:p>
        </p:txBody>
      </p:sp>
      <p:sp>
        <p:nvSpPr>
          <p:cNvPr id="4" name="Text 2"/>
          <p:cNvSpPr/>
          <p:nvPr/>
        </p:nvSpPr>
        <p:spPr>
          <a:xfrm>
            <a:off x="868680" y="2011680"/>
            <a:ext cx="10607040" cy="77724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   Local CV is your only feedback.</a:t>
            </a:r>
            <a:pPr indent="0" marL="0">
              <a:buNone/>
            </a:pPr>
            <a:r>
              <a:rPr lang="en-US" sz="1600" dirty="0">
                <a:solidFill>
                  <a:srgbClr val="111111"/>
                </a:solidFill>
                <a:latin typeface="Arial" pitchFamily="34" charset="0"/>
                <a:ea typeface="Arial" pitchFamily="34" charset="-122"/>
                <a:cs typeface="Arial" pitchFamily="34" charset="-120"/>
              </a:rPr>
              <a:t> A competition returns no score until submission, so an error in problem-level judgment leaves CV looking healthy while the leaderboard says otherwise.</a:t>
            </a:r>
            <a:endParaRPr lang="en-US" sz="1600" dirty="0"/>
          </a:p>
        </p:txBody>
      </p:sp>
      <p:sp>
        <p:nvSpPr>
          <p:cNvPr id="5" name="Text 3"/>
          <p:cNvSpPr/>
          <p:nvPr/>
        </p:nvSpPr>
        <p:spPr>
          <a:xfrm>
            <a:off x="868680" y="2926080"/>
            <a:ext cx="10607040" cy="77724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   Version the agent itself.</a:t>
            </a:r>
            <a:pPr indent="0" marL="0">
              <a:buNone/>
            </a:pPr>
            <a:r>
              <a:rPr lang="en-US" sz="1600" dirty="0">
                <a:solidFill>
                  <a:srgbClr val="111111"/>
                </a:solidFill>
                <a:latin typeface="Arial" pitchFamily="34" charset="0"/>
                <a:ea typeface="Arial" pitchFamily="34" charset="-122"/>
                <a:cs typeface="Arial" pitchFamily="34" charset="-120"/>
              </a:rPr>
              <a:t> An architecture change invalidates every competition that ran before it — start the benchmark over rather than mixing versions in one table.</a:t>
            </a:r>
            <a:endParaRPr lang="en-US" sz="1600" dirty="0"/>
          </a:p>
        </p:txBody>
      </p:sp>
      <p:sp>
        <p:nvSpPr>
          <p:cNvPr id="6" name="Text 4"/>
          <p:cNvSpPr/>
          <p:nvPr/>
        </p:nvSpPr>
        <p:spPr>
          <a:xfrm>
            <a:off x="868680" y="3840480"/>
            <a:ext cx="10607040" cy="77724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   Isolate mechanically then audit transcripts</a:t>
            </a:r>
            <a:pPr indent="0" marL="0">
              <a:buNone/>
            </a:pPr>
            <a:r>
              <a:rPr lang="en-US" sz="1600" dirty="0">
                <a:solidFill>
                  <a:srgbClr val="111111"/>
                </a:solidFill>
                <a:latin typeface="Arial" pitchFamily="34" charset="0"/>
                <a:ea typeface="Arial" pitchFamily="34" charset="-122"/>
                <a:cs typeface="Arial" pitchFamily="34" charset="-120"/>
              </a:rPr>
              <a:t> — and audit the auditor: ours exempted every command starting with uv, so the one command it existed to catch was never examined.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10972800" cy="548640"/>
          </a:xfrm>
          <a:prstGeom prst="rect">
            <a:avLst/>
          </a:prstGeom>
          <a:noFill/>
          <a:ln/>
        </p:spPr>
        <p:txBody>
          <a:bodyPr wrap="square" lIns="0" tIns="0" rIns="0" bIns="0" rtlCol="0" anchor="ctr"/>
          <a:lstStyle/>
          <a:p>
            <a:pPr indent="0" marL="0">
              <a:buNone/>
            </a:pPr>
            <a:r>
              <a:rPr lang="en-US" sz="2600" b="1" dirty="0">
                <a:solidFill>
                  <a:srgbClr val="003C64"/>
                </a:solidFill>
                <a:latin typeface="Arial" pitchFamily="34" charset="0"/>
                <a:ea typeface="Arial" pitchFamily="34" charset="-122"/>
                <a:cs typeface="Arial" pitchFamily="34" charset="-120"/>
              </a:rPr>
              <a:t>5 · AI's blind spots</a:t>
            </a:r>
            <a:endParaRPr lang="en-US" sz="2600" dirty="0"/>
          </a:p>
        </p:txBody>
      </p:sp>
      <p:sp>
        <p:nvSpPr>
          <p:cNvPr id="3" name="Text 1"/>
          <p:cNvSpPr/>
          <p:nvPr/>
        </p:nvSpPr>
        <p:spPr>
          <a:xfrm>
            <a:off x="868680" y="1097280"/>
            <a:ext cx="10607040" cy="77724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   Engineering judgment is the gap.</a:t>
            </a:r>
            <a:pPr indent="0" marL="0">
              <a:buNone/>
            </a:pPr>
            <a:r>
              <a:rPr lang="en-US" sz="1600" dirty="0">
                <a:solidFill>
                  <a:srgbClr val="111111"/>
                </a:solidFill>
                <a:latin typeface="Arial" pitchFamily="34" charset="0"/>
                <a:ea typeface="Arial" pitchFamily="34" charset="-122"/>
                <a:cs typeface="Arial" pitchFamily="34" charset="-120"/>
              </a:rPr>
              <a:t> Nothing in the loop can tell at design time whether an architecture will hold; the flaws surface once it runs, and the debt grows with every competition added.</a:t>
            </a:r>
            <a:endParaRPr lang="en-US" sz="1600" dirty="0"/>
          </a:p>
        </p:txBody>
      </p:sp>
      <p:sp>
        <p:nvSpPr>
          <p:cNvPr id="4" name="Text 2"/>
          <p:cNvSpPr/>
          <p:nvPr/>
        </p:nvSpPr>
        <p:spPr>
          <a:xfrm>
            <a:off x="868680" y="2011680"/>
            <a:ext cx="10607040" cy="77724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   Pipelines log success for missing work.</a:t>
            </a:r>
            <a:pPr indent="0" marL="0">
              <a:buNone/>
            </a:pPr>
            <a:r>
              <a:rPr lang="en-US" sz="1600" dirty="0">
                <a:solidFill>
                  <a:srgbClr val="111111"/>
                </a:solidFill>
                <a:latin typeface="Arial" pitchFamily="34" charset="0"/>
                <a:ea typeface="Arial" pitchFamily="34" charset="-122"/>
                <a:cs typeface="Arial" pitchFamily="34" charset="-120"/>
              </a:rPr>
              <a:t> Our dossier emitted operators the evaluator had never implemented — no warning, and the ledger recorded it as handled.</a:t>
            </a:r>
            <a:endParaRPr lang="en-US" sz="1600" dirty="0"/>
          </a:p>
        </p:txBody>
      </p:sp>
      <p:sp>
        <p:nvSpPr>
          <p:cNvPr id="5" name="Text 3"/>
          <p:cNvSpPr/>
          <p:nvPr/>
        </p:nvSpPr>
        <p:spPr>
          <a:xfrm>
            <a:off x="868680" y="2926080"/>
            <a:ext cx="10607040" cy="77724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   AI writing habits survive review</a:t>
            </a:r>
            <a:pPr indent="0" marL="0">
              <a:buNone/>
            </a:pPr>
            <a:r>
              <a:rPr lang="en-US" sz="1600" dirty="0">
                <a:solidFill>
                  <a:srgbClr val="111111"/>
                </a:solidFill>
                <a:latin typeface="Arial" pitchFamily="34" charset="0"/>
                <a:ea typeface="Arial" pitchFamily="34" charset="-122"/>
                <a:cs typeface="Arial" pitchFamily="34" charset="-120"/>
              </a:rPr>
              <a:t> — redundant suffixes, invented terminology, detail in place of the question the reader came for.</a:t>
            </a:r>
            <a:endParaRPr lang="en-US" sz="1600" dirty="0"/>
          </a:p>
        </p:txBody>
      </p:sp>
      <p:sp>
        <p:nvSpPr>
          <p:cNvPr id="6" name="Text 4"/>
          <p:cNvSpPr/>
          <p:nvPr/>
        </p:nvSpPr>
        <p:spPr>
          <a:xfrm>
            <a:off x="868680" y="5852160"/>
            <a:ext cx="10607040" cy="365760"/>
          </a:xfrm>
          <a:prstGeom prst="rect">
            <a:avLst/>
          </a:prstGeom>
          <a:noFill/>
          <a:ln/>
        </p:spPr>
        <p:txBody>
          <a:bodyPr wrap="square" lIns="0" tIns="0" rIns="0" bIns="0" rtlCol="0" anchor="ctr"/>
          <a:lstStyle/>
          <a:p>
            <a:pPr indent="0" marL="0">
              <a:buNone/>
            </a:pPr>
            <a:r>
              <a:rPr lang="en-US" sz="1300" dirty="0">
                <a:solidFill>
                  <a:srgbClr val="5A5F66"/>
                </a:solidFill>
                <a:latin typeface="Arial" pitchFamily="34" charset="0"/>
                <a:ea typeface="Arial" pitchFamily="34" charset="-122"/>
                <a:cs typeface="Arial" pitchFamily="34" charset="-120"/>
              </a:rPr>
              <a:t>github.com/930731haohao-afk/kaggle-agent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2026-08-19T11:00:06Z</dcterms:created>
  <dcterms:modified xsi:type="dcterms:W3CDTF">2026-08-19T11:00:06Z</dcterms:modified>
</cp:coreProperties>
</file>
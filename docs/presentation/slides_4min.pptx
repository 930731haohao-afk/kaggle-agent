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Kaggle competition is a scorable task: one submission, one hidden score. The judgment calls come before the modelling, which makes it a sharp test of machine judgment. One design question dominated the build — where should external knowledge enter the pipeline? (17s)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conventional answer is downstream: extra ideas among the candidates you blend. I built that, measured it: worth about ten to the minus five. So this architecture injects upstream. Before any modelling, a dossier reads the problem statement — does this task need outside data — and emits whitelisted, leakage-guarded joins. The rest is conventional: the language model decides at every stage, gradient boosting fits, tree search is the loop. The layer fires on two competitions of eighteen, and all six controlled arms beat their baselines. Nothing local tells me which form to use. (37s)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Those are my own numbers, and between agents local validation cannot arbitrate: one lane scored six point seven out of fold, forty-nine on the leaderboard. So every verdict is a real submission. Kaggle scores each submission on two halves of the test set. My first threshold used one agent’s drift between halves and called most duels undecidable — but that drift is shared: it moves all three agents together. Take the gap between two agents on both halves and the common drift cancels. A verdict needs both halves to agree, and the gap to beat its own movement. Sixty duels: thirty-eight decided; twenty-two are not ties, but readings the test refuses to make.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reading. Twenty competitions, three agents, one architecture frozen before the run, and no lane could reach a leaderboard. The two yardsticks are frozen too: AIDE searches from zero, the NVIDIA agent reproduces the highest-voted public kernel. I fixed nothing in either. Mine wins sixteen of its twenty-four decided duels, sixty-six point seven percent, against forty-two point three for each. That number measures the whole architecture; the injection decision is measured separately, by the controlled arms. (38s)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it loses is the interesting half. My two worst losses are the only two competitions with a mature public solution, and there the reproduction agent beats me decisively — twenty-eight against five and nine. That is the mechanism the design predicts: reproduction wins where a strong public solution exists, search wins where none does. The standing is also fragile: drop one competition and it reads seventy-two point seven, and one duel sits exactly on its noise floor. A ranking belongs to the method and the evaluation set together — mine included. (37s)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knowledge enters is an architectural choice with a measurable answer. State an error model, or a ranking is your own noise. And freeze your yardsticks, then read the transcripts — mine caught a blind spot in my own auditor, which was skipping the exact command it existed to catch. Corrected, a re-run over all twenty transcripts finds no network access. Thank you.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777240" y="1234440"/>
            <a:ext cx="10789920" cy="1965960"/>
          </a:xfrm>
          <a:prstGeom prst="rect">
            <a:avLst/>
          </a:prstGeom>
          <a:noFill/>
          <a:ln/>
        </p:spPr>
        <p:txBody>
          <a:bodyPr wrap="square" lIns="0" tIns="0" rIns="0" bIns="0" rtlCol="0" anchor="ctr"/>
          <a:lstStyle/>
          <a:p>
            <a:pPr indent="0" marL="0">
              <a:lnSpc>
                <a:spcPct val="125000"/>
              </a:lnSpc>
              <a:buNone/>
            </a:pPr>
            <a:r>
              <a:rPr lang="en-US" sz="4400" b="1" dirty="0">
                <a:solidFill>
                  <a:srgbClr val="FFFFFF"/>
                </a:solidFill>
                <a:latin typeface="Arial" pitchFamily="34" charset="0"/>
                <a:ea typeface="Arial" pitchFamily="34" charset="-122"/>
                <a:cs typeface="Arial" pitchFamily="34" charset="-120"/>
              </a:rPr>
              <a:t>An End-to-End AI Agent</a:t>
            </a:r>
            <a:endParaRPr lang="en-US" sz="4400" dirty="0"/>
          </a:p>
          <a:p>
            <a:pPr indent="0" marL="0">
              <a:lnSpc>
                <a:spcPct val="125000"/>
              </a:lnSpc>
              <a:buNone/>
            </a:pPr>
            <a:r>
              <a:rPr lang="en-US" sz="4400" b="1" dirty="0">
                <a:solidFill>
                  <a:srgbClr val="FFFFFF"/>
                </a:solidFill>
                <a:latin typeface="Arial" pitchFamily="34" charset="0"/>
                <a:ea typeface="Arial" pitchFamily="34" charset="-122"/>
                <a:cs typeface="Arial" pitchFamily="34" charset="-120"/>
              </a:rPr>
              <a:t>for Kaggle Competitions</a:t>
            </a:r>
            <a:endParaRPr lang="en-US" sz="4400" dirty="0"/>
          </a:p>
        </p:txBody>
      </p:sp>
      <p:sp>
        <p:nvSpPr>
          <p:cNvPr id="3" name="Text 1"/>
          <p:cNvSpPr/>
          <p:nvPr/>
        </p:nvSpPr>
        <p:spPr>
          <a:xfrm>
            <a:off x="777240" y="3520440"/>
            <a:ext cx="10789920" cy="594360"/>
          </a:xfrm>
          <a:prstGeom prst="rect">
            <a:avLst/>
          </a:prstGeom>
          <a:noFill/>
          <a:ln/>
        </p:spPr>
        <p:txBody>
          <a:bodyPr wrap="square" lIns="0" tIns="0" rIns="0" bIns="0" rtlCol="0" anchor="ctr"/>
          <a:lstStyle/>
          <a:p>
            <a:pPr indent="0" marL="0">
              <a:buNone/>
            </a:pPr>
            <a:r>
              <a:rPr lang="en-US" sz="2800" i="1" dirty="0">
                <a:solidFill>
                  <a:srgbClr val="CADCFC"/>
                </a:solidFill>
                <a:latin typeface="Arial" pitchFamily="34" charset="0"/>
                <a:ea typeface="Arial" pitchFamily="34" charset="-122"/>
                <a:cs typeface="Arial" pitchFamily="34" charset="-120"/>
              </a:rPr>
              <a:t>Where should external knowledge enter an agent’s pipeline?</a:t>
            </a:r>
            <a:endParaRPr lang="en-US" sz="2800" dirty="0"/>
          </a:p>
        </p:txBody>
      </p:sp>
      <p:sp>
        <p:nvSpPr>
          <p:cNvPr id="4" name="Text 2"/>
          <p:cNvSpPr/>
          <p:nvPr/>
        </p:nvSpPr>
        <p:spPr>
          <a:xfrm>
            <a:off x="777240" y="5074920"/>
            <a:ext cx="10789920" cy="411480"/>
          </a:xfrm>
          <a:prstGeom prst="rect">
            <a:avLst/>
          </a:prstGeom>
          <a:noFill/>
          <a:ln/>
        </p:spPr>
        <p:txBody>
          <a:bodyPr wrap="square" lIns="0" tIns="0" rIns="0" bIns="0" rtlCol="0" anchor="ctr"/>
          <a:lstStyle/>
          <a:p>
            <a:pPr indent="0" marL="0">
              <a:buNone/>
            </a:pPr>
            <a:r>
              <a:rPr lang="en-US" sz="1700" dirty="0">
                <a:solidFill>
                  <a:srgbClr val="A8BDD4"/>
                </a:solidFill>
                <a:latin typeface="Arial" pitchFamily="34" charset="0"/>
                <a:ea typeface="Arial" pitchFamily="34" charset="-122"/>
                <a:cs typeface="Arial" pitchFamily="34" charset="-120"/>
              </a:rPr>
              <a:t>Wei-Hao Huang   ·   Institute of Statistical Science, Academia Sinica</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74320"/>
            <a:ext cx="10972800" cy="548640"/>
          </a:xfrm>
          <a:prstGeom prst="rect">
            <a:avLst/>
          </a:prstGeom>
          <a:noFill/>
          <a:ln/>
        </p:spPr>
        <p:txBody>
          <a:bodyPr wrap="square" lIns="0" tIns="0" rIns="0" bIns="0" rtlCol="0" anchor="ctr"/>
          <a:lstStyle/>
          <a:p>
            <a:pPr indent="0" marL="0">
              <a:buNone/>
            </a:pPr>
            <a:r>
              <a:rPr lang="en-US" sz="2600" b="1" dirty="0">
                <a:solidFill>
                  <a:srgbClr val="0F2A4A"/>
                </a:solidFill>
                <a:latin typeface="Arial" pitchFamily="34" charset="0"/>
                <a:ea typeface="Arial" pitchFamily="34" charset="-122"/>
                <a:cs typeface="Arial" pitchFamily="34" charset="-120"/>
              </a:rPr>
              <a:t>The design decision: knowledge enters upstream</a:t>
            </a:r>
            <a:endParaRPr lang="en-US" sz="2600" dirty="0"/>
          </a:p>
        </p:txBody>
      </p:sp>
      <p:sp>
        <p:nvSpPr>
          <p:cNvPr id="3" name="Shape 1"/>
          <p:cNvSpPr/>
          <p:nvPr/>
        </p:nvSpPr>
        <p:spPr>
          <a:xfrm>
            <a:off x="658368" y="2788920"/>
            <a:ext cx="1417320" cy="566928"/>
          </a:xfrm>
          <a:prstGeom prst="roundRect">
            <a:avLst>
              <a:gd name="adj" fmla="val 9677"/>
            </a:avLst>
          </a:prstGeom>
          <a:solidFill>
            <a:srgbClr val="F1EBF5"/>
          </a:solidFill>
          <a:ln w="19050">
            <a:solidFill>
              <a:srgbClr val="7C4F96"/>
            </a:solidFill>
            <a:prstDash val="solid"/>
          </a:ln>
        </p:spPr>
      </p:sp>
      <p:sp>
        <p:nvSpPr>
          <p:cNvPr id="4" name="Text 2"/>
          <p:cNvSpPr/>
          <p:nvPr/>
        </p:nvSpPr>
        <p:spPr>
          <a:xfrm>
            <a:off x="658368" y="2788920"/>
            <a:ext cx="1417320" cy="566928"/>
          </a:xfrm>
          <a:prstGeom prst="rect">
            <a:avLst/>
          </a:prstGeom>
          <a:noFill/>
          <a:ln/>
        </p:spPr>
        <p:txBody>
          <a:bodyPr wrap="square" lIns="0" tIns="0" rIns="0" bIns="0" rtlCol="0" anchor="ctr"/>
          <a:lstStyle/>
          <a:p>
            <a:pPr algn="ctr" indent="0" marL="0">
              <a:buNone/>
            </a:pPr>
            <a:r>
              <a:rPr lang="en-US" sz="1500" dirty="0">
                <a:solidFill>
                  <a:srgbClr val="1C1E21"/>
                </a:solidFill>
                <a:latin typeface="Arial" pitchFamily="34" charset="0"/>
                <a:ea typeface="Arial" pitchFamily="34" charset="-122"/>
                <a:cs typeface="Arial" pitchFamily="34" charset="-120"/>
              </a:rPr>
              <a:t>Dossier</a:t>
            </a:r>
            <a:endParaRPr lang="en-US" sz="1500" dirty="0"/>
          </a:p>
        </p:txBody>
      </p:sp>
      <p:sp>
        <p:nvSpPr>
          <p:cNvPr id="5" name="Shape 3"/>
          <p:cNvSpPr/>
          <p:nvPr/>
        </p:nvSpPr>
        <p:spPr>
          <a:xfrm>
            <a:off x="2075688" y="3072384"/>
            <a:ext cx="393192" cy="0"/>
          </a:xfrm>
          <a:prstGeom prst="line">
            <a:avLst/>
          </a:prstGeom>
          <a:noFill/>
          <a:ln w="12700">
            <a:solidFill>
              <a:srgbClr val="5A6472"/>
            </a:solidFill>
            <a:prstDash val="solid"/>
            <a:tailEnd type="triangle"/>
          </a:ln>
        </p:spPr>
      </p:sp>
      <p:sp>
        <p:nvSpPr>
          <p:cNvPr id="6" name="Shape 4"/>
          <p:cNvSpPr/>
          <p:nvPr/>
        </p:nvSpPr>
        <p:spPr>
          <a:xfrm>
            <a:off x="2468880" y="2788920"/>
            <a:ext cx="1417320" cy="566928"/>
          </a:xfrm>
          <a:prstGeom prst="roundRect">
            <a:avLst>
              <a:gd name="adj" fmla="val 9677"/>
            </a:avLst>
          </a:prstGeom>
          <a:solidFill>
            <a:srgbClr val="F4F7FB"/>
          </a:solidFill>
          <a:ln w="12700">
            <a:solidFill>
              <a:srgbClr val="A8BDD4"/>
            </a:solidFill>
            <a:prstDash val="solid"/>
          </a:ln>
        </p:spPr>
      </p:sp>
      <p:sp>
        <p:nvSpPr>
          <p:cNvPr id="7" name="Text 5"/>
          <p:cNvSpPr/>
          <p:nvPr/>
        </p:nvSpPr>
        <p:spPr>
          <a:xfrm>
            <a:off x="2468880" y="2788920"/>
            <a:ext cx="1417320" cy="566928"/>
          </a:xfrm>
          <a:prstGeom prst="rect">
            <a:avLst/>
          </a:prstGeom>
          <a:noFill/>
          <a:ln/>
        </p:spPr>
        <p:txBody>
          <a:bodyPr wrap="square" lIns="0" tIns="0" rIns="0" bIns="0" rtlCol="0" anchor="ctr"/>
          <a:lstStyle/>
          <a:p>
            <a:pPr algn="ctr" indent="0" marL="0">
              <a:buNone/>
            </a:pPr>
            <a:r>
              <a:rPr lang="en-US" sz="1500" dirty="0">
                <a:solidFill>
                  <a:srgbClr val="1C1E21"/>
                </a:solidFill>
                <a:latin typeface="Arial" pitchFamily="34" charset="0"/>
                <a:ea typeface="Arial" pitchFamily="34" charset="-122"/>
                <a:cs typeface="Arial" pitchFamily="34" charset="-120"/>
              </a:rPr>
              <a:t>EDA</a:t>
            </a:r>
            <a:endParaRPr lang="en-US" sz="1500" dirty="0"/>
          </a:p>
        </p:txBody>
      </p:sp>
      <p:sp>
        <p:nvSpPr>
          <p:cNvPr id="8" name="Shape 6"/>
          <p:cNvSpPr/>
          <p:nvPr/>
        </p:nvSpPr>
        <p:spPr>
          <a:xfrm>
            <a:off x="3886200" y="3072384"/>
            <a:ext cx="393192" cy="0"/>
          </a:xfrm>
          <a:prstGeom prst="line">
            <a:avLst/>
          </a:prstGeom>
          <a:noFill/>
          <a:ln w="12700">
            <a:solidFill>
              <a:srgbClr val="5A6472"/>
            </a:solidFill>
            <a:prstDash val="solid"/>
            <a:tailEnd type="triangle"/>
          </a:ln>
        </p:spPr>
      </p:sp>
      <p:sp>
        <p:nvSpPr>
          <p:cNvPr id="9" name="Shape 7"/>
          <p:cNvSpPr/>
          <p:nvPr/>
        </p:nvSpPr>
        <p:spPr>
          <a:xfrm>
            <a:off x="4279392" y="2788920"/>
            <a:ext cx="1417320" cy="566928"/>
          </a:xfrm>
          <a:prstGeom prst="roundRect">
            <a:avLst>
              <a:gd name="adj" fmla="val 9677"/>
            </a:avLst>
          </a:prstGeom>
          <a:solidFill>
            <a:srgbClr val="F4F7FB"/>
          </a:solidFill>
          <a:ln w="12700">
            <a:solidFill>
              <a:srgbClr val="A8BDD4"/>
            </a:solidFill>
            <a:prstDash val="solid"/>
          </a:ln>
        </p:spPr>
      </p:sp>
      <p:sp>
        <p:nvSpPr>
          <p:cNvPr id="10" name="Text 8"/>
          <p:cNvSpPr/>
          <p:nvPr/>
        </p:nvSpPr>
        <p:spPr>
          <a:xfrm>
            <a:off x="4279392" y="2788920"/>
            <a:ext cx="1417320" cy="566928"/>
          </a:xfrm>
          <a:prstGeom prst="rect">
            <a:avLst/>
          </a:prstGeom>
          <a:noFill/>
          <a:ln/>
        </p:spPr>
        <p:txBody>
          <a:bodyPr wrap="square" lIns="0" tIns="0" rIns="0" bIns="0" rtlCol="0" anchor="ctr"/>
          <a:lstStyle/>
          <a:p>
            <a:pPr algn="ctr" indent="0" marL="0">
              <a:buNone/>
            </a:pPr>
            <a:r>
              <a:rPr lang="en-US" sz="1500" dirty="0">
                <a:solidFill>
                  <a:srgbClr val="1C1E21"/>
                </a:solidFill>
                <a:latin typeface="Arial" pitchFamily="34" charset="0"/>
                <a:ea typeface="Arial" pitchFamily="34" charset="-122"/>
                <a:cs typeface="Arial" pitchFamily="34" charset="-120"/>
              </a:rPr>
              <a:t>Features</a:t>
            </a:r>
            <a:endParaRPr lang="en-US" sz="1500" dirty="0"/>
          </a:p>
        </p:txBody>
      </p:sp>
      <p:sp>
        <p:nvSpPr>
          <p:cNvPr id="11" name="Shape 9"/>
          <p:cNvSpPr/>
          <p:nvPr/>
        </p:nvSpPr>
        <p:spPr>
          <a:xfrm>
            <a:off x="5696712" y="3072384"/>
            <a:ext cx="393192" cy="0"/>
          </a:xfrm>
          <a:prstGeom prst="line">
            <a:avLst/>
          </a:prstGeom>
          <a:noFill/>
          <a:ln w="12700">
            <a:solidFill>
              <a:srgbClr val="5A6472"/>
            </a:solidFill>
            <a:prstDash val="solid"/>
            <a:tailEnd type="triangle"/>
          </a:ln>
        </p:spPr>
      </p:sp>
      <p:sp>
        <p:nvSpPr>
          <p:cNvPr id="12" name="Shape 10"/>
          <p:cNvSpPr/>
          <p:nvPr/>
        </p:nvSpPr>
        <p:spPr>
          <a:xfrm>
            <a:off x="6089904" y="2788920"/>
            <a:ext cx="1417320" cy="566928"/>
          </a:xfrm>
          <a:prstGeom prst="roundRect">
            <a:avLst>
              <a:gd name="adj" fmla="val 9677"/>
            </a:avLst>
          </a:prstGeom>
          <a:solidFill>
            <a:srgbClr val="F4F7FB"/>
          </a:solidFill>
          <a:ln w="12700">
            <a:solidFill>
              <a:srgbClr val="A8BDD4"/>
            </a:solidFill>
            <a:prstDash val="solid"/>
          </a:ln>
        </p:spPr>
      </p:sp>
      <p:sp>
        <p:nvSpPr>
          <p:cNvPr id="13" name="Text 11"/>
          <p:cNvSpPr/>
          <p:nvPr/>
        </p:nvSpPr>
        <p:spPr>
          <a:xfrm>
            <a:off x="6089904" y="2788920"/>
            <a:ext cx="1417320" cy="566928"/>
          </a:xfrm>
          <a:prstGeom prst="rect">
            <a:avLst/>
          </a:prstGeom>
          <a:noFill/>
          <a:ln/>
        </p:spPr>
        <p:txBody>
          <a:bodyPr wrap="square" lIns="0" tIns="0" rIns="0" bIns="0" rtlCol="0" anchor="ctr"/>
          <a:lstStyle/>
          <a:p>
            <a:pPr algn="ctr" indent="0" marL="0">
              <a:buNone/>
            </a:pPr>
            <a:r>
              <a:rPr lang="en-US" sz="1500" dirty="0">
                <a:solidFill>
                  <a:srgbClr val="1C1E21"/>
                </a:solidFill>
                <a:latin typeface="Arial" pitchFamily="34" charset="0"/>
                <a:ea typeface="Arial" pitchFamily="34" charset="-122"/>
                <a:cs typeface="Arial" pitchFamily="34" charset="-120"/>
              </a:rPr>
              <a:t>Models</a:t>
            </a:r>
            <a:endParaRPr lang="en-US" sz="1500" dirty="0"/>
          </a:p>
        </p:txBody>
      </p:sp>
      <p:sp>
        <p:nvSpPr>
          <p:cNvPr id="14" name="Shape 12"/>
          <p:cNvSpPr/>
          <p:nvPr/>
        </p:nvSpPr>
        <p:spPr>
          <a:xfrm>
            <a:off x="7507224" y="3072384"/>
            <a:ext cx="393192" cy="0"/>
          </a:xfrm>
          <a:prstGeom prst="line">
            <a:avLst/>
          </a:prstGeom>
          <a:noFill/>
          <a:ln w="12700">
            <a:solidFill>
              <a:srgbClr val="5A6472"/>
            </a:solidFill>
            <a:prstDash val="solid"/>
            <a:tailEnd type="triangle"/>
          </a:ln>
        </p:spPr>
      </p:sp>
      <p:sp>
        <p:nvSpPr>
          <p:cNvPr id="15" name="Shape 13"/>
          <p:cNvSpPr/>
          <p:nvPr/>
        </p:nvSpPr>
        <p:spPr>
          <a:xfrm>
            <a:off x="7900416" y="2788920"/>
            <a:ext cx="1417320" cy="566928"/>
          </a:xfrm>
          <a:prstGeom prst="roundRect">
            <a:avLst>
              <a:gd name="adj" fmla="val 9677"/>
            </a:avLst>
          </a:prstGeom>
          <a:solidFill>
            <a:srgbClr val="F4F7FB"/>
          </a:solidFill>
          <a:ln w="12700">
            <a:solidFill>
              <a:srgbClr val="A8BDD4"/>
            </a:solidFill>
            <a:prstDash val="solid"/>
          </a:ln>
        </p:spPr>
      </p:sp>
      <p:sp>
        <p:nvSpPr>
          <p:cNvPr id="16" name="Text 14"/>
          <p:cNvSpPr/>
          <p:nvPr/>
        </p:nvSpPr>
        <p:spPr>
          <a:xfrm>
            <a:off x="7900416" y="2788920"/>
            <a:ext cx="1417320" cy="566928"/>
          </a:xfrm>
          <a:prstGeom prst="rect">
            <a:avLst/>
          </a:prstGeom>
          <a:noFill/>
          <a:ln/>
        </p:spPr>
        <p:txBody>
          <a:bodyPr wrap="square" lIns="0" tIns="0" rIns="0" bIns="0" rtlCol="0" anchor="ctr"/>
          <a:lstStyle/>
          <a:p>
            <a:pPr algn="ctr" indent="0" marL="0">
              <a:buNone/>
            </a:pPr>
            <a:r>
              <a:rPr lang="en-US" sz="1500" dirty="0">
                <a:solidFill>
                  <a:srgbClr val="1C1E21"/>
                </a:solidFill>
                <a:latin typeface="Arial" pitchFamily="34" charset="0"/>
                <a:ea typeface="Arial" pitchFamily="34" charset="-122"/>
                <a:cs typeface="Arial" pitchFamily="34" charset="-120"/>
              </a:rPr>
              <a:t>Evaluation</a:t>
            </a:r>
            <a:endParaRPr lang="en-US" sz="1500" dirty="0"/>
          </a:p>
        </p:txBody>
      </p:sp>
      <p:sp>
        <p:nvSpPr>
          <p:cNvPr id="17" name="Shape 15"/>
          <p:cNvSpPr/>
          <p:nvPr/>
        </p:nvSpPr>
        <p:spPr>
          <a:xfrm>
            <a:off x="9317736" y="3072384"/>
            <a:ext cx="393192" cy="0"/>
          </a:xfrm>
          <a:prstGeom prst="line">
            <a:avLst/>
          </a:prstGeom>
          <a:noFill/>
          <a:ln w="12700">
            <a:solidFill>
              <a:srgbClr val="5A6472"/>
            </a:solidFill>
            <a:prstDash val="solid"/>
            <a:tailEnd type="triangle"/>
          </a:ln>
        </p:spPr>
      </p:sp>
      <p:sp>
        <p:nvSpPr>
          <p:cNvPr id="18" name="Shape 16"/>
          <p:cNvSpPr/>
          <p:nvPr/>
        </p:nvSpPr>
        <p:spPr>
          <a:xfrm>
            <a:off x="9710928" y="2788920"/>
            <a:ext cx="1417320" cy="566928"/>
          </a:xfrm>
          <a:prstGeom prst="roundRect">
            <a:avLst>
              <a:gd name="adj" fmla="val 9677"/>
            </a:avLst>
          </a:prstGeom>
          <a:solidFill>
            <a:srgbClr val="F4F7FB"/>
          </a:solidFill>
          <a:ln w="12700">
            <a:solidFill>
              <a:srgbClr val="A8BDD4"/>
            </a:solidFill>
            <a:prstDash val="solid"/>
          </a:ln>
        </p:spPr>
      </p:sp>
      <p:sp>
        <p:nvSpPr>
          <p:cNvPr id="19" name="Text 17"/>
          <p:cNvSpPr/>
          <p:nvPr/>
        </p:nvSpPr>
        <p:spPr>
          <a:xfrm>
            <a:off x="9710928" y="2788920"/>
            <a:ext cx="1417320" cy="566928"/>
          </a:xfrm>
          <a:prstGeom prst="rect">
            <a:avLst/>
          </a:prstGeom>
          <a:noFill/>
          <a:ln/>
        </p:spPr>
        <p:txBody>
          <a:bodyPr wrap="square" lIns="0" tIns="0" rIns="0" bIns="0" rtlCol="0" anchor="ctr"/>
          <a:lstStyle/>
          <a:p>
            <a:pPr algn="ctr" indent="0" marL="0">
              <a:buNone/>
            </a:pPr>
            <a:r>
              <a:rPr lang="en-US" sz="1500" dirty="0">
                <a:solidFill>
                  <a:srgbClr val="1C1E21"/>
                </a:solidFill>
                <a:latin typeface="Arial" pitchFamily="34" charset="0"/>
                <a:ea typeface="Arial" pitchFamily="34" charset="-122"/>
                <a:cs typeface="Arial" pitchFamily="34" charset="-120"/>
              </a:rPr>
              <a:t>Submission</a:t>
            </a:r>
            <a:endParaRPr lang="en-US" sz="1500" dirty="0"/>
          </a:p>
        </p:txBody>
      </p:sp>
      <p:sp>
        <p:nvSpPr>
          <p:cNvPr id="20" name="Shape 18"/>
          <p:cNvSpPr/>
          <p:nvPr/>
        </p:nvSpPr>
        <p:spPr>
          <a:xfrm>
            <a:off x="1367028" y="2029968"/>
            <a:ext cx="0" cy="713232"/>
          </a:xfrm>
          <a:prstGeom prst="line">
            <a:avLst/>
          </a:prstGeom>
          <a:noFill/>
          <a:ln w="28575">
            <a:solidFill>
              <a:srgbClr val="7C4F96"/>
            </a:solidFill>
            <a:prstDash val="solid"/>
            <a:tailEnd type="triangle"/>
          </a:ln>
        </p:spPr>
      </p:sp>
      <p:sp>
        <p:nvSpPr>
          <p:cNvPr id="21" name="Text 19"/>
          <p:cNvSpPr/>
          <p:nvPr/>
        </p:nvSpPr>
        <p:spPr>
          <a:xfrm>
            <a:off x="1600200" y="1719072"/>
            <a:ext cx="5486400" cy="320040"/>
          </a:xfrm>
          <a:prstGeom prst="rect">
            <a:avLst/>
          </a:prstGeom>
          <a:noFill/>
          <a:ln/>
        </p:spPr>
        <p:txBody>
          <a:bodyPr wrap="square" lIns="0" tIns="0" rIns="0" bIns="0" rtlCol="0" anchor="ctr"/>
          <a:lstStyle/>
          <a:p>
            <a:pPr indent="0" marL="0">
              <a:buNone/>
            </a:pPr>
            <a:r>
              <a:rPr lang="en-US" sz="1600" b="1" dirty="0">
                <a:solidFill>
                  <a:srgbClr val="7C4F96"/>
                </a:solidFill>
                <a:latin typeface="Arial" pitchFamily="34" charset="0"/>
                <a:ea typeface="Arial" pitchFamily="34" charset="-122"/>
                <a:cs typeface="Arial" pitchFamily="34" charset="-120"/>
              </a:rPr>
              <a:t>Upstream:</a:t>
            </a:r>
            <a:pPr indent="0" marL="0">
              <a:buNone/>
            </a:pPr>
            <a:r>
              <a:rPr lang="en-US" sz="1600" dirty="0">
                <a:solidFill>
                  <a:srgbClr val="7C4F96"/>
                </a:solidFill>
                <a:latin typeface="Arial" pitchFamily="34" charset="0"/>
                <a:ea typeface="Arial" pitchFamily="34" charset="-122"/>
                <a:cs typeface="Arial" pitchFamily="34" charset="-120"/>
              </a:rPr>
              <a:t> outside data enters here</a:t>
            </a:r>
            <a:endParaRPr lang="en-US" sz="1600" dirty="0"/>
          </a:p>
        </p:txBody>
      </p:sp>
      <p:sp>
        <p:nvSpPr>
          <p:cNvPr id="22" name="Shape 20"/>
          <p:cNvSpPr/>
          <p:nvPr/>
        </p:nvSpPr>
        <p:spPr>
          <a:xfrm>
            <a:off x="658368" y="3584448"/>
            <a:ext cx="3227832" cy="0"/>
          </a:xfrm>
          <a:prstGeom prst="line">
            <a:avLst/>
          </a:prstGeom>
          <a:noFill/>
          <a:ln w="12700">
            <a:solidFill>
              <a:srgbClr val="8A6D1A"/>
            </a:solidFill>
            <a:prstDash val="solid"/>
          </a:ln>
        </p:spPr>
      </p:sp>
      <p:sp>
        <p:nvSpPr>
          <p:cNvPr id="23" name="Shape 21"/>
          <p:cNvSpPr/>
          <p:nvPr/>
        </p:nvSpPr>
        <p:spPr>
          <a:xfrm>
            <a:off x="658368" y="3584448"/>
            <a:ext cx="0" cy="73152"/>
          </a:xfrm>
          <a:prstGeom prst="line">
            <a:avLst/>
          </a:prstGeom>
          <a:noFill/>
          <a:ln w="12700">
            <a:solidFill>
              <a:srgbClr val="8A6D1A"/>
            </a:solidFill>
            <a:prstDash val="solid"/>
          </a:ln>
        </p:spPr>
      </p:sp>
      <p:sp>
        <p:nvSpPr>
          <p:cNvPr id="24" name="Shape 22"/>
          <p:cNvSpPr/>
          <p:nvPr/>
        </p:nvSpPr>
        <p:spPr>
          <a:xfrm>
            <a:off x="3886200" y="3584448"/>
            <a:ext cx="0" cy="73152"/>
          </a:xfrm>
          <a:prstGeom prst="line">
            <a:avLst/>
          </a:prstGeom>
          <a:noFill/>
          <a:ln w="12700">
            <a:solidFill>
              <a:srgbClr val="8A6D1A"/>
            </a:solidFill>
            <a:prstDash val="solid"/>
          </a:ln>
        </p:spPr>
      </p:sp>
      <p:sp>
        <p:nvSpPr>
          <p:cNvPr id="25" name="Text 23"/>
          <p:cNvSpPr/>
          <p:nvPr/>
        </p:nvSpPr>
        <p:spPr>
          <a:xfrm>
            <a:off x="658368" y="3712464"/>
            <a:ext cx="4754880" cy="320040"/>
          </a:xfrm>
          <a:prstGeom prst="rect">
            <a:avLst/>
          </a:prstGeom>
          <a:noFill/>
          <a:ln/>
        </p:spPr>
        <p:txBody>
          <a:bodyPr wrap="square" lIns="0" tIns="0" rIns="0" bIns="0" rtlCol="0" anchor="ctr"/>
          <a:lstStyle/>
          <a:p>
            <a:pPr indent="0" marL="0">
              <a:buNone/>
            </a:pPr>
            <a:r>
              <a:rPr lang="en-US" sz="1600" dirty="0">
                <a:solidFill>
                  <a:srgbClr val="8A6D1A"/>
                </a:solidFill>
                <a:latin typeface="Arial" pitchFamily="34" charset="0"/>
                <a:ea typeface="Arial" pitchFamily="34" charset="-122"/>
                <a:cs typeface="Arial" pitchFamily="34" charset="-120"/>
              </a:rPr>
              <a:t>decisions taken </a:t>
            </a:r>
            <a:pPr indent="0" marL="0">
              <a:buNone/>
            </a:pPr>
            <a:r>
              <a:rPr lang="en-US" sz="1600" i="1" dirty="0">
                <a:solidFill>
                  <a:srgbClr val="8A6D1A"/>
                </a:solidFill>
                <a:latin typeface="Arial" pitchFamily="34" charset="0"/>
                <a:ea typeface="Arial" pitchFamily="34" charset="-122"/>
                <a:cs typeface="Arial" pitchFamily="34" charset="-120"/>
              </a:rPr>
              <a:t>before</a:t>
            </a:r>
            <a:pPr indent="0" marL="0">
              <a:buNone/>
            </a:pPr>
            <a:r>
              <a:rPr lang="en-US" sz="1600" dirty="0">
                <a:solidFill>
                  <a:srgbClr val="8A6D1A"/>
                </a:solidFill>
                <a:latin typeface="Arial" pitchFamily="34" charset="0"/>
                <a:ea typeface="Arial" pitchFamily="34" charset="-122"/>
                <a:cs typeface="Arial" pitchFamily="34" charset="-120"/>
              </a:rPr>
              <a:t> any model is fit</a:t>
            </a:r>
            <a:endParaRPr lang="en-US" sz="1600" dirty="0"/>
          </a:p>
        </p:txBody>
      </p:sp>
      <p:sp>
        <p:nvSpPr>
          <p:cNvPr id="26" name="Shape 24"/>
          <p:cNvSpPr/>
          <p:nvPr/>
        </p:nvSpPr>
        <p:spPr>
          <a:xfrm>
            <a:off x="6798564" y="3401568"/>
            <a:ext cx="0" cy="566928"/>
          </a:xfrm>
          <a:prstGeom prst="line">
            <a:avLst/>
          </a:prstGeom>
          <a:noFill/>
          <a:ln w="15875">
            <a:solidFill>
              <a:srgbClr val="5A6472"/>
            </a:solidFill>
            <a:prstDash val="dash"/>
            <a:headEnd type="triangle"/>
          </a:ln>
        </p:spPr>
      </p:sp>
      <p:sp>
        <p:nvSpPr>
          <p:cNvPr id="27" name="Text 25"/>
          <p:cNvSpPr/>
          <p:nvPr/>
        </p:nvSpPr>
        <p:spPr>
          <a:xfrm>
            <a:off x="7269480" y="3822192"/>
            <a:ext cx="4572000" cy="640080"/>
          </a:xfrm>
          <a:prstGeom prst="rect">
            <a:avLst/>
          </a:prstGeom>
          <a:noFill/>
          <a:ln/>
        </p:spPr>
        <p:txBody>
          <a:bodyPr wrap="square" lIns="0" tIns="0" rIns="0" bIns="0" rtlCol="0" anchor="t"/>
          <a:lstStyle/>
          <a:p>
            <a:pPr indent="0" marL="0">
              <a:buNone/>
            </a:pPr>
            <a:r>
              <a:rPr lang="en-US" sz="1600" dirty="0">
                <a:solidFill>
                  <a:srgbClr val="5A6472"/>
                </a:solidFill>
                <a:latin typeface="Arial" pitchFamily="34" charset="0"/>
                <a:ea typeface="Arial" pitchFamily="34" charset="-122"/>
                <a:cs typeface="Arial" pitchFamily="34" charset="-120"/>
              </a:rPr>
              <a:t>at the blend: measured 10</a:t>
            </a:r>
            <a:pPr indent="0" marL="0">
              <a:buNone/>
            </a:pPr>
            <a:r>
              <a:rPr lang="en-US" sz="1600" baseline="30000" dirty="0">
                <a:solidFill>
                  <a:srgbClr val="5A6472"/>
                </a:solidFill>
                <a:latin typeface="Arial" pitchFamily="34" charset="0"/>
                <a:ea typeface="Arial" pitchFamily="34" charset="-122"/>
                <a:cs typeface="Arial" pitchFamily="34" charset="-120"/>
              </a:rPr>
              <a:t>−5</a:t>
            </a:r>
            <a:pPr indent="0" marL="0">
              <a:buNone/>
            </a:pPr>
            <a:r>
              <a:rPr lang="en-US" sz="1600" dirty="0">
                <a:solidFill>
                  <a:srgbClr val="5A6472"/>
                </a:solidFill>
                <a:latin typeface="Arial" pitchFamily="34" charset="0"/>
                <a:ea typeface="Arial" pitchFamily="34" charset="-122"/>
                <a:cs typeface="Arial" pitchFamily="34" charset="-120"/>
              </a:rPr>
              <a:t>,</a:t>
            </a:r>
            <a:endParaRPr lang="en-US" sz="1600" dirty="0"/>
          </a:p>
          <a:p>
            <a:pPr indent="0" marL="0">
              <a:buNone/>
            </a:pPr>
            <a:r>
              <a:rPr lang="en-US" sz="1600" dirty="0">
                <a:solidFill>
                  <a:srgbClr val="5A6472"/>
                </a:solidFill>
                <a:latin typeface="Arial" pitchFamily="34" charset="0"/>
                <a:ea typeface="Arial" pitchFamily="34" charset="-122"/>
                <a:cs typeface="Arial" pitchFamily="34" charset="-120"/>
              </a:rPr>
              <a:t>abandoned</a:t>
            </a:r>
            <a:endParaRPr lang="en-US" sz="1600" dirty="0"/>
          </a:p>
        </p:txBody>
      </p:sp>
      <p:sp>
        <p:nvSpPr>
          <p:cNvPr id="28" name="Text 26"/>
          <p:cNvSpPr/>
          <p:nvPr/>
        </p:nvSpPr>
        <p:spPr>
          <a:xfrm>
            <a:off x="658368" y="5074920"/>
            <a:ext cx="10972800" cy="347472"/>
          </a:xfrm>
          <a:prstGeom prst="rect">
            <a:avLst/>
          </a:prstGeom>
          <a:noFill/>
          <a:ln/>
        </p:spPr>
        <p:txBody>
          <a:bodyPr wrap="square" lIns="0" tIns="0" rIns="0" bIns="0" rtlCol="0" anchor="ctr"/>
          <a:lstStyle/>
          <a:p>
            <a:pPr indent="0" marL="0">
              <a:buNone/>
            </a:pPr>
            <a:r>
              <a:rPr lang="en-US" sz="1800" dirty="0">
                <a:solidFill>
                  <a:srgbClr val="1C1E21"/>
                </a:solidFill>
                <a:latin typeface="Arial" pitchFamily="34" charset="0"/>
                <a:ea typeface="Arial" pitchFamily="34" charset="-122"/>
                <a:cs typeface="Arial" pitchFamily="34" charset="-120"/>
              </a:rPr>
              <a:t>Fires on </a:t>
            </a:r>
            <a:pPr indent="0" marL="0">
              <a:buNone/>
            </a:pPr>
            <a:r>
              <a:rPr lang="en-US" sz="1800" b="1" dirty="0">
                <a:solidFill>
                  <a:srgbClr val="1C1E21"/>
                </a:solidFill>
                <a:latin typeface="Arial" pitchFamily="34" charset="0"/>
                <a:ea typeface="Arial" pitchFamily="34" charset="-122"/>
                <a:cs typeface="Arial" pitchFamily="34" charset="-120"/>
              </a:rPr>
              <a:t>2 of 18</a:t>
            </a:r>
            <a:pPr indent="0" marL="0">
              <a:buNone/>
            </a:pPr>
            <a:r>
              <a:rPr lang="en-US" sz="1800" dirty="0">
                <a:solidFill>
                  <a:srgbClr val="1C1E21"/>
                </a:solidFill>
                <a:latin typeface="Arial" pitchFamily="34" charset="0"/>
                <a:ea typeface="Arial" pitchFamily="34" charset="-122"/>
                <a:cs typeface="Arial" pitchFamily="34" charset="-120"/>
              </a:rPr>
              <a:t> competitions.    All </a:t>
            </a:r>
            <a:pPr indent="0" marL="0">
              <a:buNone/>
            </a:pPr>
            <a:r>
              <a:rPr lang="en-US" sz="1800" b="1" dirty="0">
                <a:solidFill>
                  <a:srgbClr val="1C1E21"/>
                </a:solidFill>
                <a:latin typeface="Arial" pitchFamily="34" charset="0"/>
                <a:ea typeface="Arial" pitchFamily="34" charset="-122"/>
                <a:cs typeface="Arial" pitchFamily="34" charset="-120"/>
              </a:rPr>
              <a:t>6 of 6</a:t>
            </a:r>
            <a:pPr indent="0" marL="0">
              <a:buNone/>
            </a:pPr>
            <a:r>
              <a:rPr lang="en-US" sz="1800" dirty="0">
                <a:solidFill>
                  <a:srgbClr val="1C1E21"/>
                </a:solidFill>
                <a:latin typeface="Arial" pitchFamily="34" charset="0"/>
                <a:ea typeface="Arial" pitchFamily="34" charset="-122"/>
                <a:cs typeface="Arial" pitchFamily="34" charset="-120"/>
              </a:rPr>
              <a:t> controlled arms beat their baselines.</a:t>
            </a:r>
            <a:endParaRPr lang="en-US" sz="1800" dirty="0"/>
          </a:p>
        </p:txBody>
      </p:sp>
      <p:sp>
        <p:nvSpPr>
          <p:cNvPr id="29" name="Text 27"/>
          <p:cNvSpPr/>
          <p:nvPr/>
        </p:nvSpPr>
        <p:spPr>
          <a:xfrm>
            <a:off x="658368" y="5440680"/>
            <a:ext cx="10972800" cy="347472"/>
          </a:xfrm>
          <a:prstGeom prst="rect">
            <a:avLst/>
          </a:prstGeom>
          <a:noFill/>
          <a:ln/>
        </p:spPr>
        <p:txBody>
          <a:bodyPr wrap="square" lIns="0" tIns="0" rIns="0" bIns="0" rtlCol="0" anchor="ctr"/>
          <a:lstStyle/>
          <a:p>
            <a:pPr indent="0" marL="0">
              <a:buNone/>
            </a:pPr>
            <a:r>
              <a:rPr lang="en-US" sz="1800" dirty="0">
                <a:solidFill>
                  <a:srgbClr val="5A6472"/>
                </a:solidFill>
                <a:latin typeface="Arial" pitchFamily="34" charset="0"/>
                <a:ea typeface="Arial" pitchFamily="34" charset="-122"/>
                <a:cs typeface="Arial" pitchFamily="34" charset="-120"/>
              </a:rPr>
              <a:t>No local signal picks the form.</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74320"/>
            <a:ext cx="10972800" cy="548640"/>
          </a:xfrm>
          <a:prstGeom prst="rect">
            <a:avLst/>
          </a:prstGeom>
          <a:noFill/>
          <a:ln/>
        </p:spPr>
        <p:txBody>
          <a:bodyPr wrap="square" lIns="0" tIns="0" rIns="0" bIns="0" rtlCol="0" anchor="ctr"/>
          <a:lstStyle/>
          <a:p>
            <a:pPr indent="0" marL="0">
              <a:buNone/>
            </a:pPr>
            <a:r>
              <a:rPr lang="en-US" sz="2600" b="1" dirty="0">
                <a:solidFill>
                  <a:srgbClr val="0F2A4A"/>
                </a:solidFill>
                <a:latin typeface="Arial" pitchFamily="34" charset="0"/>
                <a:ea typeface="Arial" pitchFamily="34" charset="-122"/>
                <a:cs typeface="Arial" pitchFamily="34" charset="-120"/>
              </a:rPr>
              <a:t>Local validation cannot arbitrate — so build the instrument</a:t>
            </a:r>
            <a:endParaRPr lang="en-US" sz="2600" dirty="0"/>
          </a:p>
        </p:txBody>
      </p:sp>
      <p:sp>
        <p:nvSpPr>
          <p:cNvPr id="3" name="Text 1"/>
          <p:cNvSpPr/>
          <p:nvPr/>
        </p:nvSpPr>
        <p:spPr>
          <a:xfrm>
            <a:off x="658368" y="1005840"/>
            <a:ext cx="10972800" cy="365760"/>
          </a:xfrm>
          <a:prstGeom prst="rect">
            <a:avLst/>
          </a:prstGeom>
          <a:noFill/>
          <a:ln/>
        </p:spPr>
        <p:txBody>
          <a:bodyPr wrap="square" lIns="0" tIns="0" rIns="0" bIns="0" rtlCol="0" anchor="ctr"/>
          <a:lstStyle/>
          <a:p>
            <a:pPr indent="0" marL="0">
              <a:buNone/>
            </a:pPr>
            <a:r>
              <a:rPr lang="en-US" sz="1800" dirty="0">
                <a:solidFill>
                  <a:srgbClr val="1C1E21"/>
                </a:solidFill>
                <a:latin typeface="Arial" pitchFamily="34" charset="0"/>
                <a:ea typeface="Arial" pitchFamily="34" charset="-122"/>
                <a:cs typeface="Arial" pitchFamily="34" charset="-120"/>
              </a:rPr>
              <a:t>One lane: out-of-fold SMAPE </a:t>
            </a:r>
            <a:pPr indent="0" marL="0">
              <a:buNone/>
            </a:pPr>
            <a:r>
              <a:rPr lang="en-US" sz="1800" b="1" dirty="0">
                <a:solidFill>
                  <a:srgbClr val="1C1E21"/>
                </a:solidFill>
                <a:latin typeface="Arial" pitchFamily="34" charset="0"/>
                <a:ea typeface="Arial" pitchFamily="34" charset="-122"/>
                <a:cs typeface="Arial" pitchFamily="34" charset="-120"/>
              </a:rPr>
              <a:t>6.706</a:t>
            </a:r>
            <a:pPr indent="0" marL="0">
              <a:buNone/>
            </a:pPr>
            <a:r>
              <a:rPr lang="en-US" sz="1800" dirty="0">
                <a:solidFill>
                  <a:srgbClr val="1C1E21"/>
                </a:solidFill>
                <a:latin typeface="Arial" pitchFamily="34" charset="0"/>
                <a:ea typeface="Arial" pitchFamily="34" charset="-122"/>
                <a:cs typeface="Arial" pitchFamily="34" charset="-120"/>
              </a:rPr>
              <a:t> → real leaderboard </a:t>
            </a:r>
            <a:pPr indent="0" marL="0">
              <a:buNone/>
            </a:pPr>
            <a:r>
              <a:rPr lang="en-US" sz="1800" b="1" dirty="0">
                <a:solidFill>
                  <a:srgbClr val="2B6CB0"/>
                </a:solidFill>
                <a:latin typeface="Arial" pitchFamily="34" charset="0"/>
                <a:ea typeface="Arial" pitchFamily="34" charset="-122"/>
                <a:cs typeface="Arial" pitchFamily="34" charset="-120"/>
              </a:rPr>
              <a:t>49.40878</a:t>
            </a:r>
            <a:endParaRPr lang="en-US" sz="1800" dirty="0"/>
          </a:p>
        </p:txBody>
      </p:sp>
      <p:sp>
        <p:nvSpPr>
          <p:cNvPr id="4" name="Text 2"/>
          <p:cNvSpPr/>
          <p:nvPr/>
        </p:nvSpPr>
        <p:spPr>
          <a:xfrm>
            <a:off x="822960" y="1755648"/>
            <a:ext cx="4663440" cy="292608"/>
          </a:xfrm>
          <a:prstGeom prst="rect">
            <a:avLst/>
          </a:prstGeom>
          <a:noFill/>
          <a:ln/>
        </p:spPr>
        <p:txBody>
          <a:bodyPr wrap="square" lIns="0" tIns="0" rIns="0" bIns="0" rtlCol="0" anchor="ctr"/>
          <a:lstStyle/>
          <a:p>
            <a:pPr algn="ctr" indent="0" marL="0">
              <a:buNone/>
            </a:pPr>
            <a:r>
              <a:rPr lang="en-US" sz="1300" dirty="0">
                <a:solidFill>
                  <a:srgbClr val="8A6D1A"/>
                </a:solidFill>
                <a:latin typeface="Arial" pitchFamily="34" charset="0"/>
                <a:ea typeface="Arial" pitchFamily="34" charset="-122"/>
                <a:cs typeface="Arial" pitchFamily="34" charset="-120"/>
              </a:rPr>
              <a:t>both agents drift the same way</a:t>
            </a:r>
            <a:endParaRPr lang="en-US" sz="1300" dirty="0"/>
          </a:p>
        </p:txBody>
      </p:sp>
      <p:sp>
        <p:nvSpPr>
          <p:cNvPr id="5" name="Shape 3"/>
          <p:cNvSpPr/>
          <p:nvPr/>
        </p:nvSpPr>
        <p:spPr>
          <a:xfrm>
            <a:off x="1783080" y="2212848"/>
            <a:ext cx="0" cy="1783080"/>
          </a:xfrm>
          <a:prstGeom prst="line">
            <a:avLst/>
          </a:prstGeom>
          <a:noFill/>
          <a:ln w="12700">
            <a:solidFill>
              <a:srgbClr val="A8BDD4"/>
            </a:solidFill>
            <a:prstDash val="solid"/>
          </a:ln>
        </p:spPr>
      </p:sp>
      <p:sp>
        <p:nvSpPr>
          <p:cNvPr id="6" name="Shape 4"/>
          <p:cNvSpPr/>
          <p:nvPr/>
        </p:nvSpPr>
        <p:spPr>
          <a:xfrm>
            <a:off x="4526280" y="2212848"/>
            <a:ext cx="0" cy="1783080"/>
          </a:xfrm>
          <a:prstGeom prst="line">
            <a:avLst/>
          </a:prstGeom>
          <a:noFill/>
          <a:ln w="12700">
            <a:solidFill>
              <a:srgbClr val="A8BDD4"/>
            </a:solidFill>
            <a:prstDash val="solid"/>
          </a:ln>
        </p:spPr>
      </p:sp>
      <p:sp>
        <p:nvSpPr>
          <p:cNvPr id="7" name="Shape 5"/>
          <p:cNvSpPr/>
          <p:nvPr/>
        </p:nvSpPr>
        <p:spPr>
          <a:xfrm>
            <a:off x="1783080" y="2468880"/>
            <a:ext cx="2743200" cy="566928"/>
          </a:xfrm>
          <a:prstGeom prst="line">
            <a:avLst/>
          </a:prstGeom>
          <a:noFill/>
          <a:ln w="22225">
            <a:solidFill>
              <a:srgbClr val="2B6CB0"/>
            </a:solidFill>
            <a:prstDash val="solid"/>
          </a:ln>
        </p:spPr>
      </p:sp>
      <p:sp>
        <p:nvSpPr>
          <p:cNvPr id="8" name="Shape 6"/>
          <p:cNvSpPr/>
          <p:nvPr/>
        </p:nvSpPr>
        <p:spPr>
          <a:xfrm>
            <a:off x="1783080" y="2889504"/>
            <a:ext cx="2743200" cy="521208"/>
          </a:xfrm>
          <a:prstGeom prst="line">
            <a:avLst/>
          </a:prstGeom>
          <a:noFill/>
          <a:ln w="22225">
            <a:solidFill>
              <a:srgbClr val="5A6472"/>
            </a:solidFill>
            <a:prstDash val="solid"/>
          </a:ln>
        </p:spPr>
      </p:sp>
      <p:sp>
        <p:nvSpPr>
          <p:cNvPr id="9" name="Shape 7"/>
          <p:cNvSpPr/>
          <p:nvPr/>
        </p:nvSpPr>
        <p:spPr>
          <a:xfrm>
            <a:off x="1732788" y="2418588"/>
            <a:ext cx="100584" cy="100584"/>
          </a:xfrm>
          <a:prstGeom prst="ellipse">
            <a:avLst/>
          </a:prstGeom>
          <a:solidFill>
            <a:srgbClr val="2B6CB0"/>
          </a:solidFill>
          <a:ln w="12700">
            <a:solidFill>
              <a:srgbClr val="2B6CB0"/>
            </a:solidFill>
            <a:prstDash val="solid"/>
          </a:ln>
        </p:spPr>
      </p:sp>
      <p:sp>
        <p:nvSpPr>
          <p:cNvPr id="10" name="Shape 8"/>
          <p:cNvSpPr/>
          <p:nvPr/>
        </p:nvSpPr>
        <p:spPr>
          <a:xfrm>
            <a:off x="4475988" y="2985516"/>
            <a:ext cx="100584" cy="100584"/>
          </a:xfrm>
          <a:prstGeom prst="ellipse">
            <a:avLst/>
          </a:prstGeom>
          <a:solidFill>
            <a:srgbClr val="2B6CB0"/>
          </a:solidFill>
          <a:ln w="12700">
            <a:solidFill>
              <a:srgbClr val="2B6CB0"/>
            </a:solidFill>
            <a:prstDash val="solid"/>
          </a:ln>
        </p:spPr>
      </p:sp>
      <p:sp>
        <p:nvSpPr>
          <p:cNvPr id="11" name="Shape 9"/>
          <p:cNvSpPr/>
          <p:nvPr/>
        </p:nvSpPr>
        <p:spPr>
          <a:xfrm>
            <a:off x="1732788" y="2839212"/>
            <a:ext cx="100584" cy="100584"/>
          </a:xfrm>
          <a:prstGeom prst="ellipse">
            <a:avLst/>
          </a:prstGeom>
          <a:solidFill>
            <a:srgbClr val="5A6472"/>
          </a:solidFill>
          <a:ln w="12700">
            <a:solidFill>
              <a:srgbClr val="5A6472"/>
            </a:solidFill>
            <a:prstDash val="solid"/>
          </a:ln>
        </p:spPr>
      </p:sp>
      <p:sp>
        <p:nvSpPr>
          <p:cNvPr id="12" name="Shape 10"/>
          <p:cNvSpPr/>
          <p:nvPr/>
        </p:nvSpPr>
        <p:spPr>
          <a:xfrm>
            <a:off x="4475988" y="3360420"/>
            <a:ext cx="100584" cy="100584"/>
          </a:xfrm>
          <a:prstGeom prst="ellipse">
            <a:avLst/>
          </a:prstGeom>
          <a:solidFill>
            <a:srgbClr val="5A6472"/>
          </a:solidFill>
          <a:ln w="12700">
            <a:solidFill>
              <a:srgbClr val="5A6472"/>
            </a:solidFill>
            <a:prstDash val="solid"/>
          </a:ln>
        </p:spPr>
      </p:sp>
      <p:sp>
        <p:nvSpPr>
          <p:cNvPr id="13" name="Shape 11"/>
          <p:cNvSpPr/>
          <p:nvPr/>
        </p:nvSpPr>
        <p:spPr>
          <a:xfrm>
            <a:off x="1664208" y="2468880"/>
            <a:ext cx="0" cy="420624"/>
          </a:xfrm>
          <a:prstGeom prst="line">
            <a:avLst/>
          </a:prstGeom>
          <a:noFill/>
          <a:ln w="12700">
            <a:solidFill>
              <a:srgbClr val="0F2A4A"/>
            </a:solidFill>
            <a:prstDash val="solid"/>
          </a:ln>
        </p:spPr>
      </p:sp>
      <p:sp>
        <p:nvSpPr>
          <p:cNvPr id="14" name="Shape 12"/>
          <p:cNvSpPr/>
          <p:nvPr/>
        </p:nvSpPr>
        <p:spPr>
          <a:xfrm>
            <a:off x="1600200" y="2468880"/>
            <a:ext cx="64008" cy="0"/>
          </a:xfrm>
          <a:prstGeom prst="line">
            <a:avLst/>
          </a:prstGeom>
          <a:noFill/>
          <a:ln w="12700">
            <a:solidFill>
              <a:srgbClr val="0F2A4A"/>
            </a:solidFill>
            <a:prstDash val="solid"/>
          </a:ln>
        </p:spPr>
      </p:sp>
      <p:sp>
        <p:nvSpPr>
          <p:cNvPr id="15" name="Shape 13"/>
          <p:cNvSpPr/>
          <p:nvPr/>
        </p:nvSpPr>
        <p:spPr>
          <a:xfrm>
            <a:off x="1600200" y="2889504"/>
            <a:ext cx="64008" cy="0"/>
          </a:xfrm>
          <a:prstGeom prst="line">
            <a:avLst/>
          </a:prstGeom>
          <a:noFill/>
          <a:ln w="12700">
            <a:solidFill>
              <a:srgbClr val="0F2A4A"/>
            </a:solidFill>
            <a:prstDash val="solid"/>
          </a:ln>
        </p:spPr>
      </p:sp>
      <p:sp>
        <p:nvSpPr>
          <p:cNvPr id="16" name="Text 14"/>
          <p:cNvSpPr/>
          <p:nvPr/>
        </p:nvSpPr>
        <p:spPr>
          <a:xfrm>
            <a:off x="914400" y="2542032"/>
            <a:ext cx="621792" cy="274320"/>
          </a:xfrm>
          <a:prstGeom prst="rect">
            <a:avLst/>
          </a:prstGeom>
          <a:noFill/>
          <a:ln/>
        </p:spPr>
        <p:txBody>
          <a:bodyPr wrap="square" lIns="0" tIns="0" rIns="0" bIns="0" rtlCol="0" anchor="ctr"/>
          <a:lstStyle/>
          <a:p>
            <a:pPr algn="r" indent="0" marL="0">
              <a:buNone/>
            </a:pPr>
            <a:r>
              <a:rPr lang="en-US" sz="1300" dirty="0">
                <a:solidFill>
                  <a:srgbClr val="0F2A4A"/>
                </a:solidFill>
                <a:latin typeface="Arial" pitchFamily="34" charset="0"/>
                <a:ea typeface="Arial" pitchFamily="34" charset="-122"/>
                <a:cs typeface="Arial" pitchFamily="34" charset="-120"/>
              </a:rPr>
              <a:t>gap</a:t>
            </a:r>
            <a:endParaRPr lang="en-US" sz="1300" dirty="0"/>
          </a:p>
        </p:txBody>
      </p:sp>
      <p:sp>
        <p:nvSpPr>
          <p:cNvPr id="17" name="Shape 15"/>
          <p:cNvSpPr/>
          <p:nvPr/>
        </p:nvSpPr>
        <p:spPr>
          <a:xfrm>
            <a:off x="4645152" y="3035808"/>
            <a:ext cx="0" cy="374904"/>
          </a:xfrm>
          <a:prstGeom prst="line">
            <a:avLst/>
          </a:prstGeom>
          <a:noFill/>
          <a:ln w="12700">
            <a:solidFill>
              <a:srgbClr val="0F2A4A"/>
            </a:solidFill>
            <a:prstDash val="solid"/>
          </a:ln>
        </p:spPr>
      </p:sp>
      <p:sp>
        <p:nvSpPr>
          <p:cNvPr id="18" name="Shape 16"/>
          <p:cNvSpPr/>
          <p:nvPr/>
        </p:nvSpPr>
        <p:spPr>
          <a:xfrm>
            <a:off x="4645152" y="3035808"/>
            <a:ext cx="64008" cy="0"/>
          </a:xfrm>
          <a:prstGeom prst="line">
            <a:avLst/>
          </a:prstGeom>
          <a:noFill/>
          <a:ln w="12700">
            <a:solidFill>
              <a:srgbClr val="0F2A4A"/>
            </a:solidFill>
            <a:prstDash val="solid"/>
          </a:ln>
        </p:spPr>
      </p:sp>
      <p:sp>
        <p:nvSpPr>
          <p:cNvPr id="19" name="Shape 17"/>
          <p:cNvSpPr/>
          <p:nvPr/>
        </p:nvSpPr>
        <p:spPr>
          <a:xfrm>
            <a:off x="4645152" y="3410712"/>
            <a:ext cx="64008" cy="0"/>
          </a:xfrm>
          <a:prstGeom prst="line">
            <a:avLst/>
          </a:prstGeom>
          <a:noFill/>
          <a:ln w="12700">
            <a:solidFill>
              <a:srgbClr val="0F2A4A"/>
            </a:solidFill>
            <a:prstDash val="solid"/>
          </a:ln>
        </p:spPr>
      </p:sp>
      <p:sp>
        <p:nvSpPr>
          <p:cNvPr id="20" name="Text 18"/>
          <p:cNvSpPr/>
          <p:nvPr/>
        </p:nvSpPr>
        <p:spPr>
          <a:xfrm>
            <a:off x="4800600" y="3086100"/>
            <a:ext cx="548640" cy="274320"/>
          </a:xfrm>
          <a:prstGeom prst="rect">
            <a:avLst/>
          </a:prstGeom>
          <a:noFill/>
          <a:ln/>
        </p:spPr>
        <p:txBody>
          <a:bodyPr wrap="square" lIns="0" tIns="0" rIns="0" bIns="0" rtlCol="0" anchor="ctr"/>
          <a:lstStyle/>
          <a:p>
            <a:pPr indent="0" marL="0">
              <a:buNone/>
            </a:pPr>
            <a:r>
              <a:rPr lang="en-US" sz="1300" dirty="0">
                <a:solidFill>
                  <a:srgbClr val="0F2A4A"/>
                </a:solidFill>
                <a:latin typeface="Arial" pitchFamily="34" charset="0"/>
                <a:ea typeface="Arial" pitchFamily="34" charset="-122"/>
                <a:cs typeface="Arial" pitchFamily="34" charset="-120"/>
              </a:rPr>
              <a:t>gap</a:t>
            </a:r>
            <a:endParaRPr lang="en-US" sz="1300" dirty="0"/>
          </a:p>
        </p:txBody>
      </p:sp>
      <p:sp>
        <p:nvSpPr>
          <p:cNvPr id="21" name="Text 19"/>
          <p:cNvSpPr/>
          <p:nvPr/>
        </p:nvSpPr>
        <p:spPr>
          <a:xfrm>
            <a:off x="1051560" y="4023360"/>
            <a:ext cx="1463040" cy="256032"/>
          </a:xfrm>
          <a:prstGeom prst="rect">
            <a:avLst/>
          </a:prstGeom>
          <a:noFill/>
          <a:ln/>
        </p:spPr>
        <p:txBody>
          <a:bodyPr wrap="square" lIns="0" tIns="0" rIns="0" bIns="0" rtlCol="0" anchor="ctr"/>
          <a:lstStyle/>
          <a:p>
            <a:pPr algn="ctr" indent="0" marL="0">
              <a:buNone/>
            </a:pPr>
            <a:r>
              <a:rPr lang="en-US" sz="1300" dirty="0">
                <a:solidFill>
                  <a:srgbClr val="5A6472"/>
                </a:solidFill>
                <a:latin typeface="Arial" pitchFamily="34" charset="0"/>
                <a:ea typeface="Arial" pitchFamily="34" charset="-122"/>
                <a:cs typeface="Arial" pitchFamily="34" charset="-120"/>
              </a:rPr>
              <a:t>public half</a:t>
            </a:r>
            <a:endParaRPr lang="en-US" sz="1300" dirty="0"/>
          </a:p>
        </p:txBody>
      </p:sp>
      <p:sp>
        <p:nvSpPr>
          <p:cNvPr id="22" name="Text 20"/>
          <p:cNvSpPr/>
          <p:nvPr/>
        </p:nvSpPr>
        <p:spPr>
          <a:xfrm>
            <a:off x="3794760" y="4023360"/>
            <a:ext cx="1463040" cy="256032"/>
          </a:xfrm>
          <a:prstGeom prst="rect">
            <a:avLst/>
          </a:prstGeom>
          <a:noFill/>
          <a:ln/>
        </p:spPr>
        <p:txBody>
          <a:bodyPr wrap="square" lIns="0" tIns="0" rIns="0" bIns="0" rtlCol="0" anchor="ctr"/>
          <a:lstStyle/>
          <a:p>
            <a:pPr algn="ctr" indent="0" marL="0">
              <a:buNone/>
            </a:pPr>
            <a:r>
              <a:rPr lang="en-US" sz="1300" dirty="0">
                <a:solidFill>
                  <a:srgbClr val="5A6472"/>
                </a:solidFill>
                <a:latin typeface="Arial" pitchFamily="34" charset="0"/>
                <a:ea typeface="Arial" pitchFamily="34" charset="-122"/>
                <a:cs typeface="Arial" pitchFamily="34" charset="-120"/>
              </a:rPr>
              <a:t>private half</a:t>
            </a:r>
            <a:endParaRPr lang="en-US" sz="1300" dirty="0"/>
          </a:p>
        </p:txBody>
      </p:sp>
      <p:sp>
        <p:nvSpPr>
          <p:cNvPr id="23" name="Text 21"/>
          <p:cNvSpPr/>
          <p:nvPr/>
        </p:nvSpPr>
        <p:spPr>
          <a:xfrm>
            <a:off x="658368" y="4443984"/>
            <a:ext cx="5029200" cy="292608"/>
          </a:xfrm>
          <a:prstGeom prst="rect">
            <a:avLst/>
          </a:prstGeom>
          <a:noFill/>
          <a:ln/>
        </p:spPr>
        <p:txBody>
          <a:bodyPr wrap="square" lIns="0" tIns="0" rIns="0" bIns="0" rtlCol="0" anchor="ctr"/>
          <a:lstStyle/>
          <a:p>
            <a:pPr algn="ctr" indent="0" marL="0">
              <a:buNone/>
            </a:pPr>
            <a:r>
              <a:rPr lang="en-US" sz="1500" dirty="0">
                <a:solidFill>
                  <a:srgbClr val="1C1E21"/>
                </a:solidFill>
                <a:latin typeface="Arial" pitchFamily="34" charset="0"/>
                <a:ea typeface="Arial" pitchFamily="34" charset="-122"/>
                <a:cs typeface="Arial" pitchFamily="34" charset="-120"/>
              </a:rPr>
              <a:t>The shift cancels. The gap does not.</a:t>
            </a:r>
            <a:endParaRPr lang="en-US" sz="1500" dirty="0"/>
          </a:p>
        </p:txBody>
      </p:sp>
      <p:sp>
        <p:nvSpPr>
          <p:cNvPr id="24" name="Shape 22"/>
          <p:cNvSpPr/>
          <p:nvPr/>
        </p:nvSpPr>
        <p:spPr>
          <a:xfrm>
            <a:off x="7360920" y="2121408"/>
            <a:ext cx="274320" cy="274320"/>
          </a:xfrm>
          <a:prstGeom prst="roundRect">
            <a:avLst>
              <a:gd name="adj" fmla="val 6667"/>
            </a:avLst>
          </a:prstGeom>
          <a:solidFill>
            <a:srgbClr val="2B6CB0"/>
          </a:solidFill>
          <a:ln w="12700">
            <a:solidFill>
              <a:srgbClr val="2B6CB0"/>
            </a:solidFill>
            <a:prstDash val="solid"/>
          </a:ln>
        </p:spPr>
      </p:sp>
      <p:sp>
        <p:nvSpPr>
          <p:cNvPr id="25" name="Shape 23"/>
          <p:cNvSpPr/>
          <p:nvPr/>
        </p:nvSpPr>
        <p:spPr>
          <a:xfrm>
            <a:off x="7690104" y="2121408"/>
            <a:ext cx="274320" cy="274320"/>
          </a:xfrm>
          <a:prstGeom prst="roundRect">
            <a:avLst>
              <a:gd name="adj" fmla="val 6667"/>
            </a:avLst>
          </a:prstGeom>
          <a:solidFill>
            <a:srgbClr val="2B6CB0"/>
          </a:solidFill>
          <a:ln w="12700">
            <a:solidFill>
              <a:srgbClr val="2B6CB0"/>
            </a:solidFill>
            <a:prstDash val="solid"/>
          </a:ln>
        </p:spPr>
      </p:sp>
      <p:sp>
        <p:nvSpPr>
          <p:cNvPr id="26" name="Shape 24"/>
          <p:cNvSpPr/>
          <p:nvPr/>
        </p:nvSpPr>
        <p:spPr>
          <a:xfrm>
            <a:off x="8019288" y="2121408"/>
            <a:ext cx="274320" cy="274320"/>
          </a:xfrm>
          <a:prstGeom prst="roundRect">
            <a:avLst>
              <a:gd name="adj" fmla="val 6667"/>
            </a:avLst>
          </a:prstGeom>
          <a:solidFill>
            <a:srgbClr val="2B6CB0"/>
          </a:solidFill>
          <a:ln w="12700">
            <a:solidFill>
              <a:srgbClr val="2B6CB0"/>
            </a:solidFill>
            <a:prstDash val="solid"/>
          </a:ln>
        </p:spPr>
      </p:sp>
      <p:sp>
        <p:nvSpPr>
          <p:cNvPr id="27" name="Shape 25"/>
          <p:cNvSpPr/>
          <p:nvPr/>
        </p:nvSpPr>
        <p:spPr>
          <a:xfrm>
            <a:off x="8348472" y="2121408"/>
            <a:ext cx="274320" cy="274320"/>
          </a:xfrm>
          <a:prstGeom prst="roundRect">
            <a:avLst>
              <a:gd name="adj" fmla="val 6667"/>
            </a:avLst>
          </a:prstGeom>
          <a:solidFill>
            <a:srgbClr val="2B6CB0"/>
          </a:solidFill>
          <a:ln w="12700">
            <a:solidFill>
              <a:srgbClr val="2B6CB0"/>
            </a:solidFill>
            <a:prstDash val="solid"/>
          </a:ln>
        </p:spPr>
      </p:sp>
      <p:sp>
        <p:nvSpPr>
          <p:cNvPr id="28" name="Shape 26"/>
          <p:cNvSpPr/>
          <p:nvPr/>
        </p:nvSpPr>
        <p:spPr>
          <a:xfrm>
            <a:off x="8677656" y="2121408"/>
            <a:ext cx="274320" cy="274320"/>
          </a:xfrm>
          <a:prstGeom prst="roundRect">
            <a:avLst>
              <a:gd name="adj" fmla="val 6667"/>
            </a:avLst>
          </a:prstGeom>
          <a:solidFill>
            <a:srgbClr val="2B6CB0"/>
          </a:solidFill>
          <a:ln w="12700">
            <a:solidFill>
              <a:srgbClr val="2B6CB0"/>
            </a:solidFill>
            <a:prstDash val="solid"/>
          </a:ln>
        </p:spPr>
      </p:sp>
      <p:sp>
        <p:nvSpPr>
          <p:cNvPr id="29" name="Shape 27"/>
          <p:cNvSpPr/>
          <p:nvPr/>
        </p:nvSpPr>
        <p:spPr>
          <a:xfrm>
            <a:off x="9006840" y="2121408"/>
            <a:ext cx="274320" cy="274320"/>
          </a:xfrm>
          <a:prstGeom prst="roundRect">
            <a:avLst>
              <a:gd name="adj" fmla="val 6667"/>
            </a:avLst>
          </a:prstGeom>
          <a:solidFill>
            <a:srgbClr val="2B6CB0"/>
          </a:solidFill>
          <a:ln w="12700">
            <a:solidFill>
              <a:srgbClr val="2B6CB0"/>
            </a:solidFill>
            <a:prstDash val="solid"/>
          </a:ln>
        </p:spPr>
      </p:sp>
      <p:sp>
        <p:nvSpPr>
          <p:cNvPr id="30" name="Shape 28"/>
          <p:cNvSpPr/>
          <p:nvPr/>
        </p:nvSpPr>
        <p:spPr>
          <a:xfrm>
            <a:off x="9336024" y="2121408"/>
            <a:ext cx="274320" cy="274320"/>
          </a:xfrm>
          <a:prstGeom prst="roundRect">
            <a:avLst>
              <a:gd name="adj" fmla="val 6667"/>
            </a:avLst>
          </a:prstGeom>
          <a:solidFill>
            <a:srgbClr val="2B6CB0"/>
          </a:solidFill>
          <a:ln w="12700">
            <a:solidFill>
              <a:srgbClr val="2B6CB0"/>
            </a:solidFill>
            <a:prstDash val="solid"/>
          </a:ln>
        </p:spPr>
      </p:sp>
      <p:sp>
        <p:nvSpPr>
          <p:cNvPr id="31" name="Shape 29"/>
          <p:cNvSpPr/>
          <p:nvPr/>
        </p:nvSpPr>
        <p:spPr>
          <a:xfrm>
            <a:off x="9665208" y="2121408"/>
            <a:ext cx="274320" cy="274320"/>
          </a:xfrm>
          <a:prstGeom prst="roundRect">
            <a:avLst>
              <a:gd name="adj" fmla="val 6667"/>
            </a:avLst>
          </a:prstGeom>
          <a:solidFill>
            <a:srgbClr val="2B6CB0"/>
          </a:solidFill>
          <a:ln w="12700">
            <a:solidFill>
              <a:srgbClr val="2B6CB0"/>
            </a:solidFill>
            <a:prstDash val="solid"/>
          </a:ln>
        </p:spPr>
      </p:sp>
      <p:sp>
        <p:nvSpPr>
          <p:cNvPr id="32" name="Shape 30"/>
          <p:cNvSpPr/>
          <p:nvPr/>
        </p:nvSpPr>
        <p:spPr>
          <a:xfrm>
            <a:off x="9994392" y="2121408"/>
            <a:ext cx="274320" cy="274320"/>
          </a:xfrm>
          <a:prstGeom prst="roundRect">
            <a:avLst>
              <a:gd name="adj" fmla="val 6667"/>
            </a:avLst>
          </a:prstGeom>
          <a:solidFill>
            <a:srgbClr val="2B6CB0"/>
          </a:solidFill>
          <a:ln w="12700">
            <a:solidFill>
              <a:srgbClr val="2B6CB0"/>
            </a:solidFill>
            <a:prstDash val="solid"/>
          </a:ln>
        </p:spPr>
      </p:sp>
      <p:sp>
        <p:nvSpPr>
          <p:cNvPr id="33" name="Shape 31"/>
          <p:cNvSpPr/>
          <p:nvPr/>
        </p:nvSpPr>
        <p:spPr>
          <a:xfrm>
            <a:off x="10323576" y="2121408"/>
            <a:ext cx="274320" cy="274320"/>
          </a:xfrm>
          <a:prstGeom prst="roundRect">
            <a:avLst>
              <a:gd name="adj" fmla="val 6667"/>
            </a:avLst>
          </a:prstGeom>
          <a:solidFill>
            <a:srgbClr val="2B6CB0"/>
          </a:solidFill>
          <a:ln w="12700">
            <a:solidFill>
              <a:srgbClr val="2B6CB0"/>
            </a:solidFill>
            <a:prstDash val="solid"/>
          </a:ln>
        </p:spPr>
      </p:sp>
      <p:sp>
        <p:nvSpPr>
          <p:cNvPr id="34" name="Shape 32"/>
          <p:cNvSpPr/>
          <p:nvPr/>
        </p:nvSpPr>
        <p:spPr>
          <a:xfrm>
            <a:off x="7360920" y="2450592"/>
            <a:ext cx="274320" cy="274320"/>
          </a:xfrm>
          <a:prstGeom prst="roundRect">
            <a:avLst>
              <a:gd name="adj" fmla="val 6667"/>
            </a:avLst>
          </a:prstGeom>
          <a:solidFill>
            <a:srgbClr val="2B6CB0"/>
          </a:solidFill>
          <a:ln w="12700">
            <a:solidFill>
              <a:srgbClr val="2B6CB0"/>
            </a:solidFill>
            <a:prstDash val="solid"/>
          </a:ln>
        </p:spPr>
      </p:sp>
      <p:sp>
        <p:nvSpPr>
          <p:cNvPr id="35" name="Shape 33"/>
          <p:cNvSpPr/>
          <p:nvPr/>
        </p:nvSpPr>
        <p:spPr>
          <a:xfrm>
            <a:off x="7690104" y="2450592"/>
            <a:ext cx="274320" cy="274320"/>
          </a:xfrm>
          <a:prstGeom prst="roundRect">
            <a:avLst>
              <a:gd name="adj" fmla="val 6667"/>
            </a:avLst>
          </a:prstGeom>
          <a:solidFill>
            <a:srgbClr val="2B6CB0"/>
          </a:solidFill>
          <a:ln w="12700">
            <a:solidFill>
              <a:srgbClr val="2B6CB0"/>
            </a:solidFill>
            <a:prstDash val="solid"/>
          </a:ln>
        </p:spPr>
      </p:sp>
      <p:sp>
        <p:nvSpPr>
          <p:cNvPr id="36" name="Shape 34"/>
          <p:cNvSpPr/>
          <p:nvPr/>
        </p:nvSpPr>
        <p:spPr>
          <a:xfrm>
            <a:off x="8019288" y="2450592"/>
            <a:ext cx="274320" cy="274320"/>
          </a:xfrm>
          <a:prstGeom prst="roundRect">
            <a:avLst>
              <a:gd name="adj" fmla="val 6667"/>
            </a:avLst>
          </a:prstGeom>
          <a:solidFill>
            <a:srgbClr val="2B6CB0"/>
          </a:solidFill>
          <a:ln w="12700">
            <a:solidFill>
              <a:srgbClr val="2B6CB0"/>
            </a:solidFill>
            <a:prstDash val="solid"/>
          </a:ln>
        </p:spPr>
      </p:sp>
      <p:sp>
        <p:nvSpPr>
          <p:cNvPr id="37" name="Shape 35"/>
          <p:cNvSpPr/>
          <p:nvPr/>
        </p:nvSpPr>
        <p:spPr>
          <a:xfrm>
            <a:off x="8348472" y="2450592"/>
            <a:ext cx="274320" cy="274320"/>
          </a:xfrm>
          <a:prstGeom prst="roundRect">
            <a:avLst>
              <a:gd name="adj" fmla="val 6667"/>
            </a:avLst>
          </a:prstGeom>
          <a:solidFill>
            <a:srgbClr val="2B6CB0"/>
          </a:solidFill>
          <a:ln w="12700">
            <a:solidFill>
              <a:srgbClr val="2B6CB0"/>
            </a:solidFill>
            <a:prstDash val="solid"/>
          </a:ln>
        </p:spPr>
      </p:sp>
      <p:sp>
        <p:nvSpPr>
          <p:cNvPr id="38" name="Shape 36"/>
          <p:cNvSpPr/>
          <p:nvPr/>
        </p:nvSpPr>
        <p:spPr>
          <a:xfrm>
            <a:off x="8677656" y="2450592"/>
            <a:ext cx="274320" cy="274320"/>
          </a:xfrm>
          <a:prstGeom prst="roundRect">
            <a:avLst>
              <a:gd name="adj" fmla="val 6667"/>
            </a:avLst>
          </a:prstGeom>
          <a:solidFill>
            <a:srgbClr val="2B6CB0"/>
          </a:solidFill>
          <a:ln w="12700">
            <a:solidFill>
              <a:srgbClr val="2B6CB0"/>
            </a:solidFill>
            <a:prstDash val="solid"/>
          </a:ln>
        </p:spPr>
      </p:sp>
      <p:sp>
        <p:nvSpPr>
          <p:cNvPr id="39" name="Shape 37"/>
          <p:cNvSpPr/>
          <p:nvPr/>
        </p:nvSpPr>
        <p:spPr>
          <a:xfrm>
            <a:off x="9006840" y="2450592"/>
            <a:ext cx="274320" cy="274320"/>
          </a:xfrm>
          <a:prstGeom prst="roundRect">
            <a:avLst>
              <a:gd name="adj" fmla="val 6667"/>
            </a:avLst>
          </a:prstGeom>
          <a:solidFill>
            <a:srgbClr val="2B6CB0"/>
          </a:solidFill>
          <a:ln w="12700">
            <a:solidFill>
              <a:srgbClr val="2B6CB0"/>
            </a:solidFill>
            <a:prstDash val="solid"/>
          </a:ln>
        </p:spPr>
      </p:sp>
      <p:sp>
        <p:nvSpPr>
          <p:cNvPr id="40" name="Shape 38"/>
          <p:cNvSpPr/>
          <p:nvPr/>
        </p:nvSpPr>
        <p:spPr>
          <a:xfrm>
            <a:off x="9336024" y="2450592"/>
            <a:ext cx="274320" cy="274320"/>
          </a:xfrm>
          <a:prstGeom prst="roundRect">
            <a:avLst>
              <a:gd name="adj" fmla="val 6667"/>
            </a:avLst>
          </a:prstGeom>
          <a:solidFill>
            <a:srgbClr val="2B6CB0"/>
          </a:solidFill>
          <a:ln w="12700">
            <a:solidFill>
              <a:srgbClr val="2B6CB0"/>
            </a:solidFill>
            <a:prstDash val="solid"/>
          </a:ln>
        </p:spPr>
      </p:sp>
      <p:sp>
        <p:nvSpPr>
          <p:cNvPr id="41" name="Shape 39"/>
          <p:cNvSpPr/>
          <p:nvPr/>
        </p:nvSpPr>
        <p:spPr>
          <a:xfrm>
            <a:off x="9665208" y="2450592"/>
            <a:ext cx="274320" cy="274320"/>
          </a:xfrm>
          <a:prstGeom prst="roundRect">
            <a:avLst>
              <a:gd name="adj" fmla="val 6667"/>
            </a:avLst>
          </a:prstGeom>
          <a:solidFill>
            <a:srgbClr val="2B6CB0"/>
          </a:solidFill>
          <a:ln w="12700">
            <a:solidFill>
              <a:srgbClr val="2B6CB0"/>
            </a:solidFill>
            <a:prstDash val="solid"/>
          </a:ln>
        </p:spPr>
      </p:sp>
      <p:sp>
        <p:nvSpPr>
          <p:cNvPr id="42" name="Shape 40"/>
          <p:cNvSpPr/>
          <p:nvPr/>
        </p:nvSpPr>
        <p:spPr>
          <a:xfrm>
            <a:off x="9994392" y="2450592"/>
            <a:ext cx="274320" cy="274320"/>
          </a:xfrm>
          <a:prstGeom prst="roundRect">
            <a:avLst>
              <a:gd name="adj" fmla="val 6667"/>
            </a:avLst>
          </a:prstGeom>
          <a:solidFill>
            <a:srgbClr val="2B6CB0"/>
          </a:solidFill>
          <a:ln w="12700">
            <a:solidFill>
              <a:srgbClr val="2B6CB0"/>
            </a:solidFill>
            <a:prstDash val="solid"/>
          </a:ln>
        </p:spPr>
      </p:sp>
      <p:sp>
        <p:nvSpPr>
          <p:cNvPr id="43" name="Shape 41"/>
          <p:cNvSpPr/>
          <p:nvPr/>
        </p:nvSpPr>
        <p:spPr>
          <a:xfrm>
            <a:off x="10323576" y="2450592"/>
            <a:ext cx="274320" cy="274320"/>
          </a:xfrm>
          <a:prstGeom prst="roundRect">
            <a:avLst>
              <a:gd name="adj" fmla="val 6667"/>
            </a:avLst>
          </a:prstGeom>
          <a:solidFill>
            <a:srgbClr val="2B6CB0"/>
          </a:solidFill>
          <a:ln w="12700">
            <a:solidFill>
              <a:srgbClr val="2B6CB0"/>
            </a:solidFill>
            <a:prstDash val="solid"/>
          </a:ln>
        </p:spPr>
      </p:sp>
      <p:sp>
        <p:nvSpPr>
          <p:cNvPr id="44" name="Shape 42"/>
          <p:cNvSpPr/>
          <p:nvPr/>
        </p:nvSpPr>
        <p:spPr>
          <a:xfrm>
            <a:off x="7360920" y="2779776"/>
            <a:ext cx="274320" cy="274320"/>
          </a:xfrm>
          <a:prstGeom prst="roundRect">
            <a:avLst>
              <a:gd name="adj" fmla="val 6667"/>
            </a:avLst>
          </a:prstGeom>
          <a:solidFill>
            <a:srgbClr val="2B6CB0"/>
          </a:solidFill>
          <a:ln w="12700">
            <a:solidFill>
              <a:srgbClr val="2B6CB0"/>
            </a:solidFill>
            <a:prstDash val="solid"/>
          </a:ln>
        </p:spPr>
      </p:sp>
      <p:sp>
        <p:nvSpPr>
          <p:cNvPr id="45" name="Shape 43"/>
          <p:cNvSpPr/>
          <p:nvPr/>
        </p:nvSpPr>
        <p:spPr>
          <a:xfrm>
            <a:off x="7690104" y="2779776"/>
            <a:ext cx="274320" cy="274320"/>
          </a:xfrm>
          <a:prstGeom prst="roundRect">
            <a:avLst>
              <a:gd name="adj" fmla="val 6667"/>
            </a:avLst>
          </a:prstGeom>
          <a:solidFill>
            <a:srgbClr val="2B6CB0"/>
          </a:solidFill>
          <a:ln w="12700">
            <a:solidFill>
              <a:srgbClr val="2B6CB0"/>
            </a:solidFill>
            <a:prstDash val="solid"/>
          </a:ln>
        </p:spPr>
      </p:sp>
      <p:sp>
        <p:nvSpPr>
          <p:cNvPr id="46" name="Shape 44"/>
          <p:cNvSpPr/>
          <p:nvPr/>
        </p:nvSpPr>
        <p:spPr>
          <a:xfrm>
            <a:off x="8019288" y="2779776"/>
            <a:ext cx="274320" cy="274320"/>
          </a:xfrm>
          <a:prstGeom prst="roundRect">
            <a:avLst>
              <a:gd name="adj" fmla="val 6667"/>
            </a:avLst>
          </a:prstGeom>
          <a:solidFill>
            <a:srgbClr val="2B6CB0"/>
          </a:solidFill>
          <a:ln w="12700">
            <a:solidFill>
              <a:srgbClr val="2B6CB0"/>
            </a:solidFill>
            <a:prstDash val="solid"/>
          </a:ln>
        </p:spPr>
      </p:sp>
      <p:sp>
        <p:nvSpPr>
          <p:cNvPr id="47" name="Shape 45"/>
          <p:cNvSpPr/>
          <p:nvPr/>
        </p:nvSpPr>
        <p:spPr>
          <a:xfrm>
            <a:off x="8348472" y="2779776"/>
            <a:ext cx="274320" cy="274320"/>
          </a:xfrm>
          <a:prstGeom prst="roundRect">
            <a:avLst>
              <a:gd name="adj" fmla="val 6667"/>
            </a:avLst>
          </a:prstGeom>
          <a:solidFill>
            <a:srgbClr val="2B6CB0"/>
          </a:solidFill>
          <a:ln w="12700">
            <a:solidFill>
              <a:srgbClr val="2B6CB0"/>
            </a:solidFill>
            <a:prstDash val="solid"/>
          </a:ln>
        </p:spPr>
      </p:sp>
      <p:sp>
        <p:nvSpPr>
          <p:cNvPr id="48" name="Shape 46"/>
          <p:cNvSpPr/>
          <p:nvPr/>
        </p:nvSpPr>
        <p:spPr>
          <a:xfrm>
            <a:off x="8677656" y="2779776"/>
            <a:ext cx="274320" cy="274320"/>
          </a:xfrm>
          <a:prstGeom prst="roundRect">
            <a:avLst>
              <a:gd name="adj" fmla="val 6667"/>
            </a:avLst>
          </a:prstGeom>
          <a:solidFill>
            <a:srgbClr val="2B6CB0"/>
          </a:solidFill>
          <a:ln w="12700">
            <a:solidFill>
              <a:srgbClr val="2B6CB0"/>
            </a:solidFill>
            <a:prstDash val="solid"/>
          </a:ln>
        </p:spPr>
      </p:sp>
      <p:sp>
        <p:nvSpPr>
          <p:cNvPr id="49" name="Shape 47"/>
          <p:cNvSpPr/>
          <p:nvPr/>
        </p:nvSpPr>
        <p:spPr>
          <a:xfrm>
            <a:off x="9006840" y="2779776"/>
            <a:ext cx="274320" cy="274320"/>
          </a:xfrm>
          <a:prstGeom prst="roundRect">
            <a:avLst>
              <a:gd name="adj" fmla="val 6667"/>
            </a:avLst>
          </a:prstGeom>
          <a:solidFill>
            <a:srgbClr val="2B6CB0"/>
          </a:solidFill>
          <a:ln w="12700">
            <a:solidFill>
              <a:srgbClr val="2B6CB0"/>
            </a:solidFill>
            <a:prstDash val="solid"/>
          </a:ln>
        </p:spPr>
      </p:sp>
      <p:sp>
        <p:nvSpPr>
          <p:cNvPr id="50" name="Shape 48"/>
          <p:cNvSpPr/>
          <p:nvPr/>
        </p:nvSpPr>
        <p:spPr>
          <a:xfrm>
            <a:off x="9336024" y="2779776"/>
            <a:ext cx="274320" cy="274320"/>
          </a:xfrm>
          <a:prstGeom prst="roundRect">
            <a:avLst>
              <a:gd name="adj" fmla="val 6667"/>
            </a:avLst>
          </a:prstGeom>
          <a:solidFill>
            <a:srgbClr val="2B6CB0"/>
          </a:solidFill>
          <a:ln w="12700">
            <a:solidFill>
              <a:srgbClr val="2B6CB0"/>
            </a:solidFill>
            <a:prstDash val="solid"/>
          </a:ln>
        </p:spPr>
      </p:sp>
      <p:sp>
        <p:nvSpPr>
          <p:cNvPr id="51" name="Shape 49"/>
          <p:cNvSpPr/>
          <p:nvPr/>
        </p:nvSpPr>
        <p:spPr>
          <a:xfrm>
            <a:off x="9665208" y="2779776"/>
            <a:ext cx="274320" cy="274320"/>
          </a:xfrm>
          <a:prstGeom prst="roundRect">
            <a:avLst>
              <a:gd name="adj" fmla="val 6667"/>
            </a:avLst>
          </a:prstGeom>
          <a:solidFill>
            <a:srgbClr val="2B6CB0"/>
          </a:solidFill>
          <a:ln w="12700">
            <a:solidFill>
              <a:srgbClr val="2B6CB0"/>
            </a:solidFill>
            <a:prstDash val="solid"/>
          </a:ln>
        </p:spPr>
      </p:sp>
      <p:sp>
        <p:nvSpPr>
          <p:cNvPr id="52" name="Shape 50"/>
          <p:cNvSpPr/>
          <p:nvPr/>
        </p:nvSpPr>
        <p:spPr>
          <a:xfrm>
            <a:off x="9994392" y="2779776"/>
            <a:ext cx="274320" cy="274320"/>
          </a:xfrm>
          <a:prstGeom prst="roundRect">
            <a:avLst>
              <a:gd name="adj" fmla="val 6667"/>
            </a:avLst>
          </a:prstGeom>
          <a:solidFill>
            <a:srgbClr val="2B6CB0"/>
          </a:solidFill>
          <a:ln w="12700">
            <a:solidFill>
              <a:srgbClr val="2B6CB0"/>
            </a:solidFill>
            <a:prstDash val="solid"/>
          </a:ln>
        </p:spPr>
      </p:sp>
      <p:sp>
        <p:nvSpPr>
          <p:cNvPr id="53" name="Shape 51"/>
          <p:cNvSpPr/>
          <p:nvPr/>
        </p:nvSpPr>
        <p:spPr>
          <a:xfrm>
            <a:off x="10323576" y="2779776"/>
            <a:ext cx="274320" cy="274320"/>
          </a:xfrm>
          <a:prstGeom prst="roundRect">
            <a:avLst>
              <a:gd name="adj" fmla="val 6667"/>
            </a:avLst>
          </a:prstGeom>
          <a:solidFill>
            <a:srgbClr val="2B6CB0"/>
          </a:solidFill>
          <a:ln w="12700">
            <a:solidFill>
              <a:srgbClr val="2B6CB0"/>
            </a:solidFill>
            <a:prstDash val="solid"/>
          </a:ln>
        </p:spPr>
      </p:sp>
      <p:sp>
        <p:nvSpPr>
          <p:cNvPr id="54" name="Shape 52"/>
          <p:cNvSpPr/>
          <p:nvPr/>
        </p:nvSpPr>
        <p:spPr>
          <a:xfrm>
            <a:off x="7360920" y="3108960"/>
            <a:ext cx="274320" cy="274320"/>
          </a:xfrm>
          <a:prstGeom prst="roundRect">
            <a:avLst>
              <a:gd name="adj" fmla="val 6667"/>
            </a:avLst>
          </a:prstGeom>
          <a:solidFill>
            <a:srgbClr val="2B6CB0"/>
          </a:solidFill>
          <a:ln w="12700">
            <a:solidFill>
              <a:srgbClr val="2B6CB0"/>
            </a:solidFill>
            <a:prstDash val="solid"/>
          </a:ln>
        </p:spPr>
      </p:sp>
      <p:sp>
        <p:nvSpPr>
          <p:cNvPr id="55" name="Shape 53"/>
          <p:cNvSpPr/>
          <p:nvPr/>
        </p:nvSpPr>
        <p:spPr>
          <a:xfrm>
            <a:off x="7690104" y="3108960"/>
            <a:ext cx="274320" cy="274320"/>
          </a:xfrm>
          <a:prstGeom prst="roundRect">
            <a:avLst>
              <a:gd name="adj" fmla="val 6667"/>
            </a:avLst>
          </a:prstGeom>
          <a:solidFill>
            <a:srgbClr val="2B6CB0"/>
          </a:solidFill>
          <a:ln w="12700">
            <a:solidFill>
              <a:srgbClr val="2B6CB0"/>
            </a:solidFill>
            <a:prstDash val="solid"/>
          </a:ln>
        </p:spPr>
      </p:sp>
      <p:sp>
        <p:nvSpPr>
          <p:cNvPr id="56" name="Shape 54"/>
          <p:cNvSpPr/>
          <p:nvPr/>
        </p:nvSpPr>
        <p:spPr>
          <a:xfrm>
            <a:off x="8019288" y="3108960"/>
            <a:ext cx="274320" cy="274320"/>
          </a:xfrm>
          <a:prstGeom prst="roundRect">
            <a:avLst>
              <a:gd name="adj" fmla="val 6667"/>
            </a:avLst>
          </a:prstGeom>
          <a:solidFill>
            <a:srgbClr val="2B6CB0"/>
          </a:solidFill>
          <a:ln w="12700">
            <a:solidFill>
              <a:srgbClr val="2B6CB0"/>
            </a:solidFill>
            <a:prstDash val="solid"/>
          </a:ln>
        </p:spPr>
      </p:sp>
      <p:sp>
        <p:nvSpPr>
          <p:cNvPr id="57" name="Shape 55"/>
          <p:cNvSpPr/>
          <p:nvPr/>
        </p:nvSpPr>
        <p:spPr>
          <a:xfrm>
            <a:off x="8348472" y="3108960"/>
            <a:ext cx="274320" cy="274320"/>
          </a:xfrm>
          <a:prstGeom prst="roundRect">
            <a:avLst>
              <a:gd name="adj" fmla="val 6667"/>
            </a:avLst>
          </a:prstGeom>
          <a:solidFill>
            <a:srgbClr val="2B6CB0"/>
          </a:solidFill>
          <a:ln w="12700">
            <a:solidFill>
              <a:srgbClr val="2B6CB0"/>
            </a:solidFill>
            <a:prstDash val="solid"/>
          </a:ln>
        </p:spPr>
      </p:sp>
      <p:sp>
        <p:nvSpPr>
          <p:cNvPr id="58" name="Shape 56"/>
          <p:cNvSpPr/>
          <p:nvPr/>
        </p:nvSpPr>
        <p:spPr>
          <a:xfrm>
            <a:off x="8677656" y="3108960"/>
            <a:ext cx="274320" cy="274320"/>
          </a:xfrm>
          <a:prstGeom prst="roundRect">
            <a:avLst>
              <a:gd name="adj" fmla="val 6667"/>
            </a:avLst>
          </a:prstGeom>
          <a:solidFill>
            <a:srgbClr val="2B6CB0"/>
          </a:solidFill>
          <a:ln w="12700">
            <a:solidFill>
              <a:srgbClr val="2B6CB0"/>
            </a:solidFill>
            <a:prstDash val="solid"/>
          </a:ln>
        </p:spPr>
      </p:sp>
      <p:sp>
        <p:nvSpPr>
          <p:cNvPr id="59" name="Shape 57"/>
          <p:cNvSpPr/>
          <p:nvPr/>
        </p:nvSpPr>
        <p:spPr>
          <a:xfrm>
            <a:off x="9006840" y="3108960"/>
            <a:ext cx="274320" cy="274320"/>
          </a:xfrm>
          <a:prstGeom prst="roundRect">
            <a:avLst>
              <a:gd name="adj" fmla="val 6667"/>
            </a:avLst>
          </a:prstGeom>
          <a:solidFill>
            <a:srgbClr val="2B6CB0"/>
          </a:solidFill>
          <a:ln w="12700">
            <a:solidFill>
              <a:srgbClr val="2B6CB0"/>
            </a:solidFill>
            <a:prstDash val="solid"/>
          </a:ln>
        </p:spPr>
      </p:sp>
      <p:sp>
        <p:nvSpPr>
          <p:cNvPr id="60" name="Shape 58"/>
          <p:cNvSpPr/>
          <p:nvPr/>
        </p:nvSpPr>
        <p:spPr>
          <a:xfrm>
            <a:off x="9336024" y="3108960"/>
            <a:ext cx="274320" cy="274320"/>
          </a:xfrm>
          <a:prstGeom prst="roundRect">
            <a:avLst>
              <a:gd name="adj" fmla="val 6667"/>
            </a:avLst>
          </a:prstGeom>
          <a:solidFill>
            <a:srgbClr val="2B6CB0"/>
          </a:solidFill>
          <a:ln w="12700">
            <a:solidFill>
              <a:srgbClr val="2B6CB0"/>
            </a:solidFill>
            <a:prstDash val="solid"/>
          </a:ln>
        </p:spPr>
      </p:sp>
      <p:sp>
        <p:nvSpPr>
          <p:cNvPr id="61" name="Shape 59"/>
          <p:cNvSpPr/>
          <p:nvPr/>
        </p:nvSpPr>
        <p:spPr>
          <a:xfrm>
            <a:off x="9665208" y="3108960"/>
            <a:ext cx="274320" cy="274320"/>
          </a:xfrm>
          <a:prstGeom prst="roundRect">
            <a:avLst>
              <a:gd name="adj" fmla="val 6667"/>
            </a:avLst>
          </a:prstGeom>
          <a:solidFill>
            <a:srgbClr val="2B6CB0"/>
          </a:solidFill>
          <a:ln w="12700">
            <a:solidFill>
              <a:srgbClr val="2B6CB0"/>
            </a:solidFill>
            <a:prstDash val="solid"/>
          </a:ln>
        </p:spPr>
      </p:sp>
      <p:sp>
        <p:nvSpPr>
          <p:cNvPr id="62" name="Shape 60"/>
          <p:cNvSpPr/>
          <p:nvPr/>
        </p:nvSpPr>
        <p:spPr>
          <a:xfrm>
            <a:off x="9994392" y="3108960"/>
            <a:ext cx="274320" cy="274320"/>
          </a:xfrm>
          <a:prstGeom prst="roundRect">
            <a:avLst>
              <a:gd name="adj" fmla="val 6667"/>
            </a:avLst>
          </a:prstGeom>
          <a:solidFill>
            <a:srgbClr val="FFFFFF"/>
          </a:solidFill>
          <a:ln w="12700">
            <a:solidFill>
              <a:srgbClr val="A8BDD4"/>
            </a:solidFill>
            <a:prstDash val="solid"/>
          </a:ln>
        </p:spPr>
      </p:sp>
      <p:sp>
        <p:nvSpPr>
          <p:cNvPr id="63" name="Shape 61"/>
          <p:cNvSpPr/>
          <p:nvPr/>
        </p:nvSpPr>
        <p:spPr>
          <a:xfrm>
            <a:off x="10323576" y="3108960"/>
            <a:ext cx="274320" cy="274320"/>
          </a:xfrm>
          <a:prstGeom prst="roundRect">
            <a:avLst>
              <a:gd name="adj" fmla="val 6667"/>
            </a:avLst>
          </a:prstGeom>
          <a:solidFill>
            <a:srgbClr val="FFFFFF"/>
          </a:solidFill>
          <a:ln w="12700">
            <a:solidFill>
              <a:srgbClr val="A8BDD4"/>
            </a:solidFill>
            <a:prstDash val="solid"/>
          </a:ln>
        </p:spPr>
      </p:sp>
      <p:sp>
        <p:nvSpPr>
          <p:cNvPr id="64" name="Shape 62"/>
          <p:cNvSpPr/>
          <p:nvPr/>
        </p:nvSpPr>
        <p:spPr>
          <a:xfrm>
            <a:off x="7360920" y="3438144"/>
            <a:ext cx="274320" cy="274320"/>
          </a:xfrm>
          <a:prstGeom prst="roundRect">
            <a:avLst>
              <a:gd name="adj" fmla="val 6667"/>
            </a:avLst>
          </a:prstGeom>
          <a:solidFill>
            <a:srgbClr val="FFFFFF"/>
          </a:solidFill>
          <a:ln w="12700">
            <a:solidFill>
              <a:srgbClr val="A8BDD4"/>
            </a:solidFill>
            <a:prstDash val="solid"/>
          </a:ln>
        </p:spPr>
      </p:sp>
      <p:sp>
        <p:nvSpPr>
          <p:cNvPr id="65" name="Shape 63"/>
          <p:cNvSpPr/>
          <p:nvPr/>
        </p:nvSpPr>
        <p:spPr>
          <a:xfrm>
            <a:off x="7690104" y="3438144"/>
            <a:ext cx="274320" cy="274320"/>
          </a:xfrm>
          <a:prstGeom prst="roundRect">
            <a:avLst>
              <a:gd name="adj" fmla="val 6667"/>
            </a:avLst>
          </a:prstGeom>
          <a:solidFill>
            <a:srgbClr val="FFFFFF"/>
          </a:solidFill>
          <a:ln w="12700">
            <a:solidFill>
              <a:srgbClr val="A8BDD4"/>
            </a:solidFill>
            <a:prstDash val="solid"/>
          </a:ln>
        </p:spPr>
      </p:sp>
      <p:sp>
        <p:nvSpPr>
          <p:cNvPr id="66" name="Shape 64"/>
          <p:cNvSpPr/>
          <p:nvPr/>
        </p:nvSpPr>
        <p:spPr>
          <a:xfrm>
            <a:off x="8019288" y="3438144"/>
            <a:ext cx="274320" cy="274320"/>
          </a:xfrm>
          <a:prstGeom prst="roundRect">
            <a:avLst>
              <a:gd name="adj" fmla="val 6667"/>
            </a:avLst>
          </a:prstGeom>
          <a:solidFill>
            <a:srgbClr val="FFFFFF"/>
          </a:solidFill>
          <a:ln w="12700">
            <a:solidFill>
              <a:srgbClr val="A8BDD4"/>
            </a:solidFill>
            <a:prstDash val="solid"/>
          </a:ln>
        </p:spPr>
      </p:sp>
      <p:sp>
        <p:nvSpPr>
          <p:cNvPr id="67" name="Shape 65"/>
          <p:cNvSpPr/>
          <p:nvPr/>
        </p:nvSpPr>
        <p:spPr>
          <a:xfrm>
            <a:off x="8348472" y="3438144"/>
            <a:ext cx="274320" cy="274320"/>
          </a:xfrm>
          <a:prstGeom prst="roundRect">
            <a:avLst>
              <a:gd name="adj" fmla="val 6667"/>
            </a:avLst>
          </a:prstGeom>
          <a:solidFill>
            <a:srgbClr val="FFFFFF"/>
          </a:solidFill>
          <a:ln w="12700">
            <a:solidFill>
              <a:srgbClr val="A8BDD4"/>
            </a:solidFill>
            <a:prstDash val="solid"/>
          </a:ln>
        </p:spPr>
      </p:sp>
      <p:sp>
        <p:nvSpPr>
          <p:cNvPr id="68" name="Shape 66"/>
          <p:cNvSpPr/>
          <p:nvPr/>
        </p:nvSpPr>
        <p:spPr>
          <a:xfrm>
            <a:off x="8677656" y="3438144"/>
            <a:ext cx="274320" cy="274320"/>
          </a:xfrm>
          <a:prstGeom prst="roundRect">
            <a:avLst>
              <a:gd name="adj" fmla="val 6667"/>
            </a:avLst>
          </a:prstGeom>
          <a:solidFill>
            <a:srgbClr val="FFFFFF"/>
          </a:solidFill>
          <a:ln w="12700">
            <a:solidFill>
              <a:srgbClr val="A8BDD4"/>
            </a:solidFill>
            <a:prstDash val="solid"/>
          </a:ln>
        </p:spPr>
      </p:sp>
      <p:sp>
        <p:nvSpPr>
          <p:cNvPr id="69" name="Shape 67"/>
          <p:cNvSpPr/>
          <p:nvPr/>
        </p:nvSpPr>
        <p:spPr>
          <a:xfrm>
            <a:off x="9006840" y="3438144"/>
            <a:ext cx="274320" cy="274320"/>
          </a:xfrm>
          <a:prstGeom prst="roundRect">
            <a:avLst>
              <a:gd name="adj" fmla="val 6667"/>
            </a:avLst>
          </a:prstGeom>
          <a:solidFill>
            <a:srgbClr val="FFFFFF"/>
          </a:solidFill>
          <a:ln w="12700">
            <a:solidFill>
              <a:srgbClr val="A8BDD4"/>
            </a:solidFill>
            <a:prstDash val="solid"/>
          </a:ln>
        </p:spPr>
      </p:sp>
      <p:sp>
        <p:nvSpPr>
          <p:cNvPr id="70" name="Shape 68"/>
          <p:cNvSpPr/>
          <p:nvPr/>
        </p:nvSpPr>
        <p:spPr>
          <a:xfrm>
            <a:off x="9336024" y="3438144"/>
            <a:ext cx="274320" cy="274320"/>
          </a:xfrm>
          <a:prstGeom prst="roundRect">
            <a:avLst>
              <a:gd name="adj" fmla="val 6667"/>
            </a:avLst>
          </a:prstGeom>
          <a:solidFill>
            <a:srgbClr val="FFFFFF"/>
          </a:solidFill>
          <a:ln w="12700">
            <a:solidFill>
              <a:srgbClr val="A8BDD4"/>
            </a:solidFill>
            <a:prstDash val="solid"/>
          </a:ln>
        </p:spPr>
      </p:sp>
      <p:sp>
        <p:nvSpPr>
          <p:cNvPr id="71" name="Shape 69"/>
          <p:cNvSpPr/>
          <p:nvPr/>
        </p:nvSpPr>
        <p:spPr>
          <a:xfrm>
            <a:off x="9665208" y="3438144"/>
            <a:ext cx="274320" cy="274320"/>
          </a:xfrm>
          <a:prstGeom prst="roundRect">
            <a:avLst>
              <a:gd name="adj" fmla="val 6667"/>
            </a:avLst>
          </a:prstGeom>
          <a:solidFill>
            <a:srgbClr val="FFFFFF"/>
          </a:solidFill>
          <a:ln w="12700">
            <a:solidFill>
              <a:srgbClr val="A8BDD4"/>
            </a:solidFill>
            <a:prstDash val="solid"/>
          </a:ln>
        </p:spPr>
      </p:sp>
      <p:sp>
        <p:nvSpPr>
          <p:cNvPr id="72" name="Shape 70"/>
          <p:cNvSpPr/>
          <p:nvPr/>
        </p:nvSpPr>
        <p:spPr>
          <a:xfrm>
            <a:off x="9994392" y="3438144"/>
            <a:ext cx="274320" cy="274320"/>
          </a:xfrm>
          <a:prstGeom prst="roundRect">
            <a:avLst>
              <a:gd name="adj" fmla="val 6667"/>
            </a:avLst>
          </a:prstGeom>
          <a:solidFill>
            <a:srgbClr val="FFFFFF"/>
          </a:solidFill>
          <a:ln w="12700">
            <a:solidFill>
              <a:srgbClr val="A8BDD4"/>
            </a:solidFill>
            <a:prstDash val="solid"/>
          </a:ln>
        </p:spPr>
      </p:sp>
      <p:sp>
        <p:nvSpPr>
          <p:cNvPr id="73" name="Shape 71"/>
          <p:cNvSpPr/>
          <p:nvPr/>
        </p:nvSpPr>
        <p:spPr>
          <a:xfrm>
            <a:off x="10323576" y="3438144"/>
            <a:ext cx="274320" cy="274320"/>
          </a:xfrm>
          <a:prstGeom prst="roundRect">
            <a:avLst>
              <a:gd name="adj" fmla="val 6667"/>
            </a:avLst>
          </a:prstGeom>
          <a:solidFill>
            <a:srgbClr val="FFFFFF"/>
          </a:solidFill>
          <a:ln w="12700">
            <a:solidFill>
              <a:srgbClr val="A8BDD4"/>
            </a:solidFill>
            <a:prstDash val="solid"/>
          </a:ln>
        </p:spPr>
      </p:sp>
      <p:sp>
        <p:nvSpPr>
          <p:cNvPr id="74" name="Shape 72"/>
          <p:cNvSpPr/>
          <p:nvPr/>
        </p:nvSpPr>
        <p:spPr>
          <a:xfrm>
            <a:off x="7360920" y="3767328"/>
            <a:ext cx="274320" cy="274320"/>
          </a:xfrm>
          <a:prstGeom prst="roundRect">
            <a:avLst>
              <a:gd name="adj" fmla="val 6667"/>
            </a:avLst>
          </a:prstGeom>
          <a:solidFill>
            <a:srgbClr val="FFFFFF"/>
          </a:solidFill>
          <a:ln w="12700">
            <a:solidFill>
              <a:srgbClr val="A8BDD4"/>
            </a:solidFill>
            <a:prstDash val="solid"/>
          </a:ln>
        </p:spPr>
      </p:sp>
      <p:sp>
        <p:nvSpPr>
          <p:cNvPr id="75" name="Shape 73"/>
          <p:cNvSpPr/>
          <p:nvPr/>
        </p:nvSpPr>
        <p:spPr>
          <a:xfrm>
            <a:off x="7690104" y="3767328"/>
            <a:ext cx="274320" cy="274320"/>
          </a:xfrm>
          <a:prstGeom prst="roundRect">
            <a:avLst>
              <a:gd name="adj" fmla="val 6667"/>
            </a:avLst>
          </a:prstGeom>
          <a:solidFill>
            <a:srgbClr val="FFFFFF"/>
          </a:solidFill>
          <a:ln w="12700">
            <a:solidFill>
              <a:srgbClr val="A8BDD4"/>
            </a:solidFill>
            <a:prstDash val="solid"/>
          </a:ln>
        </p:spPr>
      </p:sp>
      <p:sp>
        <p:nvSpPr>
          <p:cNvPr id="76" name="Shape 74"/>
          <p:cNvSpPr/>
          <p:nvPr/>
        </p:nvSpPr>
        <p:spPr>
          <a:xfrm>
            <a:off x="8019288" y="3767328"/>
            <a:ext cx="274320" cy="274320"/>
          </a:xfrm>
          <a:prstGeom prst="roundRect">
            <a:avLst>
              <a:gd name="adj" fmla="val 6667"/>
            </a:avLst>
          </a:prstGeom>
          <a:solidFill>
            <a:srgbClr val="FFFFFF"/>
          </a:solidFill>
          <a:ln w="12700">
            <a:solidFill>
              <a:srgbClr val="A8BDD4"/>
            </a:solidFill>
            <a:prstDash val="solid"/>
          </a:ln>
        </p:spPr>
      </p:sp>
      <p:sp>
        <p:nvSpPr>
          <p:cNvPr id="77" name="Shape 75"/>
          <p:cNvSpPr/>
          <p:nvPr/>
        </p:nvSpPr>
        <p:spPr>
          <a:xfrm>
            <a:off x="8348472" y="3767328"/>
            <a:ext cx="274320" cy="274320"/>
          </a:xfrm>
          <a:prstGeom prst="roundRect">
            <a:avLst>
              <a:gd name="adj" fmla="val 6667"/>
            </a:avLst>
          </a:prstGeom>
          <a:solidFill>
            <a:srgbClr val="FFFFFF"/>
          </a:solidFill>
          <a:ln w="12700">
            <a:solidFill>
              <a:srgbClr val="A8BDD4"/>
            </a:solidFill>
            <a:prstDash val="solid"/>
          </a:ln>
        </p:spPr>
      </p:sp>
      <p:sp>
        <p:nvSpPr>
          <p:cNvPr id="78" name="Shape 76"/>
          <p:cNvSpPr/>
          <p:nvPr/>
        </p:nvSpPr>
        <p:spPr>
          <a:xfrm>
            <a:off x="8677656" y="3767328"/>
            <a:ext cx="274320" cy="274320"/>
          </a:xfrm>
          <a:prstGeom prst="roundRect">
            <a:avLst>
              <a:gd name="adj" fmla="val 6667"/>
            </a:avLst>
          </a:prstGeom>
          <a:solidFill>
            <a:srgbClr val="FFFFFF"/>
          </a:solidFill>
          <a:ln w="12700">
            <a:solidFill>
              <a:srgbClr val="A8BDD4"/>
            </a:solidFill>
            <a:prstDash val="solid"/>
          </a:ln>
        </p:spPr>
      </p:sp>
      <p:sp>
        <p:nvSpPr>
          <p:cNvPr id="79" name="Shape 77"/>
          <p:cNvSpPr/>
          <p:nvPr/>
        </p:nvSpPr>
        <p:spPr>
          <a:xfrm>
            <a:off x="9006840" y="3767328"/>
            <a:ext cx="274320" cy="274320"/>
          </a:xfrm>
          <a:prstGeom prst="roundRect">
            <a:avLst>
              <a:gd name="adj" fmla="val 6667"/>
            </a:avLst>
          </a:prstGeom>
          <a:solidFill>
            <a:srgbClr val="FFFFFF"/>
          </a:solidFill>
          <a:ln w="12700">
            <a:solidFill>
              <a:srgbClr val="A8BDD4"/>
            </a:solidFill>
            <a:prstDash val="solid"/>
          </a:ln>
        </p:spPr>
      </p:sp>
      <p:sp>
        <p:nvSpPr>
          <p:cNvPr id="80" name="Shape 78"/>
          <p:cNvSpPr/>
          <p:nvPr/>
        </p:nvSpPr>
        <p:spPr>
          <a:xfrm>
            <a:off x="9336024" y="3767328"/>
            <a:ext cx="274320" cy="274320"/>
          </a:xfrm>
          <a:prstGeom prst="roundRect">
            <a:avLst>
              <a:gd name="adj" fmla="val 6667"/>
            </a:avLst>
          </a:prstGeom>
          <a:solidFill>
            <a:srgbClr val="FFFFFF"/>
          </a:solidFill>
          <a:ln w="12700">
            <a:solidFill>
              <a:srgbClr val="A8BDD4"/>
            </a:solidFill>
            <a:prstDash val="solid"/>
          </a:ln>
        </p:spPr>
      </p:sp>
      <p:sp>
        <p:nvSpPr>
          <p:cNvPr id="81" name="Shape 79"/>
          <p:cNvSpPr/>
          <p:nvPr/>
        </p:nvSpPr>
        <p:spPr>
          <a:xfrm>
            <a:off x="9665208" y="3767328"/>
            <a:ext cx="274320" cy="274320"/>
          </a:xfrm>
          <a:prstGeom prst="roundRect">
            <a:avLst>
              <a:gd name="adj" fmla="val 6667"/>
            </a:avLst>
          </a:prstGeom>
          <a:solidFill>
            <a:srgbClr val="FFFFFF"/>
          </a:solidFill>
          <a:ln w="12700">
            <a:solidFill>
              <a:srgbClr val="A8BDD4"/>
            </a:solidFill>
            <a:prstDash val="solid"/>
          </a:ln>
        </p:spPr>
      </p:sp>
      <p:sp>
        <p:nvSpPr>
          <p:cNvPr id="82" name="Shape 80"/>
          <p:cNvSpPr/>
          <p:nvPr/>
        </p:nvSpPr>
        <p:spPr>
          <a:xfrm>
            <a:off x="9994392" y="3767328"/>
            <a:ext cx="274320" cy="274320"/>
          </a:xfrm>
          <a:prstGeom prst="roundRect">
            <a:avLst>
              <a:gd name="adj" fmla="val 6667"/>
            </a:avLst>
          </a:prstGeom>
          <a:solidFill>
            <a:srgbClr val="FFFFFF"/>
          </a:solidFill>
          <a:ln w="12700">
            <a:solidFill>
              <a:srgbClr val="A8BDD4"/>
            </a:solidFill>
            <a:prstDash val="solid"/>
          </a:ln>
        </p:spPr>
      </p:sp>
      <p:sp>
        <p:nvSpPr>
          <p:cNvPr id="83" name="Shape 81"/>
          <p:cNvSpPr/>
          <p:nvPr/>
        </p:nvSpPr>
        <p:spPr>
          <a:xfrm>
            <a:off x="10323576" y="3767328"/>
            <a:ext cx="274320" cy="274320"/>
          </a:xfrm>
          <a:prstGeom prst="roundRect">
            <a:avLst>
              <a:gd name="adj" fmla="val 6667"/>
            </a:avLst>
          </a:prstGeom>
          <a:solidFill>
            <a:srgbClr val="FFFFFF"/>
          </a:solidFill>
          <a:ln w="12700">
            <a:solidFill>
              <a:srgbClr val="A8BDD4"/>
            </a:solidFill>
            <a:prstDash val="solid"/>
          </a:ln>
        </p:spPr>
      </p:sp>
      <p:sp>
        <p:nvSpPr>
          <p:cNvPr id="84" name="Text 82"/>
          <p:cNvSpPr/>
          <p:nvPr/>
        </p:nvSpPr>
        <p:spPr>
          <a:xfrm>
            <a:off x="6309360" y="4443984"/>
            <a:ext cx="5394960" cy="292608"/>
          </a:xfrm>
          <a:prstGeom prst="rect">
            <a:avLst/>
          </a:prstGeom>
          <a:noFill/>
          <a:ln/>
        </p:spPr>
        <p:txBody>
          <a:bodyPr wrap="square" lIns="0" tIns="0" rIns="0" bIns="0" rtlCol="0" anchor="ctr"/>
          <a:lstStyle/>
          <a:p>
            <a:pPr algn="ctr" indent="0" marL="0">
              <a:buNone/>
            </a:pPr>
            <a:r>
              <a:rPr lang="en-US" sz="1500" dirty="0">
                <a:solidFill>
                  <a:srgbClr val="1C1E21"/>
                </a:solidFill>
                <a:latin typeface="Arial" pitchFamily="34" charset="0"/>
                <a:ea typeface="Arial" pitchFamily="34" charset="-122"/>
                <a:cs typeface="Arial" pitchFamily="34" charset="-120"/>
              </a:rPr>
              <a:t>60 duels: </a:t>
            </a:r>
            <a:pPr algn="ctr" indent="0" marL="0">
              <a:buNone/>
            </a:pPr>
            <a:r>
              <a:rPr lang="en-US" sz="1500" b="1" dirty="0">
                <a:solidFill>
                  <a:srgbClr val="2B6CB0"/>
                </a:solidFill>
                <a:latin typeface="Arial" pitchFamily="34" charset="0"/>
                <a:ea typeface="Arial" pitchFamily="34" charset="-122"/>
                <a:cs typeface="Arial" pitchFamily="34" charset="-120"/>
              </a:rPr>
              <a:t>38 decided</a:t>
            </a:r>
            <a:pPr algn="ctr" indent="0" marL="0">
              <a:buNone/>
            </a:pPr>
            <a:r>
              <a:rPr lang="en-US" sz="1500" dirty="0">
                <a:solidFill>
                  <a:srgbClr val="1C1E21"/>
                </a:solidFill>
                <a:latin typeface="Arial" pitchFamily="34" charset="0"/>
                <a:ea typeface="Arial" pitchFamily="34" charset="-122"/>
                <a:cs typeface="Arial" pitchFamily="34" charset="-120"/>
              </a:rPr>
              <a:t>, 22 undecidable — not ties.</a:t>
            </a:r>
            <a:endParaRPr lang="en-US" sz="1500" dirty="0"/>
          </a:p>
        </p:txBody>
      </p:sp>
      <p:sp>
        <p:nvSpPr>
          <p:cNvPr id="85" name="Text 83"/>
          <p:cNvSpPr/>
          <p:nvPr/>
        </p:nvSpPr>
        <p:spPr>
          <a:xfrm>
            <a:off x="658368" y="5230368"/>
            <a:ext cx="10972800" cy="347472"/>
          </a:xfrm>
          <a:prstGeom prst="rect">
            <a:avLst/>
          </a:prstGeom>
          <a:noFill/>
          <a:ln/>
        </p:spPr>
        <p:txBody>
          <a:bodyPr wrap="square" lIns="0" tIns="0" rIns="0" bIns="0" rtlCol="0" anchor="ctr"/>
          <a:lstStyle/>
          <a:p>
            <a:pPr indent="0" marL="0">
              <a:buNone/>
            </a:pPr>
            <a:r>
              <a:rPr lang="en-US" sz="1700" dirty="0">
                <a:solidFill>
                  <a:srgbClr val="5A6472"/>
                </a:solidFill>
                <a:latin typeface="Arial" pitchFamily="34" charset="0"/>
                <a:ea typeface="Arial" pitchFamily="34" charset="-122"/>
                <a:cs typeface="Arial" pitchFamily="34" charset="-120"/>
              </a:rPr>
              <a:t>Verdict: the ordering replicates on both halves, </a:t>
            </a:r>
            <a:pPr indent="0" marL="0">
              <a:buNone/>
            </a:pPr>
            <a:r>
              <a:rPr lang="en-US" sz="1700" i="1" dirty="0">
                <a:solidFill>
                  <a:srgbClr val="5A6472"/>
                </a:solidFill>
                <a:latin typeface="Arial" pitchFamily="34" charset="0"/>
                <a:ea typeface="Arial" pitchFamily="34" charset="-122"/>
                <a:cs typeface="Arial" pitchFamily="34" charset="-120"/>
              </a:rPr>
              <a:t>and</a:t>
            </a:r>
            <a:pPr indent="0" marL="0">
              <a:buNone/>
            </a:pPr>
            <a:r>
              <a:rPr lang="en-US" sz="1700" dirty="0">
                <a:solidFill>
                  <a:srgbClr val="5A6472"/>
                </a:solidFill>
                <a:latin typeface="Arial" pitchFamily="34" charset="0"/>
                <a:ea typeface="Arial" pitchFamily="34" charset="-122"/>
                <a:cs typeface="Arial" pitchFamily="34" charset="-120"/>
              </a:rPr>
              <a:t> the gap exceeds its own movement.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74320"/>
            <a:ext cx="10972800" cy="548640"/>
          </a:xfrm>
          <a:prstGeom prst="rect">
            <a:avLst/>
          </a:prstGeom>
          <a:noFill/>
          <a:ln/>
        </p:spPr>
        <p:txBody>
          <a:bodyPr wrap="square" lIns="0" tIns="0" rIns="0" bIns="0" rtlCol="0" anchor="ctr"/>
          <a:lstStyle/>
          <a:p>
            <a:pPr indent="0" marL="0">
              <a:buNone/>
            </a:pPr>
            <a:r>
              <a:rPr lang="en-US" sz="2600" b="1" dirty="0">
                <a:solidFill>
                  <a:srgbClr val="0F2A4A"/>
                </a:solidFill>
                <a:latin typeface="Arial" pitchFamily="34" charset="0"/>
                <a:ea typeface="Arial" pitchFamily="34" charset="-122"/>
                <a:cs typeface="Arial" pitchFamily="34" charset="-120"/>
              </a:rPr>
              <a:t>What the frozen three-way run measured</a:t>
            </a:r>
            <a:endParaRPr lang="en-US" sz="2600" dirty="0"/>
          </a:p>
        </p:txBody>
      </p:sp>
      <p:sp>
        <p:nvSpPr>
          <p:cNvPr id="3" name="Text 1"/>
          <p:cNvSpPr/>
          <p:nvPr/>
        </p:nvSpPr>
        <p:spPr>
          <a:xfrm>
            <a:off x="658368" y="1051560"/>
            <a:ext cx="10972800" cy="320040"/>
          </a:xfrm>
          <a:prstGeom prst="rect">
            <a:avLst/>
          </a:prstGeom>
          <a:noFill/>
          <a:ln/>
        </p:spPr>
        <p:txBody>
          <a:bodyPr wrap="square" lIns="0" tIns="0" rIns="0" bIns="0" rtlCol="0" anchor="ctr"/>
          <a:lstStyle/>
          <a:p>
            <a:pPr indent="0" marL="0">
              <a:buNone/>
            </a:pPr>
            <a:r>
              <a:rPr lang="en-US" sz="1500" dirty="0">
                <a:solidFill>
                  <a:srgbClr val="5A6472"/>
                </a:solidFill>
                <a:latin typeface="Arial" pitchFamily="34" charset="0"/>
                <a:ea typeface="Arial" pitchFamily="34" charset="-122"/>
                <a:cs typeface="Arial" pitchFamily="34" charset="-120"/>
              </a:rPr>
              <a:t>20 competitions   ·   one architecture, frozen before the run   ·   no lane could reach a leaderboard</a:t>
            </a:r>
            <a:endParaRPr lang="en-US" sz="1500" dirty="0"/>
          </a:p>
        </p:txBody>
      </p:sp>
      <p:sp>
        <p:nvSpPr>
          <p:cNvPr id="4" name="Text 2"/>
          <p:cNvSpPr/>
          <p:nvPr/>
        </p:nvSpPr>
        <p:spPr>
          <a:xfrm>
            <a:off x="658368" y="2011680"/>
            <a:ext cx="1417320" cy="475488"/>
          </a:xfrm>
          <a:prstGeom prst="rect">
            <a:avLst/>
          </a:prstGeom>
          <a:noFill/>
          <a:ln/>
        </p:spPr>
        <p:txBody>
          <a:bodyPr wrap="square" lIns="0" tIns="0" rIns="0" bIns="0" rtlCol="0" anchor="ctr"/>
          <a:lstStyle/>
          <a:p>
            <a:pPr indent="0" marL="0">
              <a:buNone/>
            </a:pPr>
            <a:r>
              <a:rPr lang="en-US" sz="1800" dirty="0">
                <a:solidFill>
                  <a:srgbClr val="1C1E21"/>
                </a:solidFill>
                <a:latin typeface="Arial" pitchFamily="34" charset="0"/>
                <a:ea typeface="Arial" pitchFamily="34" charset="-122"/>
                <a:cs typeface="Arial" pitchFamily="34" charset="-120"/>
              </a:rPr>
              <a:t>my-agent</a:t>
            </a:r>
            <a:endParaRPr lang="en-US" sz="1800" dirty="0"/>
          </a:p>
        </p:txBody>
      </p:sp>
      <p:sp>
        <p:nvSpPr>
          <p:cNvPr id="5" name="Shape 3"/>
          <p:cNvSpPr/>
          <p:nvPr/>
        </p:nvSpPr>
        <p:spPr>
          <a:xfrm>
            <a:off x="2194560" y="2011680"/>
            <a:ext cx="4937760" cy="475488"/>
          </a:xfrm>
          <a:prstGeom prst="rect">
            <a:avLst/>
          </a:prstGeom>
          <a:solidFill>
            <a:srgbClr val="F4F7FB"/>
          </a:solidFill>
          <a:ln w="12700">
            <a:solidFill>
              <a:srgbClr val="F4F7FB"/>
            </a:solidFill>
            <a:prstDash val="solid"/>
          </a:ln>
        </p:spPr>
      </p:sp>
      <p:sp>
        <p:nvSpPr>
          <p:cNvPr id="6" name="Shape 4"/>
          <p:cNvSpPr/>
          <p:nvPr/>
        </p:nvSpPr>
        <p:spPr>
          <a:xfrm>
            <a:off x="2194560" y="2011680"/>
            <a:ext cx="3293486" cy="475488"/>
          </a:xfrm>
          <a:prstGeom prst="rect">
            <a:avLst/>
          </a:prstGeom>
          <a:solidFill>
            <a:srgbClr val="2B6CB0"/>
          </a:solidFill>
          <a:ln w="12700">
            <a:solidFill>
              <a:srgbClr val="2B6CB0"/>
            </a:solidFill>
            <a:prstDash val="solid"/>
          </a:ln>
        </p:spPr>
      </p:sp>
      <p:sp>
        <p:nvSpPr>
          <p:cNvPr id="7" name="Text 5"/>
          <p:cNvSpPr/>
          <p:nvPr/>
        </p:nvSpPr>
        <p:spPr>
          <a:xfrm>
            <a:off x="2331720" y="2011680"/>
            <a:ext cx="3110606" cy="47548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16–8</a:t>
            </a:r>
            <a:endParaRPr lang="en-US" sz="1300" dirty="0"/>
          </a:p>
        </p:txBody>
      </p:sp>
      <p:sp>
        <p:nvSpPr>
          <p:cNvPr id="8" name="Text 6"/>
          <p:cNvSpPr/>
          <p:nvPr/>
        </p:nvSpPr>
        <p:spPr>
          <a:xfrm>
            <a:off x="7360920" y="1984248"/>
            <a:ext cx="1645920" cy="530352"/>
          </a:xfrm>
          <a:prstGeom prst="rect">
            <a:avLst/>
          </a:prstGeom>
          <a:noFill/>
          <a:ln/>
        </p:spPr>
        <p:txBody>
          <a:bodyPr wrap="square" lIns="0" tIns="0" rIns="0" bIns="0" rtlCol="0" anchor="ctr"/>
          <a:lstStyle/>
          <a:p>
            <a:pPr indent="0" marL="0">
              <a:buNone/>
            </a:pPr>
            <a:r>
              <a:rPr lang="en-US" sz="2400" b="1" dirty="0">
                <a:solidFill>
                  <a:srgbClr val="0F2A4A"/>
                </a:solidFill>
                <a:latin typeface="Arial" pitchFamily="34" charset="0"/>
                <a:ea typeface="Arial" pitchFamily="34" charset="-122"/>
                <a:cs typeface="Arial" pitchFamily="34" charset="-120"/>
              </a:rPr>
              <a:t>66.7%</a:t>
            </a:r>
            <a:endParaRPr lang="en-US" sz="2400" dirty="0"/>
          </a:p>
        </p:txBody>
      </p:sp>
      <p:sp>
        <p:nvSpPr>
          <p:cNvPr id="9" name="Text 7"/>
          <p:cNvSpPr/>
          <p:nvPr/>
        </p:nvSpPr>
        <p:spPr>
          <a:xfrm>
            <a:off x="658368" y="2788920"/>
            <a:ext cx="1417320" cy="475488"/>
          </a:xfrm>
          <a:prstGeom prst="rect">
            <a:avLst/>
          </a:prstGeom>
          <a:noFill/>
          <a:ln/>
        </p:spPr>
        <p:txBody>
          <a:bodyPr wrap="square" lIns="0" tIns="0" rIns="0" bIns="0" rtlCol="0" anchor="ctr"/>
          <a:lstStyle/>
          <a:p>
            <a:pPr indent="0" marL="0">
              <a:buNone/>
            </a:pPr>
            <a:r>
              <a:rPr lang="en-US" sz="1800" dirty="0">
                <a:solidFill>
                  <a:srgbClr val="1C1E21"/>
                </a:solidFill>
                <a:latin typeface="Arial" pitchFamily="34" charset="0"/>
                <a:ea typeface="Arial" pitchFamily="34" charset="-122"/>
                <a:cs typeface="Arial" pitchFamily="34" charset="-120"/>
              </a:rPr>
              <a:t>NVIDIA</a:t>
            </a:r>
            <a:endParaRPr lang="en-US" sz="1800" dirty="0"/>
          </a:p>
        </p:txBody>
      </p:sp>
      <p:sp>
        <p:nvSpPr>
          <p:cNvPr id="10" name="Shape 8"/>
          <p:cNvSpPr/>
          <p:nvPr/>
        </p:nvSpPr>
        <p:spPr>
          <a:xfrm>
            <a:off x="2194560" y="2788920"/>
            <a:ext cx="4937760" cy="475488"/>
          </a:xfrm>
          <a:prstGeom prst="rect">
            <a:avLst/>
          </a:prstGeom>
          <a:solidFill>
            <a:srgbClr val="F4F7FB"/>
          </a:solidFill>
          <a:ln w="12700">
            <a:solidFill>
              <a:srgbClr val="F4F7FB"/>
            </a:solidFill>
            <a:prstDash val="solid"/>
          </a:ln>
        </p:spPr>
      </p:sp>
      <p:sp>
        <p:nvSpPr>
          <p:cNvPr id="11" name="Shape 9"/>
          <p:cNvSpPr/>
          <p:nvPr/>
        </p:nvSpPr>
        <p:spPr>
          <a:xfrm>
            <a:off x="2194560" y="2788920"/>
            <a:ext cx="2088672" cy="475488"/>
          </a:xfrm>
          <a:prstGeom prst="rect">
            <a:avLst/>
          </a:prstGeom>
          <a:solidFill>
            <a:srgbClr val="5A6472"/>
          </a:solidFill>
          <a:ln w="12700">
            <a:solidFill>
              <a:srgbClr val="5A6472"/>
            </a:solidFill>
            <a:prstDash val="solid"/>
          </a:ln>
        </p:spPr>
      </p:sp>
      <p:sp>
        <p:nvSpPr>
          <p:cNvPr id="12" name="Text 10"/>
          <p:cNvSpPr/>
          <p:nvPr/>
        </p:nvSpPr>
        <p:spPr>
          <a:xfrm>
            <a:off x="2331720" y="2788920"/>
            <a:ext cx="1905792" cy="47548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11–15</a:t>
            </a:r>
            <a:endParaRPr lang="en-US" sz="1300" dirty="0"/>
          </a:p>
        </p:txBody>
      </p:sp>
      <p:sp>
        <p:nvSpPr>
          <p:cNvPr id="13" name="Text 11"/>
          <p:cNvSpPr/>
          <p:nvPr/>
        </p:nvSpPr>
        <p:spPr>
          <a:xfrm>
            <a:off x="7360920" y="2761488"/>
            <a:ext cx="1645920" cy="530352"/>
          </a:xfrm>
          <a:prstGeom prst="rect">
            <a:avLst/>
          </a:prstGeom>
          <a:noFill/>
          <a:ln/>
        </p:spPr>
        <p:txBody>
          <a:bodyPr wrap="square" lIns="0" tIns="0" rIns="0" bIns="0" rtlCol="0" anchor="ctr"/>
          <a:lstStyle/>
          <a:p>
            <a:pPr indent="0" marL="0">
              <a:buNone/>
            </a:pPr>
            <a:r>
              <a:rPr lang="en-US" sz="2400" b="1" dirty="0">
                <a:solidFill>
                  <a:srgbClr val="0F2A4A"/>
                </a:solidFill>
                <a:latin typeface="Arial" pitchFamily="34" charset="0"/>
                <a:ea typeface="Arial" pitchFamily="34" charset="-122"/>
                <a:cs typeface="Arial" pitchFamily="34" charset="-120"/>
              </a:rPr>
              <a:t>42.3%</a:t>
            </a:r>
            <a:endParaRPr lang="en-US" sz="2400" dirty="0"/>
          </a:p>
        </p:txBody>
      </p:sp>
      <p:sp>
        <p:nvSpPr>
          <p:cNvPr id="14" name="Text 12"/>
          <p:cNvSpPr/>
          <p:nvPr/>
        </p:nvSpPr>
        <p:spPr>
          <a:xfrm>
            <a:off x="658368" y="3566160"/>
            <a:ext cx="1417320" cy="475488"/>
          </a:xfrm>
          <a:prstGeom prst="rect">
            <a:avLst/>
          </a:prstGeom>
          <a:noFill/>
          <a:ln/>
        </p:spPr>
        <p:txBody>
          <a:bodyPr wrap="square" lIns="0" tIns="0" rIns="0" bIns="0" rtlCol="0" anchor="ctr"/>
          <a:lstStyle/>
          <a:p>
            <a:pPr indent="0" marL="0">
              <a:buNone/>
            </a:pPr>
            <a:r>
              <a:rPr lang="en-US" sz="1800" dirty="0">
                <a:solidFill>
                  <a:srgbClr val="1C1E21"/>
                </a:solidFill>
                <a:latin typeface="Arial" pitchFamily="34" charset="0"/>
                <a:ea typeface="Arial" pitchFamily="34" charset="-122"/>
                <a:cs typeface="Arial" pitchFamily="34" charset="-120"/>
              </a:rPr>
              <a:t>AIDE</a:t>
            </a:r>
            <a:endParaRPr lang="en-US" sz="1800" dirty="0"/>
          </a:p>
        </p:txBody>
      </p:sp>
      <p:sp>
        <p:nvSpPr>
          <p:cNvPr id="15" name="Shape 13"/>
          <p:cNvSpPr/>
          <p:nvPr/>
        </p:nvSpPr>
        <p:spPr>
          <a:xfrm>
            <a:off x="2194560" y="3566160"/>
            <a:ext cx="4937760" cy="475488"/>
          </a:xfrm>
          <a:prstGeom prst="rect">
            <a:avLst/>
          </a:prstGeom>
          <a:solidFill>
            <a:srgbClr val="F4F7FB"/>
          </a:solidFill>
          <a:ln w="12700">
            <a:solidFill>
              <a:srgbClr val="F4F7FB"/>
            </a:solidFill>
            <a:prstDash val="solid"/>
          </a:ln>
        </p:spPr>
      </p:sp>
      <p:sp>
        <p:nvSpPr>
          <p:cNvPr id="16" name="Shape 14"/>
          <p:cNvSpPr/>
          <p:nvPr/>
        </p:nvSpPr>
        <p:spPr>
          <a:xfrm>
            <a:off x="2194560" y="3566160"/>
            <a:ext cx="2088672" cy="475488"/>
          </a:xfrm>
          <a:prstGeom prst="rect">
            <a:avLst/>
          </a:prstGeom>
          <a:solidFill>
            <a:srgbClr val="5A6472"/>
          </a:solidFill>
          <a:ln w="12700">
            <a:solidFill>
              <a:srgbClr val="5A6472"/>
            </a:solidFill>
            <a:prstDash val="solid"/>
          </a:ln>
        </p:spPr>
      </p:sp>
      <p:sp>
        <p:nvSpPr>
          <p:cNvPr id="17" name="Text 15"/>
          <p:cNvSpPr/>
          <p:nvPr/>
        </p:nvSpPr>
        <p:spPr>
          <a:xfrm>
            <a:off x="2331720" y="3566160"/>
            <a:ext cx="1905792" cy="47548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11–15</a:t>
            </a:r>
            <a:endParaRPr lang="en-US" sz="1300" dirty="0"/>
          </a:p>
        </p:txBody>
      </p:sp>
      <p:sp>
        <p:nvSpPr>
          <p:cNvPr id="18" name="Text 16"/>
          <p:cNvSpPr/>
          <p:nvPr/>
        </p:nvSpPr>
        <p:spPr>
          <a:xfrm>
            <a:off x="7360920" y="3538728"/>
            <a:ext cx="1645920" cy="530352"/>
          </a:xfrm>
          <a:prstGeom prst="rect">
            <a:avLst/>
          </a:prstGeom>
          <a:noFill/>
          <a:ln/>
        </p:spPr>
        <p:txBody>
          <a:bodyPr wrap="square" lIns="0" tIns="0" rIns="0" bIns="0" rtlCol="0" anchor="ctr"/>
          <a:lstStyle/>
          <a:p>
            <a:pPr indent="0" marL="0">
              <a:buNone/>
            </a:pPr>
            <a:r>
              <a:rPr lang="en-US" sz="2400" b="1" dirty="0">
                <a:solidFill>
                  <a:srgbClr val="0F2A4A"/>
                </a:solidFill>
                <a:latin typeface="Arial" pitchFamily="34" charset="0"/>
                <a:ea typeface="Arial" pitchFamily="34" charset="-122"/>
                <a:cs typeface="Arial" pitchFamily="34" charset="-120"/>
              </a:rPr>
              <a:t>42.3%</a:t>
            </a:r>
            <a:endParaRPr lang="en-US" sz="2400" dirty="0"/>
          </a:p>
        </p:txBody>
      </p:sp>
      <p:sp>
        <p:nvSpPr>
          <p:cNvPr id="19" name="Text 17"/>
          <p:cNvSpPr/>
          <p:nvPr/>
        </p:nvSpPr>
        <p:spPr>
          <a:xfrm>
            <a:off x="658368" y="4663440"/>
            <a:ext cx="10972800" cy="347472"/>
          </a:xfrm>
          <a:prstGeom prst="rect">
            <a:avLst/>
          </a:prstGeom>
          <a:noFill/>
          <a:ln/>
        </p:spPr>
        <p:txBody>
          <a:bodyPr wrap="square" lIns="0" tIns="0" rIns="0" bIns="0" rtlCol="0" anchor="ctr"/>
          <a:lstStyle/>
          <a:p>
            <a:pPr indent="0" marL="0">
              <a:buNone/>
            </a:pPr>
            <a:r>
              <a:rPr lang="en-US" sz="1800" dirty="0">
                <a:solidFill>
                  <a:srgbClr val="1C1E21"/>
                </a:solidFill>
                <a:latin typeface="Arial" pitchFamily="34" charset="0"/>
                <a:ea typeface="Arial" pitchFamily="34" charset="-122"/>
                <a:cs typeface="Arial" pitchFamily="34" charset="-120"/>
              </a:rPr>
              <a:t>Wins–losses over each agent's own decided duels: 24 for my-agent, 26 for each yardstick (38 decided duels = 76 agent-side outcomes).</a:t>
            </a:r>
            <a:endParaRPr lang="en-US" sz="1800" dirty="0"/>
          </a:p>
        </p:txBody>
      </p:sp>
      <p:sp>
        <p:nvSpPr>
          <p:cNvPr id="20" name="Text 18"/>
          <p:cNvSpPr/>
          <p:nvPr/>
        </p:nvSpPr>
        <p:spPr>
          <a:xfrm>
            <a:off x="658368" y="5074920"/>
            <a:ext cx="10972800" cy="347472"/>
          </a:xfrm>
          <a:prstGeom prst="rect">
            <a:avLst/>
          </a:prstGeom>
          <a:noFill/>
          <a:ln/>
        </p:spPr>
        <p:txBody>
          <a:bodyPr wrap="square" lIns="0" tIns="0" rIns="0" bIns="0" rtlCol="0" anchor="ctr"/>
          <a:lstStyle/>
          <a:p>
            <a:pPr indent="0" marL="0">
              <a:buNone/>
            </a:pPr>
            <a:r>
              <a:rPr lang="en-US" sz="1800" dirty="0">
                <a:solidFill>
                  <a:srgbClr val="1C1E21"/>
                </a:solidFill>
                <a:latin typeface="Arial" pitchFamily="34" charset="0"/>
                <a:ea typeface="Arial" pitchFamily="34" charset="-122"/>
                <a:cs typeface="Arial" pitchFamily="34" charset="-120"/>
              </a:rPr>
              <a:t>Best private score: </a:t>
            </a:r>
            <a:pPr indent="0" marL="0">
              <a:buNone/>
            </a:pPr>
            <a:r>
              <a:rPr lang="en-US" sz="1800" b="1" dirty="0">
                <a:solidFill>
                  <a:srgbClr val="1C1E21"/>
                </a:solidFill>
                <a:latin typeface="Arial" pitchFamily="34" charset="0"/>
                <a:ea typeface="Arial" pitchFamily="34" charset="-122"/>
                <a:cs typeface="Arial" pitchFamily="34" charset="-120"/>
              </a:rPr>
              <a:t>10 of 20</a:t>
            </a:r>
            <a:pPr indent="0" marL="0">
              <a:buNone/>
            </a:pPr>
            <a:r>
              <a:rPr lang="en-US" sz="1800" dirty="0">
                <a:solidFill>
                  <a:srgbClr val="1C1E21"/>
                </a:solidFill>
                <a:latin typeface="Arial" pitchFamily="34" charset="0"/>
                <a:ea typeface="Arial" pitchFamily="34" charset="-122"/>
                <a:cs typeface="Arial" pitchFamily="34" charset="-120"/>
              </a:rPr>
              <a:t> (NVIDIA 7, AIDE 3).</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74320"/>
            <a:ext cx="10972800" cy="548640"/>
          </a:xfrm>
          <a:prstGeom prst="rect">
            <a:avLst/>
          </a:prstGeom>
          <a:noFill/>
          <a:ln/>
        </p:spPr>
        <p:txBody>
          <a:bodyPr wrap="square" lIns="0" tIns="0" rIns="0" bIns="0" rtlCol="0" anchor="ctr"/>
          <a:lstStyle/>
          <a:p>
            <a:pPr indent="0" marL="0">
              <a:buNone/>
            </a:pPr>
            <a:r>
              <a:rPr lang="en-US" sz="2600" b="1" dirty="0">
                <a:solidFill>
                  <a:srgbClr val="0F2A4A"/>
                </a:solidFill>
                <a:latin typeface="Arial" pitchFamily="34" charset="0"/>
                <a:ea typeface="Arial" pitchFamily="34" charset="-122"/>
                <a:cs typeface="Arial" pitchFamily="34" charset="-120"/>
              </a:rPr>
              <a:t>Where it loses is where the design predicts</a:t>
            </a:r>
            <a:endParaRPr lang="en-US" sz="2600" dirty="0"/>
          </a:p>
        </p:txBody>
      </p:sp>
      <p:sp>
        <p:nvSpPr>
          <p:cNvPr id="3" name="Text 1"/>
          <p:cNvSpPr/>
          <p:nvPr/>
        </p:nvSpPr>
        <p:spPr>
          <a:xfrm>
            <a:off x="658368" y="1051560"/>
            <a:ext cx="10972800" cy="320040"/>
          </a:xfrm>
          <a:prstGeom prst="rect">
            <a:avLst/>
          </a:prstGeom>
          <a:noFill/>
          <a:ln/>
        </p:spPr>
        <p:txBody>
          <a:bodyPr wrap="square" lIns="0" tIns="0" rIns="0" bIns="0" rtlCol="0" anchor="ctr"/>
          <a:lstStyle/>
          <a:p>
            <a:pPr indent="0" marL="0">
              <a:buNone/>
            </a:pPr>
            <a:r>
              <a:rPr lang="en-US" sz="1500" dirty="0">
                <a:solidFill>
                  <a:srgbClr val="5A6472"/>
                </a:solidFill>
                <a:latin typeface="Arial" pitchFamily="34" charset="0"/>
                <a:ea typeface="Arial" pitchFamily="34" charset="-122"/>
                <a:cs typeface="Arial" pitchFamily="34" charset="-120"/>
              </a:rPr>
              <a:t>Worst loss — SMAPE, lower is better. Bars show how far behind the best score each agent is.</a:t>
            </a:r>
            <a:endParaRPr lang="en-US" sz="1500" dirty="0"/>
          </a:p>
        </p:txBody>
      </p:sp>
      <p:sp>
        <p:nvSpPr>
          <p:cNvPr id="4" name="Text 2"/>
          <p:cNvSpPr/>
          <p:nvPr/>
        </p:nvSpPr>
        <p:spPr>
          <a:xfrm>
            <a:off x="658368" y="1554480"/>
            <a:ext cx="1417320" cy="457200"/>
          </a:xfrm>
          <a:prstGeom prst="rect">
            <a:avLst/>
          </a:prstGeom>
          <a:noFill/>
          <a:ln/>
        </p:spPr>
        <p:txBody>
          <a:bodyPr wrap="square" lIns="0" tIns="0" rIns="0" bIns="0" rtlCol="0" anchor="ctr"/>
          <a:lstStyle/>
          <a:p>
            <a:pPr indent="0" marL="0">
              <a:buNone/>
            </a:pPr>
            <a:r>
              <a:rPr lang="en-US" sz="1800" dirty="0">
                <a:solidFill>
                  <a:srgbClr val="1C1E21"/>
                </a:solidFill>
                <a:latin typeface="Arial" pitchFamily="34" charset="0"/>
                <a:ea typeface="Arial" pitchFamily="34" charset="-122"/>
                <a:cs typeface="Arial" pitchFamily="34" charset="-120"/>
              </a:rPr>
              <a:t>NVIDIA</a:t>
            </a:r>
            <a:endParaRPr lang="en-US" sz="1800" dirty="0"/>
          </a:p>
        </p:txBody>
      </p:sp>
      <p:sp>
        <p:nvSpPr>
          <p:cNvPr id="5" name="Shape 3"/>
          <p:cNvSpPr/>
          <p:nvPr/>
        </p:nvSpPr>
        <p:spPr>
          <a:xfrm>
            <a:off x="2194560" y="1554480"/>
            <a:ext cx="4206240" cy="457200"/>
          </a:xfrm>
          <a:prstGeom prst="rect">
            <a:avLst/>
          </a:prstGeom>
          <a:solidFill>
            <a:srgbClr val="F4F7FB"/>
          </a:solidFill>
          <a:ln w="12700">
            <a:solidFill>
              <a:srgbClr val="F4F7FB"/>
            </a:solidFill>
            <a:prstDash val="solid"/>
          </a:ln>
        </p:spPr>
      </p:sp>
      <p:sp>
        <p:nvSpPr>
          <p:cNvPr id="6" name="Shape 4"/>
          <p:cNvSpPr/>
          <p:nvPr/>
        </p:nvSpPr>
        <p:spPr>
          <a:xfrm>
            <a:off x="2194560" y="1554480"/>
            <a:ext cx="0" cy="457200"/>
          </a:xfrm>
          <a:prstGeom prst="rect">
            <a:avLst/>
          </a:prstGeom>
          <a:solidFill>
            <a:srgbClr val="2B6CB0"/>
          </a:solidFill>
          <a:ln w="12700">
            <a:solidFill>
              <a:srgbClr val="2B6CB0"/>
            </a:solidFill>
            <a:prstDash val="solid"/>
          </a:ln>
        </p:spPr>
      </p:sp>
      <p:sp>
        <p:nvSpPr>
          <p:cNvPr id="7" name="Text 5"/>
          <p:cNvSpPr/>
          <p:nvPr/>
        </p:nvSpPr>
        <p:spPr>
          <a:xfrm>
            <a:off x="6583680" y="1554480"/>
            <a:ext cx="1828800" cy="457200"/>
          </a:xfrm>
          <a:prstGeom prst="rect">
            <a:avLst/>
          </a:prstGeom>
          <a:noFill/>
          <a:ln/>
        </p:spPr>
        <p:txBody>
          <a:bodyPr wrap="square" lIns="0" tIns="0" rIns="0" bIns="0" rtlCol="0" anchor="ctr"/>
          <a:lstStyle/>
          <a:p>
            <a:pPr indent="0" marL="0">
              <a:buNone/>
            </a:pPr>
            <a:r>
              <a:rPr lang="en-US" sz="1700" b="1" dirty="0">
                <a:solidFill>
                  <a:srgbClr val="0F2A4A"/>
                </a:solidFill>
                <a:latin typeface="Arial" pitchFamily="34" charset="0"/>
                <a:ea typeface="Arial" pitchFamily="34" charset="-122"/>
                <a:cs typeface="Arial" pitchFamily="34" charset="-120"/>
              </a:rPr>
              <a:t>5.48351</a:t>
            </a:r>
            <a:endParaRPr lang="en-US" sz="1700" dirty="0"/>
          </a:p>
        </p:txBody>
      </p:sp>
      <p:sp>
        <p:nvSpPr>
          <p:cNvPr id="8" name="Text 6"/>
          <p:cNvSpPr/>
          <p:nvPr/>
        </p:nvSpPr>
        <p:spPr>
          <a:xfrm>
            <a:off x="658368" y="2267712"/>
            <a:ext cx="1417320" cy="457200"/>
          </a:xfrm>
          <a:prstGeom prst="rect">
            <a:avLst/>
          </a:prstGeom>
          <a:noFill/>
          <a:ln/>
        </p:spPr>
        <p:txBody>
          <a:bodyPr wrap="square" lIns="0" tIns="0" rIns="0" bIns="0" rtlCol="0" anchor="ctr"/>
          <a:lstStyle/>
          <a:p>
            <a:pPr indent="0" marL="0">
              <a:buNone/>
            </a:pPr>
            <a:r>
              <a:rPr lang="en-US" sz="1800" dirty="0">
                <a:solidFill>
                  <a:srgbClr val="1C1E21"/>
                </a:solidFill>
                <a:latin typeface="Arial" pitchFamily="34" charset="0"/>
                <a:ea typeface="Arial" pitchFamily="34" charset="-122"/>
                <a:cs typeface="Arial" pitchFamily="34" charset="-120"/>
              </a:rPr>
              <a:t>AIDE</a:t>
            </a:r>
            <a:endParaRPr lang="en-US" sz="1800" dirty="0"/>
          </a:p>
        </p:txBody>
      </p:sp>
      <p:sp>
        <p:nvSpPr>
          <p:cNvPr id="9" name="Shape 7"/>
          <p:cNvSpPr/>
          <p:nvPr/>
        </p:nvSpPr>
        <p:spPr>
          <a:xfrm>
            <a:off x="2194560" y="2267712"/>
            <a:ext cx="4206240" cy="457200"/>
          </a:xfrm>
          <a:prstGeom prst="rect">
            <a:avLst/>
          </a:prstGeom>
          <a:solidFill>
            <a:srgbClr val="F4F7FB"/>
          </a:solidFill>
          <a:ln w="12700">
            <a:solidFill>
              <a:srgbClr val="F4F7FB"/>
            </a:solidFill>
            <a:prstDash val="solid"/>
          </a:ln>
        </p:spPr>
      </p:sp>
      <p:sp>
        <p:nvSpPr>
          <p:cNvPr id="10" name="Shape 8"/>
          <p:cNvSpPr/>
          <p:nvPr/>
        </p:nvSpPr>
        <p:spPr>
          <a:xfrm>
            <a:off x="2194560" y="2267712"/>
            <a:ext cx="773948" cy="457200"/>
          </a:xfrm>
          <a:prstGeom prst="rect">
            <a:avLst/>
          </a:prstGeom>
          <a:solidFill>
            <a:srgbClr val="5A6472"/>
          </a:solidFill>
          <a:ln w="12700">
            <a:solidFill>
              <a:srgbClr val="5A6472"/>
            </a:solidFill>
            <a:prstDash val="solid"/>
          </a:ln>
        </p:spPr>
      </p:sp>
      <p:sp>
        <p:nvSpPr>
          <p:cNvPr id="11" name="Text 9"/>
          <p:cNvSpPr/>
          <p:nvPr/>
        </p:nvSpPr>
        <p:spPr>
          <a:xfrm>
            <a:off x="6583680" y="2267712"/>
            <a:ext cx="1828800" cy="457200"/>
          </a:xfrm>
          <a:prstGeom prst="rect">
            <a:avLst/>
          </a:prstGeom>
          <a:noFill/>
          <a:ln/>
        </p:spPr>
        <p:txBody>
          <a:bodyPr wrap="square" lIns="0" tIns="0" rIns="0" bIns="0" rtlCol="0" anchor="ctr"/>
          <a:lstStyle/>
          <a:p>
            <a:pPr indent="0" marL="0">
              <a:buNone/>
            </a:pPr>
            <a:r>
              <a:rPr lang="en-US" sz="1700" b="1" dirty="0">
                <a:solidFill>
                  <a:srgbClr val="0F2A4A"/>
                </a:solidFill>
                <a:latin typeface="Arial" pitchFamily="34" charset="0"/>
                <a:ea typeface="Arial" pitchFamily="34" charset="-122"/>
                <a:cs typeface="Arial" pitchFamily="34" charset="-120"/>
              </a:rPr>
              <a:t>9.72095</a:t>
            </a:r>
            <a:endParaRPr lang="en-US" sz="1700" dirty="0"/>
          </a:p>
        </p:txBody>
      </p:sp>
      <p:sp>
        <p:nvSpPr>
          <p:cNvPr id="12" name="Text 10"/>
          <p:cNvSpPr/>
          <p:nvPr/>
        </p:nvSpPr>
        <p:spPr>
          <a:xfrm>
            <a:off x="658368" y="2980944"/>
            <a:ext cx="1417320" cy="457200"/>
          </a:xfrm>
          <a:prstGeom prst="rect">
            <a:avLst/>
          </a:prstGeom>
          <a:noFill/>
          <a:ln/>
        </p:spPr>
        <p:txBody>
          <a:bodyPr wrap="square" lIns="0" tIns="0" rIns="0" bIns="0" rtlCol="0" anchor="ctr"/>
          <a:lstStyle/>
          <a:p>
            <a:pPr indent="0" marL="0">
              <a:buNone/>
            </a:pPr>
            <a:r>
              <a:rPr lang="en-US" sz="1800" dirty="0">
                <a:solidFill>
                  <a:srgbClr val="1C1E21"/>
                </a:solidFill>
                <a:latin typeface="Arial" pitchFamily="34" charset="0"/>
                <a:ea typeface="Arial" pitchFamily="34" charset="-122"/>
                <a:cs typeface="Arial" pitchFamily="34" charset="-120"/>
              </a:rPr>
              <a:t>my-agent</a:t>
            </a:r>
            <a:endParaRPr lang="en-US" sz="1800" dirty="0"/>
          </a:p>
        </p:txBody>
      </p:sp>
      <p:sp>
        <p:nvSpPr>
          <p:cNvPr id="13" name="Shape 11"/>
          <p:cNvSpPr/>
          <p:nvPr/>
        </p:nvSpPr>
        <p:spPr>
          <a:xfrm>
            <a:off x="2194560" y="2980944"/>
            <a:ext cx="4206240" cy="457200"/>
          </a:xfrm>
          <a:prstGeom prst="rect">
            <a:avLst/>
          </a:prstGeom>
          <a:solidFill>
            <a:srgbClr val="F4F7FB"/>
          </a:solidFill>
          <a:ln w="12700">
            <a:solidFill>
              <a:srgbClr val="F4F7FB"/>
            </a:solidFill>
            <a:prstDash val="solid"/>
          </a:ln>
        </p:spPr>
      </p:sp>
      <p:sp>
        <p:nvSpPr>
          <p:cNvPr id="14" name="Shape 12"/>
          <p:cNvSpPr/>
          <p:nvPr/>
        </p:nvSpPr>
        <p:spPr>
          <a:xfrm>
            <a:off x="2194560" y="2980944"/>
            <a:ext cx="4206240" cy="457200"/>
          </a:xfrm>
          <a:prstGeom prst="rect">
            <a:avLst/>
          </a:prstGeom>
          <a:solidFill>
            <a:srgbClr val="8A6D1A"/>
          </a:solidFill>
          <a:ln w="12700">
            <a:solidFill>
              <a:srgbClr val="8A6D1A"/>
            </a:solidFill>
            <a:prstDash val="solid"/>
          </a:ln>
        </p:spPr>
      </p:sp>
      <p:sp>
        <p:nvSpPr>
          <p:cNvPr id="15" name="Text 13"/>
          <p:cNvSpPr/>
          <p:nvPr/>
        </p:nvSpPr>
        <p:spPr>
          <a:xfrm>
            <a:off x="6583680" y="2980944"/>
            <a:ext cx="1828800" cy="457200"/>
          </a:xfrm>
          <a:prstGeom prst="rect">
            <a:avLst/>
          </a:prstGeom>
          <a:noFill/>
          <a:ln/>
        </p:spPr>
        <p:txBody>
          <a:bodyPr wrap="square" lIns="0" tIns="0" rIns="0" bIns="0" rtlCol="0" anchor="ctr"/>
          <a:lstStyle/>
          <a:p>
            <a:pPr indent="0" marL="0">
              <a:buNone/>
            </a:pPr>
            <a:r>
              <a:rPr lang="en-US" sz="1700" b="1" dirty="0">
                <a:solidFill>
                  <a:srgbClr val="0F2A4A"/>
                </a:solidFill>
                <a:latin typeface="Arial" pitchFamily="34" charset="0"/>
                <a:ea typeface="Arial" pitchFamily="34" charset="-122"/>
                <a:cs typeface="Arial" pitchFamily="34" charset="-120"/>
              </a:rPr>
              <a:t>28.49605</a:t>
            </a:r>
            <a:endParaRPr lang="en-US" sz="1700" dirty="0"/>
          </a:p>
        </p:txBody>
      </p:sp>
      <p:sp>
        <p:nvSpPr>
          <p:cNvPr id="16" name="Text 14"/>
          <p:cNvSpPr/>
          <p:nvPr/>
        </p:nvSpPr>
        <p:spPr>
          <a:xfrm>
            <a:off x="658368" y="3749040"/>
            <a:ext cx="10972800" cy="347472"/>
          </a:xfrm>
          <a:prstGeom prst="rect">
            <a:avLst/>
          </a:prstGeom>
          <a:noFill/>
          <a:ln/>
        </p:spPr>
        <p:txBody>
          <a:bodyPr wrap="square" lIns="0" tIns="0" rIns="0" bIns="0" rtlCol="0" anchor="ctr"/>
          <a:lstStyle/>
          <a:p>
            <a:pPr indent="0" marL="0">
              <a:buNone/>
            </a:pPr>
            <a:r>
              <a:rPr lang="en-US" sz="1800" dirty="0">
                <a:solidFill>
                  <a:srgbClr val="1C1E21"/>
                </a:solidFill>
                <a:latin typeface="Arial" pitchFamily="34" charset="0"/>
                <a:ea typeface="Arial" pitchFamily="34" charset="-122"/>
                <a:cs typeface="Arial" pitchFamily="34" charset="-120"/>
              </a:rPr>
              <a:t>My two worst losses are the only competitions here with a mature public solution.</a:t>
            </a:r>
            <a:endParaRPr lang="en-US" sz="1800" dirty="0"/>
          </a:p>
        </p:txBody>
      </p:sp>
      <p:sp>
        <p:nvSpPr>
          <p:cNvPr id="17" name="Text 15"/>
          <p:cNvSpPr/>
          <p:nvPr/>
        </p:nvSpPr>
        <p:spPr>
          <a:xfrm>
            <a:off x="658368" y="4114800"/>
            <a:ext cx="10972800" cy="347472"/>
          </a:xfrm>
          <a:prstGeom prst="rect">
            <a:avLst/>
          </a:prstGeom>
          <a:noFill/>
          <a:ln/>
        </p:spPr>
        <p:txBody>
          <a:bodyPr wrap="square" lIns="0" tIns="0" rIns="0" bIns="0" rtlCol="0" anchor="ctr"/>
          <a:lstStyle/>
          <a:p>
            <a:pPr indent="0" marL="0">
              <a:buNone/>
            </a:pPr>
            <a:r>
              <a:rPr lang="en-US" sz="1700" dirty="0">
                <a:solidFill>
                  <a:srgbClr val="5A6472"/>
                </a:solidFill>
                <a:latin typeface="Arial" pitchFamily="34" charset="0"/>
                <a:ea typeface="Arial" pitchFamily="34" charset="-122"/>
                <a:cs typeface="Arial" pitchFamily="34" charset="-120"/>
              </a:rPr>
              <a:t>Reproduction dominates there; search wins the rest.</a:t>
            </a:r>
            <a:endParaRPr lang="en-US" sz="1700" dirty="0"/>
          </a:p>
        </p:txBody>
      </p:sp>
      <p:sp>
        <p:nvSpPr>
          <p:cNvPr id="18" name="Text 16"/>
          <p:cNvSpPr/>
          <p:nvPr/>
        </p:nvSpPr>
        <p:spPr>
          <a:xfrm>
            <a:off x="1234440" y="4846320"/>
            <a:ext cx="2286000" cy="502920"/>
          </a:xfrm>
          <a:prstGeom prst="rect">
            <a:avLst/>
          </a:prstGeom>
          <a:noFill/>
          <a:ln/>
        </p:spPr>
        <p:txBody>
          <a:bodyPr wrap="square" lIns="0" tIns="0" rIns="0" bIns="0" rtlCol="0" anchor="ctr"/>
          <a:lstStyle/>
          <a:p>
            <a:pPr algn="ctr" indent="0" marL="0">
              <a:buNone/>
            </a:pPr>
            <a:r>
              <a:rPr lang="en-US" sz="2200" dirty="0">
                <a:solidFill>
                  <a:srgbClr val="5A6472"/>
                </a:solidFill>
                <a:latin typeface="Arial" pitchFamily="34" charset="0"/>
                <a:ea typeface="Arial" pitchFamily="34" charset="-122"/>
                <a:cs typeface="Arial" pitchFamily="34" charset="-120"/>
              </a:rPr>
              <a:t>72.7%</a:t>
            </a:r>
            <a:endParaRPr lang="en-US" sz="2200" dirty="0"/>
          </a:p>
        </p:txBody>
      </p:sp>
      <p:sp>
        <p:nvSpPr>
          <p:cNvPr id="19" name="Text 17"/>
          <p:cNvSpPr/>
          <p:nvPr/>
        </p:nvSpPr>
        <p:spPr>
          <a:xfrm>
            <a:off x="4617720" y="4754880"/>
            <a:ext cx="2926080" cy="685800"/>
          </a:xfrm>
          <a:prstGeom prst="rect">
            <a:avLst/>
          </a:prstGeom>
          <a:noFill/>
          <a:ln/>
        </p:spPr>
        <p:txBody>
          <a:bodyPr wrap="square" lIns="0" tIns="0" rIns="0" bIns="0" rtlCol="0" anchor="ctr"/>
          <a:lstStyle/>
          <a:p>
            <a:pPr algn="ctr" indent="0" marL="0">
              <a:buNone/>
            </a:pPr>
            <a:r>
              <a:rPr lang="en-US" sz="4200" b="1" dirty="0">
                <a:solidFill>
                  <a:srgbClr val="0F2A4A"/>
                </a:solidFill>
                <a:latin typeface="Arial" pitchFamily="34" charset="0"/>
                <a:ea typeface="Arial" pitchFamily="34" charset="-122"/>
                <a:cs typeface="Arial" pitchFamily="34" charset="-120"/>
              </a:rPr>
              <a:t>66.7%</a:t>
            </a:r>
            <a:endParaRPr lang="en-US" sz="4200" dirty="0"/>
          </a:p>
        </p:txBody>
      </p:sp>
      <p:sp>
        <p:nvSpPr>
          <p:cNvPr id="20" name="Text 18"/>
          <p:cNvSpPr/>
          <p:nvPr/>
        </p:nvSpPr>
        <p:spPr>
          <a:xfrm>
            <a:off x="8641080" y="4846320"/>
            <a:ext cx="2286000" cy="502920"/>
          </a:xfrm>
          <a:prstGeom prst="rect">
            <a:avLst/>
          </a:prstGeom>
          <a:noFill/>
          <a:ln/>
        </p:spPr>
        <p:txBody>
          <a:bodyPr wrap="square" lIns="0" tIns="0" rIns="0" bIns="0" rtlCol="0" anchor="ctr"/>
          <a:lstStyle/>
          <a:p>
            <a:pPr algn="ctr" indent="0" marL="0">
              <a:buNone/>
            </a:pPr>
            <a:r>
              <a:rPr lang="en-US" sz="2200" dirty="0">
                <a:solidFill>
                  <a:srgbClr val="5A6472"/>
                </a:solidFill>
                <a:latin typeface="Arial" pitchFamily="34" charset="0"/>
                <a:ea typeface="Arial" pitchFamily="34" charset="-122"/>
                <a:cs typeface="Arial" pitchFamily="34" charset="-120"/>
              </a:rPr>
              <a:t>68.0%</a:t>
            </a:r>
            <a:endParaRPr lang="en-US" sz="2200" dirty="0"/>
          </a:p>
        </p:txBody>
      </p:sp>
      <p:sp>
        <p:nvSpPr>
          <p:cNvPr id="21" name="Shape 19"/>
          <p:cNvSpPr/>
          <p:nvPr/>
        </p:nvSpPr>
        <p:spPr>
          <a:xfrm>
            <a:off x="3703320" y="5102352"/>
            <a:ext cx="777240" cy="0"/>
          </a:xfrm>
          <a:prstGeom prst="line">
            <a:avLst/>
          </a:prstGeom>
          <a:noFill/>
          <a:ln w="12700">
            <a:solidFill>
              <a:srgbClr val="5A6472"/>
            </a:solidFill>
            <a:prstDash val="solid"/>
            <a:headEnd type="triangle"/>
          </a:ln>
        </p:spPr>
      </p:sp>
      <p:sp>
        <p:nvSpPr>
          <p:cNvPr id="22" name="Shape 20"/>
          <p:cNvSpPr/>
          <p:nvPr/>
        </p:nvSpPr>
        <p:spPr>
          <a:xfrm>
            <a:off x="7680960" y="5102352"/>
            <a:ext cx="777240" cy="0"/>
          </a:xfrm>
          <a:prstGeom prst="line">
            <a:avLst/>
          </a:prstGeom>
          <a:noFill/>
          <a:ln w="12700">
            <a:solidFill>
              <a:srgbClr val="5A6472"/>
            </a:solidFill>
            <a:prstDash val="solid"/>
            <a:tailEnd type="triangle"/>
          </a:ln>
        </p:spPr>
      </p:sp>
      <p:sp>
        <p:nvSpPr>
          <p:cNvPr id="23" name="Text 21"/>
          <p:cNvSpPr/>
          <p:nvPr/>
        </p:nvSpPr>
        <p:spPr>
          <a:xfrm>
            <a:off x="1234440" y="5440680"/>
            <a:ext cx="2286000" cy="548640"/>
          </a:xfrm>
          <a:prstGeom prst="rect">
            <a:avLst/>
          </a:prstGeom>
          <a:noFill/>
          <a:ln/>
        </p:spPr>
        <p:txBody>
          <a:bodyPr wrap="square" lIns="0" tIns="0" rIns="0" bIns="0" rtlCol="0" anchor="t"/>
          <a:lstStyle/>
          <a:p>
            <a:pPr algn="ctr" indent="0" marL="0">
              <a:buNone/>
            </a:pPr>
            <a:r>
              <a:rPr lang="en-US" sz="1300" dirty="0">
                <a:solidFill>
                  <a:srgbClr val="5A6472"/>
                </a:solidFill>
                <a:latin typeface="Arial" pitchFamily="34" charset="0"/>
                <a:ea typeface="Arial" pitchFamily="34" charset="-122"/>
                <a:cs typeface="Arial" pitchFamily="34" charset="-120"/>
              </a:rPr>
              <a:t>drop one</a:t>
            </a:r>
            <a:endParaRPr lang="en-US" sz="1300" dirty="0"/>
          </a:p>
          <a:p>
            <a:pPr algn="ctr" indent="0" marL="0">
              <a:buNone/>
            </a:pPr>
            <a:r>
              <a:rPr lang="en-US" sz="1300" dirty="0">
                <a:solidFill>
                  <a:srgbClr val="5A6472"/>
                </a:solidFill>
                <a:latin typeface="Arial" pitchFamily="34" charset="0"/>
                <a:ea typeface="Arial" pitchFamily="34" charset="-122"/>
                <a:cs typeface="Arial" pitchFamily="34" charset="-120"/>
              </a:rPr>
              <a:t>competition</a:t>
            </a:r>
            <a:endParaRPr lang="en-US" sz="1300" dirty="0"/>
          </a:p>
        </p:txBody>
      </p:sp>
      <p:sp>
        <p:nvSpPr>
          <p:cNvPr id="24" name="Text 22"/>
          <p:cNvSpPr/>
          <p:nvPr/>
        </p:nvSpPr>
        <p:spPr>
          <a:xfrm>
            <a:off x="4617720" y="5440680"/>
            <a:ext cx="2926080" cy="274320"/>
          </a:xfrm>
          <a:prstGeom prst="rect">
            <a:avLst/>
          </a:prstGeom>
          <a:noFill/>
          <a:ln/>
        </p:spPr>
        <p:txBody>
          <a:bodyPr wrap="square" lIns="0" tIns="0" rIns="0" bIns="0" rtlCol="0" anchor="t"/>
          <a:lstStyle/>
          <a:p>
            <a:pPr algn="ctr" indent="0" marL="0">
              <a:buNone/>
            </a:pPr>
            <a:r>
              <a:rPr lang="en-US" sz="1300" dirty="0">
                <a:solidFill>
                  <a:srgbClr val="0F2A4A"/>
                </a:solidFill>
                <a:latin typeface="Arial" pitchFamily="34" charset="0"/>
                <a:ea typeface="Arial" pitchFamily="34" charset="-122"/>
                <a:cs typeface="Arial" pitchFamily="34" charset="-120"/>
              </a:rPr>
              <a:t>exact decimal</a:t>
            </a:r>
            <a:endParaRPr lang="en-US" sz="1300" dirty="0"/>
          </a:p>
        </p:txBody>
      </p:sp>
      <p:sp>
        <p:nvSpPr>
          <p:cNvPr id="25" name="Text 23"/>
          <p:cNvSpPr/>
          <p:nvPr/>
        </p:nvSpPr>
        <p:spPr>
          <a:xfrm>
            <a:off x="8641080" y="5440680"/>
            <a:ext cx="2286000" cy="548640"/>
          </a:xfrm>
          <a:prstGeom prst="rect">
            <a:avLst/>
          </a:prstGeom>
          <a:noFill/>
          <a:ln/>
        </p:spPr>
        <p:txBody>
          <a:bodyPr wrap="square" lIns="0" tIns="0" rIns="0" bIns="0" rtlCol="0" anchor="t"/>
          <a:lstStyle/>
          <a:p>
            <a:pPr algn="ctr" indent="0" marL="0">
              <a:buNone/>
            </a:pPr>
            <a:r>
              <a:rPr lang="en-US" sz="1300" dirty="0">
                <a:solidFill>
                  <a:srgbClr val="5A6472"/>
                </a:solidFill>
                <a:latin typeface="Arial" pitchFamily="34" charset="0"/>
                <a:ea typeface="Arial" pitchFamily="34" charset="-122"/>
                <a:cs typeface="Arial" pitchFamily="34" charset="-120"/>
              </a:rPr>
              <a:t>one duel on</a:t>
            </a:r>
            <a:endParaRPr lang="en-US" sz="1300" dirty="0"/>
          </a:p>
          <a:p>
            <a:pPr algn="ctr" indent="0" marL="0">
              <a:buNone/>
            </a:pPr>
            <a:r>
              <a:rPr lang="en-US" sz="1300" dirty="0">
                <a:solidFill>
                  <a:srgbClr val="5A6472"/>
                </a:solidFill>
                <a:latin typeface="Arial" pitchFamily="34" charset="0"/>
                <a:ea typeface="Arial" pitchFamily="34" charset="-122"/>
                <a:cs typeface="Arial" pitchFamily="34" charset="-120"/>
              </a:rPr>
              <a:t>its noise floor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74320"/>
            <a:ext cx="10972800" cy="548640"/>
          </a:xfrm>
          <a:prstGeom prst="rect">
            <a:avLst/>
          </a:prstGeom>
          <a:noFill/>
          <a:ln/>
        </p:spPr>
        <p:txBody>
          <a:bodyPr wrap="square" lIns="0" tIns="0" rIns="0" bIns="0" rtlCol="0" anchor="ctr"/>
          <a:lstStyle/>
          <a:p>
            <a:pPr indent="0" marL="0">
              <a:buNone/>
            </a:pPr>
            <a:r>
              <a:rPr lang="en-US" sz="2600" b="1" dirty="0">
                <a:solidFill>
                  <a:srgbClr val="0F2A4A"/>
                </a:solidFill>
                <a:latin typeface="Arial" pitchFamily="34" charset="0"/>
                <a:ea typeface="Arial" pitchFamily="34" charset="-122"/>
                <a:cs typeface="Arial" pitchFamily="34" charset="-120"/>
              </a:rPr>
              <a:t>Take away</a:t>
            </a:r>
            <a:endParaRPr lang="en-US" sz="2600" dirty="0"/>
          </a:p>
        </p:txBody>
      </p:sp>
      <p:sp>
        <p:nvSpPr>
          <p:cNvPr id="3" name="Shape 1"/>
          <p:cNvSpPr/>
          <p:nvPr/>
        </p:nvSpPr>
        <p:spPr>
          <a:xfrm>
            <a:off x="731520" y="2103120"/>
            <a:ext cx="137160" cy="182880"/>
          </a:xfrm>
          <a:prstGeom prst="rect">
            <a:avLst/>
          </a:prstGeom>
          <a:solidFill>
            <a:srgbClr val="8A6D1A"/>
          </a:solidFill>
          <a:ln w="12700">
            <a:solidFill>
              <a:srgbClr val="8A6D1A"/>
            </a:solidFill>
            <a:prstDash val="solid"/>
          </a:ln>
        </p:spPr>
      </p:sp>
      <p:sp>
        <p:nvSpPr>
          <p:cNvPr id="4" name="Text 2"/>
          <p:cNvSpPr/>
          <p:nvPr/>
        </p:nvSpPr>
        <p:spPr>
          <a:xfrm>
            <a:off x="1051560" y="2011680"/>
            <a:ext cx="10515600" cy="384048"/>
          </a:xfrm>
          <a:prstGeom prst="rect">
            <a:avLst/>
          </a:prstGeom>
          <a:noFill/>
          <a:ln/>
        </p:spPr>
        <p:txBody>
          <a:bodyPr wrap="square" lIns="0" tIns="0" rIns="0" bIns="0" rtlCol="0" anchor="ctr"/>
          <a:lstStyle/>
          <a:p>
            <a:pPr indent="0" marL="0">
              <a:buNone/>
            </a:pPr>
            <a:r>
              <a:rPr lang="en-US" sz="2200" dirty="0">
                <a:solidFill>
                  <a:srgbClr val="1C1E21"/>
                </a:solidFill>
                <a:latin typeface="Arial" pitchFamily="34" charset="0"/>
                <a:ea typeface="Arial" pitchFamily="34" charset="-122"/>
                <a:cs typeface="Arial" pitchFamily="34" charset="-120"/>
              </a:rPr>
              <a:t>State the error model, or the ranking is your own noise.</a:t>
            </a:r>
            <a:endParaRPr lang="en-US" sz="2200" dirty="0"/>
          </a:p>
        </p:txBody>
      </p:sp>
      <p:sp>
        <p:nvSpPr>
          <p:cNvPr id="5" name="Shape 3"/>
          <p:cNvSpPr/>
          <p:nvPr/>
        </p:nvSpPr>
        <p:spPr>
          <a:xfrm>
            <a:off x="731520" y="2971800"/>
            <a:ext cx="137160" cy="182880"/>
          </a:xfrm>
          <a:prstGeom prst="rect">
            <a:avLst/>
          </a:prstGeom>
          <a:solidFill>
            <a:srgbClr val="8A6D1A"/>
          </a:solidFill>
          <a:ln w="12700">
            <a:solidFill>
              <a:srgbClr val="8A6D1A"/>
            </a:solidFill>
            <a:prstDash val="solid"/>
          </a:ln>
        </p:spPr>
      </p:sp>
      <p:sp>
        <p:nvSpPr>
          <p:cNvPr id="6" name="Text 4"/>
          <p:cNvSpPr/>
          <p:nvPr/>
        </p:nvSpPr>
        <p:spPr>
          <a:xfrm>
            <a:off x="1051560" y="2880360"/>
            <a:ext cx="10515600" cy="384048"/>
          </a:xfrm>
          <a:prstGeom prst="rect">
            <a:avLst/>
          </a:prstGeom>
          <a:noFill/>
          <a:ln/>
        </p:spPr>
        <p:txBody>
          <a:bodyPr wrap="square" lIns="0" tIns="0" rIns="0" bIns="0" rtlCol="0" anchor="ctr"/>
          <a:lstStyle/>
          <a:p>
            <a:pPr indent="0" marL="0">
              <a:buNone/>
            </a:pPr>
            <a:r>
              <a:rPr lang="en-US" sz="2200" dirty="0">
                <a:solidFill>
                  <a:srgbClr val="1C1E21"/>
                </a:solidFill>
                <a:latin typeface="Arial" pitchFamily="34" charset="0"/>
                <a:ea typeface="Arial" pitchFamily="34" charset="-122"/>
                <a:cs typeface="Arial" pitchFamily="34" charset="-120"/>
              </a:rPr>
              <a:t>Freeze the yardsticks. Then read the transcripts, not just the scores.</a:t>
            </a:r>
            <a:endParaRPr lang="en-US" sz="2200" dirty="0"/>
          </a:p>
        </p:txBody>
      </p:sp>
      <p:sp>
        <p:nvSpPr>
          <p:cNvPr id="7" name="Shape 5"/>
          <p:cNvSpPr/>
          <p:nvPr/>
        </p:nvSpPr>
        <p:spPr>
          <a:xfrm>
            <a:off x="731520" y="3886200"/>
            <a:ext cx="10744200" cy="1051560"/>
          </a:xfrm>
          <a:prstGeom prst="rect">
            <a:avLst/>
          </a:prstGeom>
          <a:solidFill>
            <a:srgbClr val="0F2A4A"/>
          </a:solidFill>
          <a:ln w="12700">
            <a:solidFill>
              <a:srgbClr val="0F2A4A"/>
            </a:solidFill>
            <a:prstDash val="solid"/>
          </a:ln>
        </p:spPr>
      </p:sp>
      <p:sp>
        <p:nvSpPr>
          <p:cNvPr id="8" name="Text 6"/>
          <p:cNvSpPr/>
          <p:nvPr/>
        </p:nvSpPr>
        <p:spPr>
          <a:xfrm>
            <a:off x="960120" y="3886200"/>
            <a:ext cx="10287000" cy="1051560"/>
          </a:xfrm>
          <a:prstGeom prst="rect">
            <a:avLst/>
          </a:prstGeom>
          <a:noFill/>
          <a:ln/>
        </p:spPr>
        <p:txBody>
          <a:bodyPr wrap="square" lIns="0" tIns="0" rIns="0" bIns="0" rtlCol="0" anchor="ctr"/>
          <a:lstStyle/>
          <a:p>
            <a:pPr indent="0" marL="0">
              <a:lnSpc>
                <a:spcPct val="118000"/>
              </a:lnSpc>
              <a:buNone/>
            </a:pPr>
            <a:r>
              <a:rPr lang="en-US" sz="2200" dirty="0">
                <a:solidFill>
                  <a:srgbClr val="FFFFFF"/>
                </a:solidFill>
                <a:latin typeface="Arial" pitchFamily="34" charset="0"/>
                <a:ea typeface="Arial" pitchFamily="34" charset="-122"/>
                <a:cs typeface="Arial" pitchFamily="34" charset="-120"/>
              </a:rPr>
              <a:t>Where knowledge enters is an architectural choice — and the controlled arms measure which placement wins.</a:t>
            </a:r>
            <a:endParaRPr lang="en-US" sz="2200" dirty="0"/>
          </a:p>
        </p:txBody>
      </p:sp>
      <p:sp>
        <p:nvSpPr>
          <p:cNvPr id="9" name="Text 7"/>
          <p:cNvSpPr/>
          <p:nvPr/>
        </p:nvSpPr>
        <p:spPr>
          <a:xfrm>
            <a:off x="731520" y="5138928"/>
            <a:ext cx="10744200" cy="274320"/>
          </a:xfrm>
          <a:prstGeom prst="rect">
            <a:avLst/>
          </a:prstGeom>
          <a:noFill/>
          <a:ln/>
        </p:spPr>
        <p:txBody>
          <a:bodyPr wrap="square" lIns="0" tIns="0" rIns="0" bIns="0" rtlCol="0" anchor="ctr"/>
          <a:lstStyle/>
          <a:p>
            <a:pPr indent="0" marL="0">
              <a:buNone/>
            </a:pPr>
            <a:r>
              <a:rPr lang="en-US" sz="1200" dirty="0">
                <a:solidFill>
                  <a:srgbClr val="5A6472"/>
                </a:solidFill>
                <a:latin typeface="Arial" pitchFamily="34" charset="0"/>
                <a:ea typeface="Arial" pitchFamily="34" charset="-122"/>
                <a:cs typeface="Arial" pitchFamily="34" charset="-120"/>
              </a:rPr>
              <a:t>github.com/930731haohao-afk/kaggle-agent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2026-08-19T04:21:04Z</dcterms:created>
  <dcterms:modified xsi:type="dcterms:W3CDTF">2026-08-19T04:21:04Z</dcterms:modified>
</cp:coreProperties>
</file>
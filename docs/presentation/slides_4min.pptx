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end-to-end agent for Kaggle competitions: it takes a raw dataset and returns a submission, with no person in the loop. I benchmarked it against two frozen reference agents on twenty competitions, scored on the real leaderboards. (18s)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Competitions demand the whole expert loop, and the top of the leaderboard separates at the fourth or fifth decimal, so tuning skill distinguishes nobody — and at that scale a pipeline's own cross-validation routinely disagrees with the leaderboard. What an agent brings is tireless, logged search: between thirty-seven and two hundred and twenty-four candidate configurations per competition, and the same protocol run twenty times without drifting. (32s)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reads top to bottom. An LLM reasons and decides at every stage, gradient boosting does the fitting, and a tree search over complete candidate solutions is the optimisation loop. The one design decision that mattered is where outside knowledge enters. My first version put it downstream, at the blend — measured, it was worth ten to the minus five. So it moved upstream, into a dossier stage that classifies the task before any modelling. The lanes hold no Kaggle credentials, so nothing inside a run can touch a leaderboard.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reading. All twenty lanes are scored on the real leaderboard, and every one of the sixty duels is judged against the score noise measured on Kaggle's own split of the test set: thirty-eight decide, twenty-two the data refuses to call. My agent leads — sixteen wins to eight of its decided duels, sixty-six point seven percent, against forty-two point three for each yardstick. It takes the best private score on ten of the twenty competitions, and on three harder competitions outside tabular data it takes the best of the three every time.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I expected, and what actually happened. I expected the agent to beat most humans quickly: it does lead the standing, but its wins concentrate where no mature public solution exists — where one does, the reproduction agent beats it. I expected one run and one score to decide a winner: score noise leaves twenty-two of sixty duels uncallable, which is why the error model exists. And I expected a shared experience library to only ever help: one lane wrote its findings back two minutes before the next lane started, that lane read its neighbour's entries, and it had to be re-run clean. (43s)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would tell anyone doing this. Put knowledge injection upstream — at the blend stage it bought nothing. While you iterate, local cross-validation is the only feedback you get, and it can look healthy while the leaderboard says otherwise. Version the agent, not just the code: an architecture change invalidates every run before it. And isolate mechanically, then read the transcripts — including your auditor's: mine was exempting the commands every lane actually issues, so the one command it existed to catch was never examined. Thank you. (30s)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C64"/>
        </a:solidFill>
      </p:bgPr>
    </p:bg>
    <p:spTree>
      <p:nvGrpSpPr>
        <p:cNvPr id="1" name=""/>
        <p:cNvGrpSpPr/>
        <p:nvPr/>
      </p:nvGrpSpPr>
      <p:grpSpPr>
        <a:xfrm>
          <a:off x="0" y="0"/>
          <a:ext cx="0" cy="0"/>
          <a:chOff x="0" y="0"/>
          <a:chExt cx="0" cy="0"/>
        </a:xfrm>
      </p:grpSpPr>
      <p:sp>
        <p:nvSpPr>
          <p:cNvPr id="2" name="Text 0"/>
          <p:cNvSpPr/>
          <p:nvPr/>
        </p:nvSpPr>
        <p:spPr>
          <a:xfrm>
            <a:off x="822960" y="14173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An End-to-End AI Agent</a:t>
            </a:r>
            <a:endParaRPr lang="en-US" sz="4000" dirty="0"/>
          </a:p>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for Kaggle Competitions</a:t>
            </a:r>
            <a:endParaRPr lang="en-US" sz="4000" dirty="0"/>
          </a:p>
        </p:txBody>
      </p:sp>
      <p:sp>
        <p:nvSpPr>
          <p:cNvPr id="3" name="Text 1"/>
          <p:cNvSpPr/>
          <p:nvPr/>
        </p:nvSpPr>
        <p:spPr>
          <a:xfrm>
            <a:off x="822960" y="3337560"/>
            <a:ext cx="10058400" cy="45720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An end-to-end LLM agent benchmarked against two frozen yardsticks on 20 Kaggle competitions</a:t>
            </a:r>
            <a:endParaRPr lang="en-US" sz="1800" dirty="0"/>
          </a:p>
        </p:txBody>
      </p:sp>
      <p:sp>
        <p:nvSpPr>
          <p:cNvPr id="4" name="Text 2"/>
          <p:cNvSpPr/>
          <p:nvPr/>
        </p:nvSpPr>
        <p:spPr>
          <a:xfrm>
            <a:off x="822960" y="5577840"/>
            <a:ext cx="10789920" cy="402336"/>
          </a:xfrm>
          <a:prstGeom prst="rect">
            <a:avLst/>
          </a:prstGeom>
          <a:noFill/>
          <a:ln/>
        </p:spPr>
        <p:txBody>
          <a:bodyPr wrap="square" lIns="0" tIns="0" rIns="0" bIns="0" rtlCol="0" anchor="ctr"/>
          <a:lstStyle/>
          <a:p>
            <a:pPr indent="0" marL="0">
              <a:buNone/>
            </a:pPr>
            <a:r>
              <a:rPr lang="en-US" sz="1300" dirty="0">
                <a:solidFill>
                  <a:srgbClr val="A8BDD4"/>
                </a:solidFill>
                <a:latin typeface="Arial" pitchFamily="34" charset="0"/>
                <a:ea typeface="Arial" pitchFamily="34" charset="-122"/>
                <a:cs typeface="Arial" pitchFamily="34" charset="-120"/>
              </a:rPr>
              <a:t>Wei-Hao Huang, National Chengchi University   ·   PI: Dr. Tso-Jung Yen, Institute of Statistical Science, Academia Sinica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1 · Motivation</a:t>
            </a:r>
            <a:endParaRPr lang="en-US" sz="2600" dirty="0"/>
          </a:p>
        </p:txBody>
      </p:sp>
      <p:sp>
        <p:nvSpPr>
          <p:cNvPr id="3" name="Text 1"/>
          <p:cNvSpPr/>
          <p:nvPr/>
        </p:nvSpPr>
        <p:spPr>
          <a:xfrm>
            <a:off x="658368" y="105156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these tasks are hard</a:t>
            </a:r>
            <a:endParaRPr lang="en-US" sz="1900" dirty="0"/>
          </a:p>
        </p:txBody>
      </p:sp>
      <p:sp>
        <p:nvSpPr>
          <p:cNvPr id="4" name="Text 2"/>
          <p:cNvSpPr/>
          <p:nvPr/>
        </p:nvSpPr>
        <p:spPr>
          <a:xfrm>
            <a:off x="868680" y="1481328"/>
            <a:ext cx="10607040" cy="77724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 competition demands the whole expert loop — validation design, features, model selection, ensembling — and the top entries separate at the </a:t>
            </a:r>
            <a:pPr indent="0" marL="0">
              <a:buNone/>
            </a:pPr>
            <a:r>
              <a:rPr lang="en-US" sz="1700" b="1" dirty="0">
                <a:solidFill>
                  <a:srgbClr val="111111"/>
                </a:solidFill>
                <a:latin typeface="Arial" pitchFamily="34" charset="0"/>
                <a:ea typeface="Arial" pitchFamily="34" charset="-122"/>
                <a:cs typeface="Arial" pitchFamily="34" charset="-120"/>
              </a:rPr>
              <a:t>fourth or fifth decimal.</a:t>
            </a:r>
            <a:endParaRPr lang="en-US" sz="1700" dirty="0"/>
          </a:p>
        </p:txBody>
      </p:sp>
      <p:sp>
        <p:nvSpPr>
          <p:cNvPr id="5" name="Text 3"/>
          <p:cNvSpPr/>
          <p:nvPr/>
        </p:nvSpPr>
        <p:spPr>
          <a:xfrm>
            <a:off x="868680" y="23042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At that scale </a:t>
            </a:r>
            <a:pPr indent="0" marL="0">
              <a:buNone/>
            </a:pPr>
            <a:r>
              <a:rPr lang="en-US" sz="1700" b="1" dirty="0">
                <a:solidFill>
                  <a:srgbClr val="111111"/>
                </a:solidFill>
                <a:latin typeface="Arial" pitchFamily="34" charset="0"/>
                <a:ea typeface="Arial" pitchFamily="34" charset="-122"/>
                <a:cs typeface="Arial" pitchFamily="34" charset="-120"/>
              </a:rPr>
              <a:t>local cross-validation is an unreliable compass</a:t>
            </a:r>
            <a:pPr indent="0" marL="0">
              <a:buNone/>
            </a:pPr>
            <a:r>
              <a:rPr lang="en-US" sz="1700" dirty="0">
                <a:solidFill>
                  <a:srgbClr val="111111"/>
                </a:solidFill>
                <a:latin typeface="Arial" pitchFamily="34" charset="0"/>
                <a:ea typeface="Arial" pitchFamily="34" charset="-122"/>
                <a:cs typeface="Arial" pitchFamily="34" charset="-120"/>
              </a:rPr>
              <a:t>: a pipeline's own score routinely disagrees with the leaderboard.</a:t>
            </a:r>
            <a:endParaRPr lang="en-US" sz="1700" dirty="0"/>
          </a:p>
        </p:txBody>
      </p:sp>
      <p:sp>
        <p:nvSpPr>
          <p:cNvPr id="6" name="Text 4"/>
          <p:cNvSpPr/>
          <p:nvPr/>
        </p:nvSpPr>
        <p:spPr>
          <a:xfrm>
            <a:off x="658368" y="315468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an AI agent</a:t>
            </a:r>
            <a:endParaRPr lang="en-US" sz="1900" dirty="0"/>
          </a:p>
        </p:txBody>
      </p:sp>
      <p:sp>
        <p:nvSpPr>
          <p:cNvPr id="7" name="Text 5"/>
          <p:cNvSpPr/>
          <p:nvPr/>
        </p:nvSpPr>
        <p:spPr>
          <a:xfrm>
            <a:off x="868680" y="358444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Tireless, systematic search: </a:t>
            </a:r>
            <a:pPr indent="0" marL="0">
              <a:buNone/>
            </a:pPr>
            <a:r>
              <a:rPr lang="en-US" sz="1700" b="1" dirty="0">
                <a:solidFill>
                  <a:srgbClr val="111111"/>
                </a:solidFill>
                <a:latin typeface="Arial" pitchFamily="34" charset="0"/>
                <a:ea typeface="Arial" pitchFamily="34" charset="-122"/>
                <a:cs typeface="Arial" pitchFamily="34" charset="-120"/>
              </a:rPr>
              <a:t>37–224</a:t>
            </a:r>
            <a:pPr indent="0" marL="0">
              <a:buNone/>
            </a:pPr>
            <a:r>
              <a:rPr lang="en-US" sz="1700" dirty="0">
                <a:solidFill>
                  <a:srgbClr val="111111"/>
                </a:solidFill>
                <a:latin typeface="Arial" pitchFamily="34" charset="0"/>
                <a:ea typeface="Arial" pitchFamily="34" charset="-122"/>
                <a:cs typeface="Arial" pitchFamily="34" charset="-120"/>
              </a:rPr>
              <a:t> candidate configurations per competition, every experiment logged.</a:t>
            </a:r>
            <a:endParaRPr lang="en-US" sz="1700" dirty="0"/>
          </a:p>
        </p:txBody>
      </p:sp>
      <p:sp>
        <p:nvSpPr>
          <p:cNvPr id="8" name="Text 6"/>
          <p:cNvSpPr/>
          <p:nvPr/>
        </p:nvSpPr>
        <p:spPr>
          <a:xfrm>
            <a:off x="868680" y="41330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The same disciplined protocol on 20 competitions in a row — a consistency a person cannot hold.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2 · Workflow</a:t>
            </a:r>
            <a:endParaRPr lang="en-US" sz="2600" dirty="0"/>
          </a:p>
        </p:txBody>
      </p:sp>
      <p:pic>
        <p:nvPicPr>
          <p:cNvPr id="3" name="Image 0" descr="fig1_arch_hi-1.png">    </p:cNvPr>
          <p:cNvPicPr>
            <a:picLocks noChangeAspect="1"/>
          </p:cNvPicPr>
          <p:nvPr/>
        </p:nvPicPr>
        <p:blipFill>
          <a:blip r:embed="rId1"/>
          <a:stretch>
            <a:fillRect/>
          </a:stretch>
        </p:blipFill>
        <p:spPr>
          <a:xfrm>
            <a:off x="658368" y="960120"/>
            <a:ext cx="6355080" cy="5660136"/>
          </a:xfrm>
          <a:prstGeom prst="rect">
            <a:avLst/>
          </a:prstGeom>
        </p:spPr>
      </p:pic>
      <p:sp>
        <p:nvSpPr>
          <p:cNvPr id="4" name="Text 1"/>
          <p:cNvSpPr/>
          <p:nvPr/>
        </p:nvSpPr>
        <p:spPr>
          <a:xfrm>
            <a:off x="7360920" y="1463040"/>
            <a:ext cx="4160520" cy="14630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LLM reasons and decides at every stage</a:t>
            </a:r>
            <a:pPr indent="0" marL="0">
              <a:buNone/>
            </a:pPr>
            <a:r>
              <a:rPr lang="en-US" sz="1600" dirty="0">
                <a:solidFill>
                  <a:srgbClr val="111111"/>
                </a:solidFill>
                <a:latin typeface="Arial" pitchFamily="34" charset="0"/>
                <a:ea typeface="Arial" pitchFamily="34" charset="-122"/>
                <a:cs typeface="Arial" pitchFamily="34" charset="-120"/>
              </a:rPr>
              <a:t>; gradient boosting does the fitting; a tree search over complete candidate solutions is the optimisation loop.</a:t>
            </a:r>
            <a:endParaRPr lang="en-US" sz="1600" dirty="0"/>
          </a:p>
        </p:txBody>
      </p:sp>
      <p:sp>
        <p:nvSpPr>
          <p:cNvPr id="5" name="Text 2"/>
          <p:cNvSpPr/>
          <p:nvPr/>
        </p:nvSpPr>
        <p:spPr>
          <a:xfrm>
            <a:off x="7360920" y="3063240"/>
            <a:ext cx="4160520" cy="109728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problem dossier</a:t>
            </a:r>
            <a:pPr indent="0" marL="0">
              <a:buNone/>
            </a:pPr>
            <a:r>
              <a:rPr lang="en-US" sz="1600" dirty="0">
                <a:solidFill>
                  <a:srgbClr val="111111"/>
                </a:solidFill>
                <a:latin typeface="Arial" pitchFamily="34" charset="0"/>
                <a:ea typeface="Arial" pitchFamily="34" charset="-122"/>
                <a:cs typeface="Arial" pitchFamily="34" charset="-120"/>
              </a:rPr>
              <a:t> classifies the task and injects external data </a:t>
            </a:r>
            <a:pPr indent="0" marL="0">
              <a:buNone/>
            </a:pPr>
            <a:r>
              <a:rPr lang="en-US" sz="1600" i="1" dirty="0">
                <a:solidFill>
                  <a:srgbClr val="111111"/>
                </a:solidFill>
                <a:latin typeface="Arial" pitchFamily="34" charset="0"/>
                <a:ea typeface="Arial" pitchFamily="34" charset="-122"/>
                <a:cs typeface="Arial" pitchFamily="34" charset="-120"/>
              </a:rPr>
              <a:t>upstream</a:t>
            </a:r>
            <a:pPr indent="0" marL="0">
              <a:buNone/>
            </a:pPr>
            <a:r>
              <a:rPr lang="en-US" sz="1600" dirty="0">
                <a:solidFill>
                  <a:srgbClr val="111111"/>
                </a:solidFill>
                <a:latin typeface="Arial" pitchFamily="34" charset="0"/>
                <a:ea typeface="Arial" pitchFamily="34" charset="-122"/>
                <a:cs typeface="Arial" pitchFamily="34" charset="-120"/>
              </a:rPr>
              <a:t>, before any modelling.</a:t>
            </a:r>
            <a:endParaRPr lang="en-US" sz="1600" dirty="0"/>
          </a:p>
        </p:txBody>
      </p:sp>
      <p:sp>
        <p:nvSpPr>
          <p:cNvPr id="6" name="Text 3"/>
          <p:cNvSpPr/>
          <p:nvPr/>
        </p:nvSpPr>
        <p:spPr>
          <a:xfrm>
            <a:off x="7360920" y="4297680"/>
            <a:ext cx="4160520" cy="100584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Lanes hold no Kaggle credentials; submissions are scored post-run on the real leaderboard.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3 · Results</a:t>
            </a:r>
            <a:endParaRPr lang="en-US" sz="2600" dirty="0"/>
          </a:p>
        </p:txBody>
      </p:sp>
      <p:sp>
        <p:nvSpPr>
          <p:cNvPr id="3" name="Text 1"/>
          <p:cNvSpPr/>
          <p:nvPr/>
        </p:nvSpPr>
        <p:spPr>
          <a:xfrm>
            <a:off x="658368" y="1024128"/>
            <a:ext cx="10881360" cy="7315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All 20 lanes scored on the real leaderboard; each of the 60 duels judged against the score noise measured on Kaggle's own public/private split — 38 decided, 22 too close to call.</a:t>
            </a:r>
            <a:endParaRPr lang="en-US" sz="1700" dirty="0"/>
          </a:p>
        </p:txBody>
      </p:sp>
      <p:sp>
        <p:nvSpPr>
          <p:cNvPr id="4" name="Text 2"/>
          <p:cNvSpPr/>
          <p:nvPr/>
        </p:nvSpPr>
        <p:spPr>
          <a:xfrm>
            <a:off x="658368" y="1874520"/>
            <a:ext cx="10881360" cy="50292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 leads: 16 wins / 8 losses (66.7% of its decided duels)</a:t>
            </a:r>
            <a:pPr indent="0" marL="0">
              <a:buNone/>
            </a:pPr>
            <a:r>
              <a:rPr lang="en-US" sz="1700" dirty="0">
                <a:solidFill>
                  <a:srgbClr val="111111"/>
                </a:solidFill>
                <a:latin typeface="Arial" pitchFamily="34" charset="0"/>
                <a:ea typeface="Arial" pitchFamily="34" charset="-122"/>
                <a:cs typeface="Arial" pitchFamily="34" charset="-120"/>
              </a:rPr>
              <a:t> against 42.3% for each frozen yardstick.</a:t>
            </a:r>
            <a:endParaRPr lang="en-US" sz="1700" dirty="0"/>
          </a:p>
        </p:txBody>
      </p:sp>
      <p:sp>
        <p:nvSpPr>
          <p:cNvPr id="5" name="Text 3"/>
          <p:cNvSpPr/>
          <p:nvPr/>
        </p:nvSpPr>
        <p:spPr>
          <a:xfrm>
            <a:off x="658368" y="2606040"/>
            <a:ext cx="1088136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Best private score — head-to-head count (20 competitions)</a:t>
            </a:r>
            <a:endParaRPr lang="en-US" sz="1700" dirty="0"/>
          </a:p>
        </p:txBody>
      </p:sp>
      <p:sp>
        <p:nvSpPr>
          <p:cNvPr id="6" name="Text 4"/>
          <p:cNvSpPr/>
          <p:nvPr/>
        </p:nvSpPr>
        <p:spPr>
          <a:xfrm>
            <a:off x="658368" y="3108960"/>
            <a:ext cx="1828800" cy="420624"/>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a:t>
            </a:r>
            <a:endParaRPr lang="en-US" sz="1700" dirty="0"/>
          </a:p>
        </p:txBody>
      </p:sp>
      <p:sp>
        <p:nvSpPr>
          <p:cNvPr id="7" name="Shape 5"/>
          <p:cNvSpPr/>
          <p:nvPr/>
        </p:nvSpPr>
        <p:spPr>
          <a:xfrm>
            <a:off x="2606040" y="3154680"/>
            <a:ext cx="5120640" cy="329184"/>
          </a:xfrm>
          <a:prstGeom prst="rect">
            <a:avLst/>
          </a:prstGeom>
          <a:solidFill>
            <a:srgbClr val="EEF0F3"/>
          </a:solidFill>
          <a:ln w="12700">
            <a:solidFill>
              <a:srgbClr val="EEF0F3"/>
            </a:solidFill>
            <a:prstDash val="solid"/>
          </a:ln>
        </p:spPr>
      </p:sp>
      <p:sp>
        <p:nvSpPr>
          <p:cNvPr id="8" name="Shape 6"/>
          <p:cNvSpPr/>
          <p:nvPr/>
        </p:nvSpPr>
        <p:spPr>
          <a:xfrm>
            <a:off x="2606040" y="3154680"/>
            <a:ext cx="2560320" cy="329184"/>
          </a:xfrm>
          <a:prstGeom prst="rect">
            <a:avLst/>
          </a:prstGeom>
          <a:solidFill>
            <a:srgbClr val="003C64"/>
          </a:solidFill>
          <a:ln w="12700">
            <a:solidFill>
              <a:srgbClr val="003C64"/>
            </a:solidFill>
            <a:prstDash val="solid"/>
          </a:ln>
        </p:spPr>
      </p:sp>
      <p:sp>
        <p:nvSpPr>
          <p:cNvPr id="9" name="Text 7"/>
          <p:cNvSpPr/>
          <p:nvPr/>
        </p:nvSpPr>
        <p:spPr>
          <a:xfrm>
            <a:off x="7909560" y="310896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10 / 20</a:t>
            </a:r>
            <a:endParaRPr lang="en-US" sz="1700" dirty="0"/>
          </a:p>
        </p:txBody>
      </p:sp>
      <p:sp>
        <p:nvSpPr>
          <p:cNvPr id="10" name="Text 8"/>
          <p:cNvSpPr/>
          <p:nvPr/>
        </p:nvSpPr>
        <p:spPr>
          <a:xfrm>
            <a:off x="658368" y="365760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NVIDIA</a:t>
            </a:r>
            <a:endParaRPr lang="en-US" sz="1700" dirty="0"/>
          </a:p>
        </p:txBody>
      </p:sp>
      <p:sp>
        <p:nvSpPr>
          <p:cNvPr id="11" name="Shape 9"/>
          <p:cNvSpPr/>
          <p:nvPr/>
        </p:nvSpPr>
        <p:spPr>
          <a:xfrm>
            <a:off x="2606040" y="3703320"/>
            <a:ext cx="5120640" cy="329184"/>
          </a:xfrm>
          <a:prstGeom prst="rect">
            <a:avLst/>
          </a:prstGeom>
          <a:solidFill>
            <a:srgbClr val="EEF0F3"/>
          </a:solidFill>
          <a:ln w="12700">
            <a:solidFill>
              <a:srgbClr val="EEF0F3"/>
            </a:solidFill>
            <a:prstDash val="solid"/>
          </a:ln>
        </p:spPr>
      </p:sp>
      <p:sp>
        <p:nvSpPr>
          <p:cNvPr id="12" name="Shape 10"/>
          <p:cNvSpPr/>
          <p:nvPr/>
        </p:nvSpPr>
        <p:spPr>
          <a:xfrm>
            <a:off x="2606040" y="3703320"/>
            <a:ext cx="1792224" cy="329184"/>
          </a:xfrm>
          <a:prstGeom prst="rect">
            <a:avLst/>
          </a:prstGeom>
          <a:solidFill>
            <a:srgbClr val="B0BAC4"/>
          </a:solidFill>
          <a:ln w="12700">
            <a:solidFill>
              <a:srgbClr val="B0BAC4"/>
            </a:solidFill>
            <a:prstDash val="solid"/>
          </a:ln>
        </p:spPr>
      </p:sp>
      <p:sp>
        <p:nvSpPr>
          <p:cNvPr id="13" name="Text 11"/>
          <p:cNvSpPr/>
          <p:nvPr/>
        </p:nvSpPr>
        <p:spPr>
          <a:xfrm>
            <a:off x="7909560" y="365760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7 / 20</a:t>
            </a:r>
            <a:endParaRPr lang="en-US" sz="1700" dirty="0"/>
          </a:p>
        </p:txBody>
      </p:sp>
      <p:sp>
        <p:nvSpPr>
          <p:cNvPr id="14" name="Text 12"/>
          <p:cNvSpPr/>
          <p:nvPr/>
        </p:nvSpPr>
        <p:spPr>
          <a:xfrm>
            <a:off x="658368" y="420624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AIDE</a:t>
            </a:r>
            <a:endParaRPr lang="en-US" sz="1700" dirty="0"/>
          </a:p>
        </p:txBody>
      </p:sp>
      <p:sp>
        <p:nvSpPr>
          <p:cNvPr id="15" name="Shape 13"/>
          <p:cNvSpPr/>
          <p:nvPr/>
        </p:nvSpPr>
        <p:spPr>
          <a:xfrm>
            <a:off x="2606040" y="4251960"/>
            <a:ext cx="5120640" cy="329184"/>
          </a:xfrm>
          <a:prstGeom prst="rect">
            <a:avLst/>
          </a:prstGeom>
          <a:solidFill>
            <a:srgbClr val="EEF0F3"/>
          </a:solidFill>
          <a:ln w="12700">
            <a:solidFill>
              <a:srgbClr val="EEF0F3"/>
            </a:solidFill>
            <a:prstDash val="solid"/>
          </a:ln>
        </p:spPr>
      </p:sp>
      <p:sp>
        <p:nvSpPr>
          <p:cNvPr id="16" name="Shape 14"/>
          <p:cNvSpPr/>
          <p:nvPr/>
        </p:nvSpPr>
        <p:spPr>
          <a:xfrm>
            <a:off x="2606040" y="4251960"/>
            <a:ext cx="768096" cy="329184"/>
          </a:xfrm>
          <a:prstGeom prst="rect">
            <a:avLst/>
          </a:prstGeom>
          <a:solidFill>
            <a:srgbClr val="B0BAC4"/>
          </a:solidFill>
          <a:ln w="12700">
            <a:solidFill>
              <a:srgbClr val="B0BAC4"/>
            </a:solidFill>
            <a:prstDash val="solid"/>
          </a:ln>
        </p:spPr>
      </p:sp>
      <p:sp>
        <p:nvSpPr>
          <p:cNvPr id="17" name="Text 15"/>
          <p:cNvSpPr/>
          <p:nvPr/>
        </p:nvSpPr>
        <p:spPr>
          <a:xfrm>
            <a:off x="7909560" y="420624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3 / 20</a:t>
            </a:r>
            <a:endParaRPr lang="en-US" sz="1700" dirty="0"/>
          </a:p>
        </p:txBody>
      </p:sp>
      <p:sp>
        <p:nvSpPr>
          <p:cNvPr id="18" name="Text 16"/>
          <p:cNvSpPr/>
          <p:nvPr/>
        </p:nvSpPr>
        <p:spPr>
          <a:xfrm>
            <a:off x="658368" y="4983480"/>
            <a:ext cx="10881360" cy="64008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Beyond tabular: on three mid-complexity competitions (NLP, physiological time series, medical imaging) my-agent takes the three-way best on all three.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4 · Advantages &amp; Difficulties</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097280"/>
          <a:ext cx="10881360" cy="914400"/>
        </p:xfrm>
        <a:graphic>
          <a:graphicData uri="http://schemas.openxmlformats.org/drawingml/2006/table">
            <a:tbl>
              <a:tblPr/>
              <a:tblGrid>
                <a:gridCol w="3383280"/>
                <a:gridCol w="7498080"/>
              </a:tblGrid>
              <a:tr h="411480">
                <a:tc>
                  <a:txBody>
                    <a:bodyPr/>
                    <a:lstStyle/>
                    <a:p>
                      <a:pPr indent="0" marL="0">
                        <a:buNone/>
                      </a:pPr>
                      <a:r>
                        <a:rPr lang="en-US" sz="1500" b="1" dirty="0">
                          <a:solidFill>
                            <a:srgbClr val="111111"/>
                          </a:solidFill>
                          <a:latin typeface="Arial" pitchFamily="34" charset="0"/>
                          <a:ea typeface="Arial" pitchFamily="34" charset="-122"/>
                          <a:cs typeface="Arial" pitchFamily="34" charset="-120"/>
                        </a:rPr>
                        <a:t>Expected</a:t>
                      </a:r>
                      <a:endParaRPr lang="en-US" sz="1500" dirty="0">
                        <a:latin typeface="Arial" charset="0"/>
                        <a:ea typeface="Arial" charset="0"/>
                        <a:cs typeface="Arial" charset="0"/>
                      </a:endParaRPr>
                    </a:p>
                  </a:txBody>
                  <a:tcPr marL="76200" marR="76200" marT="76200" marB="76200" anchor="t">
                    <a:lnL w="0" cap="flat" cmpd="sng" algn="ctr">
                      <a:noFill/>
                    </a:lnL>
                    <a:lnR w="0" cap="flat" cmpd="sng" algn="ctr">
                      <a:noFill/>
                    </a:lnR>
                    <a:lnT w="0" cap="flat" cmpd="sng" algn="ctr">
                      <a:noFill/>
                    </a:lnT>
                    <a:lnB w="12700" cap="flat" cmpd="sng" algn="ctr">
                      <a:solidFill>
                        <a:srgbClr val="DDE1E6"/>
                      </a:solidFill>
                      <a:prstDash val="solid"/>
                      <a:round/>
                      <a:headEnd type="none" w="med" len="med"/>
                      <a:tailEnd type="none" w="med" len="med"/>
                    </a:lnB>
                  </a:tcPr>
                </a:tc>
                <a:tc>
                  <a:txBody>
                    <a:bodyPr/>
                    <a:lstStyle/>
                    <a:p>
                      <a:pPr indent="0" marL="0">
                        <a:buNone/>
                      </a:pPr>
                      <a:r>
                        <a:rPr lang="en-US" sz="1500" b="1" dirty="0">
                          <a:solidFill>
                            <a:srgbClr val="111111"/>
                          </a:solidFill>
                          <a:latin typeface="Arial" pitchFamily="34" charset="0"/>
                          <a:ea typeface="Arial" pitchFamily="34" charset="-122"/>
                          <a:cs typeface="Arial" pitchFamily="34" charset="-120"/>
                        </a:rPr>
                        <a:t>Experienced</a:t>
                      </a:r>
                      <a:endParaRPr lang="en-US" sz="1500" dirty="0">
                        <a:latin typeface="Arial" charset="0"/>
                        <a:ea typeface="Arial" charset="0"/>
                        <a:cs typeface="Arial" charset="0"/>
                      </a:endParaRPr>
                    </a:p>
                  </a:txBody>
                  <a:tcPr marL="76200" marR="76200" marT="76200" marB="76200" anchor="t">
                    <a:lnL w="0" cap="flat" cmpd="sng" algn="ctr">
                      <a:noFill/>
                    </a:lnL>
                    <a:lnR w="0" cap="flat" cmpd="sng" algn="ctr">
                      <a:noFill/>
                    </a:lnR>
                    <a:lnT w="0" cap="flat" cmpd="sng" algn="ctr">
                      <a:noFill/>
                    </a:lnT>
                    <a:lnB w="12700" cap="flat" cmpd="sng" algn="ctr">
                      <a:solidFill>
                        <a:srgbClr val="DDE1E6"/>
                      </a:solidFill>
                      <a:prstDash val="solid"/>
                      <a:round/>
                      <a:headEnd type="none" w="med" len="med"/>
                      <a:tailEnd type="none" w="med" len="med"/>
                    </a:lnB>
                  </a:tcPr>
                </a:tc>
              </a:tr>
              <a:tr h="1051560">
                <a:tc>
                  <a:txBody>
                    <a:bodyPr/>
                    <a:lstStyle/>
                    <a:p>
                      <a:pPr indent="0" marL="0">
                        <a:buNone/>
                      </a:pPr>
                      <a:r>
                        <a:rPr lang="en-US" sz="1500" i="1" dirty="0">
                          <a:solidFill>
                            <a:srgbClr val="5A5F66"/>
                          </a:solidFill>
                          <a:latin typeface="Arial" pitchFamily="34" charset="0"/>
                          <a:ea typeface="Arial" pitchFamily="34" charset="-122"/>
                          <a:cs typeface="Arial" pitchFamily="34" charset="-120"/>
                        </a:rPr>
                        <a:t>The agent would quickly beat most humans.</a:t>
                      </a:r>
                      <a:endParaRPr lang="en-US" sz="1500" dirty="0">
                        <a:latin typeface="Arial" charset="0"/>
                        <a:ea typeface="Arial" charset="0"/>
                        <a:cs typeface="Arial" charset="0"/>
                      </a:endParaRPr>
                    </a:p>
                  </a:txBody>
                  <a:tcPr marL="76200" marR="76200" marT="76200" marB="76200" anchor="t">
                    <a:lnL w="0" cap="flat" cmpd="sng" algn="ctr">
                      <a:noFill/>
                    </a:lnL>
                    <a:lnR w="0" cap="flat" cmpd="sng" algn="ctr">
                      <a:noFill/>
                    </a:lnR>
                    <a:lnT w="0" cap="flat" cmpd="sng" algn="ctr">
                      <a:noFill/>
                    </a:lnT>
                    <a:lnB w="12700" cap="flat" cmpd="sng" algn="ctr">
                      <a:solidFill>
                        <a:srgbClr val="DDE1E6"/>
                      </a:solidFill>
                      <a:prstDash val="solid"/>
                      <a:round/>
                      <a:headEnd type="none" w="med" len="med"/>
                      <a:tailEnd type="none" w="med" len="med"/>
                    </a:lnB>
                  </a:tcPr>
                </a:tc>
                <a:tc>
                  <a:txBody>
                    <a:bodyPr/>
                    <a:lstStyle/>
                    <a:p>
                      <a:pPr indent="0" marL="0">
                        <a:buNone/>
                      </a:pPr>
                      <a:r>
                        <a:rPr lang="en-US" sz="1500" dirty="0">
                          <a:solidFill>
                            <a:srgbClr val="111111"/>
                          </a:solidFill>
                          <a:latin typeface="Arial" pitchFamily="34" charset="0"/>
                          <a:ea typeface="Arial" pitchFamily="34" charset="-122"/>
                          <a:cs typeface="Arial" pitchFamily="34" charset="-120"/>
                        </a:rPr>
                        <a:t>It leads the standing on all 20 scored lanes, but its wins concentrate where no mature public solution exists.</a:t>
                      </a:r>
                      <a:endParaRPr lang="en-US" sz="1500" dirty="0">
                        <a:latin typeface="Arial" charset="0"/>
                        <a:ea typeface="Arial" charset="0"/>
                        <a:cs typeface="Arial" charset="0"/>
                      </a:endParaRPr>
                    </a:p>
                  </a:txBody>
                  <a:tcPr marL="76200" marR="76200" marT="76200" marB="76200" anchor="t">
                    <a:lnL w="0" cap="flat" cmpd="sng" algn="ctr">
                      <a:noFill/>
                    </a:lnL>
                    <a:lnR w="0" cap="flat" cmpd="sng" algn="ctr">
                      <a:noFill/>
                    </a:lnR>
                    <a:lnT w="0" cap="flat" cmpd="sng" algn="ctr">
                      <a:noFill/>
                    </a:lnT>
                    <a:lnB w="12700" cap="flat" cmpd="sng" algn="ctr">
                      <a:solidFill>
                        <a:srgbClr val="DDE1E6"/>
                      </a:solidFill>
                      <a:prstDash val="solid"/>
                      <a:round/>
                      <a:headEnd type="none" w="med" len="med"/>
                      <a:tailEnd type="none" w="med" len="med"/>
                    </a:lnB>
                  </a:tcPr>
                </a:tc>
              </a:tr>
              <a:tr h="914400">
                <a:tc>
                  <a:txBody>
                    <a:bodyPr/>
                    <a:lstStyle/>
                    <a:p>
                      <a:pPr indent="0" marL="0">
                        <a:buNone/>
                      </a:pPr>
                      <a:r>
                        <a:rPr lang="en-US" sz="1500" i="1" dirty="0">
                          <a:solidFill>
                            <a:srgbClr val="5A5F66"/>
                          </a:solidFill>
                          <a:latin typeface="Arial" pitchFamily="34" charset="0"/>
                          <a:ea typeface="Arial" pitchFamily="34" charset="-122"/>
                          <a:cs typeface="Arial" pitchFamily="34" charset="-120"/>
                        </a:rPr>
                        <a:t>One run and one score decide a winner.</a:t>
                      </a:r>
                      <a:endParaRPr lang="en-US" sz="1500" dirty="0">
                        <a:latin typeface="Arial" charset="0"/>
                        <a:ea typeface="Arial" charset="0"/>
                        <a:cs typeface="Arial" charset="0"/>
                      </a:endParaRPr>
                    </a:p>
                  </a:txBody>
                  <a:tcPr marL="76200" marR="76200" marT="76200" marB="76200" anchor="t">
                    <a:lnL w="0" cap="flat" cmpd="sng" algn="ctr">
                      <a:noFill/>
                    </a:lnL>
                    <a:lnR w="0" cap="flat" cmpd="sng" algn="ctr">
                      <a:noFill/>
                    </a:lnR>
                    <a:lnT w="0" cap="flat" cmpd="sng" algn="ctr">
                      <a:noFill/>
                    </a:lnT>
                    <a:lnB w="12700" cap="flat" cmpd="sng" algn="ctr">
                      <a:solidFill>
                        <a:srgbClr val="DDE1E6"/>
                      </a:solidFill>
                      <a:prstDash val="solid"/>
                      <a:round/>
                      <a:headEnd type="none" w="med" len="med"/>
                      <a:tailEnd type="none" w="med" len="med"/>
                    </a:lnB>
                  </a:tcPr>
                </a:tc>
                <a:tc>
                  <a:txBody>
                    <a:bodyPr/>
                    <a:lstStyle/>
                    <a:p>
                      <a:pPr indent="0" marL="0">
                        <a:buNone/>
                      </a:pPr>
                      <a:r>
                        <a:rPr lang="en-US" sz="1500" dirty="0">
                          <a:solidFill>
                            <a:srgbClr val="111111"/>
                          </a:solidFill>
                          <a:latin typeface="Arial" pitchFamily="34" charset="0"/>
                          <a:ea typeface="Arial" pitchFamily="34" charset="-122"/>
                          <a:cs typeface="Arial" pitchFamily="34" charset="-120"/>
                        </a:rPr>
                        <a:t>Score noise leaves 22 of 60 duels undecidable; an explicit error model became mandatory.</a:t>
                      </a:r>
                      <a:endParaRPr lang="en-US" sz="1500" dirty="0">
                        <a:latin typeface="Arial" charset="0"/>
                        <a:ea typeface="Arial" charset="0"/>
                        <a:cs typeface="Arial" charset="0"/>
                      </a:endParaRPr>
                    </a:p>
                  </a:txBody>
                  <a:tcPr marL="76200" marR="76200" marT="76200" marB="76200" anchor="t">
                    <a:lnL w="0" cap="flat" cmpd="sng" algn="ctr">
                      <a:noFill/>
                    </a:lnL>
                    <a:lnR w="0" cap="flat" cmpd="sng" algn="ctr">
                      <a:noFill/>
                    </a:lnR>
                    <a:lnT w="0" cap="flat" cmpd="sng" algn="ctr">
                      <a:noFill/>
                    </a:lnT>
                    <a:lnB w="12700" cap="flat" cmpd="sng" algn="ctr">
                      <a:solidFill>
                        <a:srgbClr val="DDE1E6"/>
                      </a:solidFill>
                      <a:prstDash val="solid"/>
                      <a:round/>
                      <a:headEnd type="none" w="med" len="med"/>
                      <a:tailEnd type="none" w="med" len="med"/>
                    </a:lnB>
                  </a:tcPr>
                </a:tc>
              </a:tr>
              <a:tr h="1051560">
                <a:tc>
                  <a:txBody>
                    <a:bodyPr/>
                    <a:lstStyle/>
                    <a:p>
                      <a:pPr indent="0" marL="0">
                        <a:buNone/>
                      </a:pPr>
                      <a:r>
                        <a:rPr lang="en-US" sz="1500" i="1" dirty="0">
                          <a:solidFill>
                            <a:srgbClr val="5A5F66"/>
                          </a:solidFill>
                          <a:latin typeface="Arial" pitchFamily="34" charset="0"/>
                          <a:ea typeface="Arial" pitchFamily="34" charset="-122"/>
                          <a:cs typeface="Arial" pitchFamily="34" charset="-120"/>
                        </a:rPr>
                        <a:t>A shared experience library only ever helps.</a:t>
                      </a:r>
                      <a:endParaRPr lang="en-US" sz="1500" dirty="0">
                        <a:latin typeface="Arial" charset="0"/>
                        <a:ea typeface="Arial" charset="0"/>
                        <a:cs typeface="Arial" charset="0"/>
                      </a:endParaRPr>
                    </a:p>
                  </a:txBody>
                  <a:tcPr marL="76200" marR="76200" marT="76200" marB="76200" anchor="t">
                    <a:lnL w="0" cap="flat" cmpd="sng" algn="ctr">
                      <a:noFill/>
                    </a:lnL>
                    <a:lnR w="0" cap="flat" cmpd="sng" algn="ctr">
                      <a:noFill/>
                    </a:lnR>
                    <a:lnT w="0" cap="flat" cmpd="sng" algn="ctr">
                      <a:noFill/>
                    </a:lnT>
                    <a:lnB w="12700" cap="flat" cmpd="sng" algn="ctr">
                      <a:solidFill>
                        <a:srgbClr val="DDE1E6"/>
                      </a:solidFill>
                      <a:prstDash val="solid"/>
                      <a:round/>
                      <a:headEnd type="none" w="med" len="med"/>
                      <a:tailEnd type="none" w="med" len="med"/>
                    </a:lnB>
                  </a:tcPr>
                </a:tc>
                <a:tc>
                  <a:txBody>
                    <a:bodyPr/>
                    <a:lstStyle/>
                    <a:p>
                      <a:pPr indent="0" marL="0">
                        <a:buNone/>
                      </a:pPr>
                      <a:r>
                        <a:rPr lang="en-US" sz="1500" dirty="0">
                          <a:solidFill>
                            <a:srgbClr val="111111"/>
                          </a:solidFill>
                          <a:latin typeface="Arial" pitchFamily="34" charset="0"/>
                          <a:ea typeface="Arial" pitchFamily="34" charset="-122"/>
                          <a:cs typeface="Arial" pitchFamily="34" charset="-120"/>
                        </a:rPr>
                        <a:t>One lane wrote its findings back two minutes before the next lane started; that lane read its neighbour's entries and was re-run clean.</a:t>
                      </a:r>
                      <a:endParaRPr lang="en-US" sz="1500" dirty="0">
                        <a:latin typeface="Arial" charset="0"/>
                        <a:ea typeface="Arial" charset="0"/>
                        <a:cs typeface="Arial" charset="0"/>
                      </a:endParaRPr>
                    </a:p>
                  </a:txBody>
                  <a:tcPr marL="76200" marR="76200" marT="76200" marB="76200" anchor="t">
                    <a:lnL w="0" cap="flat" cmpd="sng" algn="ctr">
                      <a:noFill/>
                    </a:lnL>
                    <a:lnR w="0" cap="flat" cmpd="sng" algn="ctr">
                      <a:noFill/>
                    </a:lnR>
                    <a:lnT w="0" cap="flat" cmpd="sng" algn="ctr">
                      <a:noFill/>
                    </a:lnT>
                    <a:lnB w="12700" cap="flat" cmpd="sng" algn="ctr">
                      <a:solidFill>
                        <a:srgbClr val="DDE1E6"/>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5 · Discussion</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Put knowledge injection upstream.</a:t>
            </a:r>
            <a:pPr indent="0" marL="0">
              <a:buNone/>
            </a:pPr>
            <a:r>
              <a:rPr lang="en-US" sz="1600" dirty="0">
                <a:solidFill>
                  <a:srgbClr val="111111"/>
                </a:solidFill>
                <a:latin typeface="Arial" pitchFamily="34" charset="0"/>
                <a:ea typeface="Arial" pitchFamily="34" charset="-122"/>
                <a:cs typeface="Arial" pitchFamily="34" charset="-120"/>
              </a:rPr>
              <a:t> At the blend stage it measured near-nothing and was abandoned; moved into problem identification it flags exactly the competitions that need external data.</a:t>
            </a:r>
            <a:endParaRPr lang="en-US" sz="1600" dirty="0"/>
          </a:p>
        </p:txBody>
      </p:sp>
      <p:sp>
        <p:nvSpPr>
          <p:cNvPr id="4" name="Text 2"/>
          <p:cNvSpPr/>
          <p:nvPr/>
        </p:nvSpPr>
        <p:spPr>
          <a:xfrm>
            <a:off x="868680" y="20116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Local CV is the only feedback while you iterate.</a:t>
            </a:r>
            <a:pPr indent="0" marL="0">
              <a:buNone/>
            </a:pPr>
            <a:r>
              <a:rPr lang="en-US" sz="1600" dirty="0">
                <a:solidFill>
                  <a:srgbClr val="111111"/>
                </a:solidFill>
                <a:latin typeface="Arial" pitchFamily="34" charset="0"/>
                <a:ea typeface="Arial" pitchFamily="34" charset="-122"/>
                <a:cs typeface="Arial" pitchFamily="34" charset="-120"/>
              </a:rPr>
              <a:t> A competition returns no score until submission, so an error in problem-level judgment leaves CV looking healthy while the leaderboard says otherwise.</a:t>
            </a:r>
            <a:endParaRPr lang="en-US" sz="1600" dirty="0"/>
          </a:p>
        </p:txBody>
      </p:sp>
      <p:sp>
        <p:nvSpPr>
          <p:cNvPr id="5" name="Text 3"/>
          <p:cNvSpPr/>
          <p:nvPr/>
        </p:nvSpPr>
        <p:spPr>
          <a:xfrm>
            <a:off x="868680" y="278892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Version the agent, not just the code.</a:t>
            </a:r>
            <a:pPr indent="0" marL="0">
              <a:buNone/>
            </a:pPr>
            <a:r>
              <a:rPr lang="en-US" sz="1600" dirty="0">
                <a:solidFill>
                  <a:srgbClr val="111111"/>
                </a:solidFill>
                <a:latin typeface="Arial" pitchFamily="34" charset="0"/>
                <a:ea typeface="Arial" pitchFamily="34" charset="-122"/>
                <a:cs typeface="Arial" pitchFamily="34" charset="-120"/>
              </a:rPr>
              <a:t> An architecture change invalidates every competition that ran before it — start the benchmark over rather than mixing versions in one table.</a:t>
            </a:r>
            <a:endParaRPr lang="en-US" sz="1600" dirty="0"/>
          </a:p>
        </p:txBody>
      </p:sp>
      <p:sp>
        <p:nvSpPr>
          <p:cNvPr id="6" name="Text 4"/>
          <p:cNvSpPr/>
          <p:nvPr/>
        </p:nvSpPr>
        <p:spPr>
          <a:xfrm>
            <a:off x="868680" y="370332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Isolate mechanically, then audit the transcript</a:t>
            </a:r>
            <a:pPr indent="0" marL="0">
              <a:buNone/>
            </a:pPr>
            <a:r>
              <a:rPr lang="en-US" sz="1600" dirty="0">
                <a:solidFill>
                  <a:srgbClr val="111111"/>
                </a:solidFill>
                <a:latin typeface="Arial" pitchFamily="34" charset="0"/>
                <a:ea typeface="Arial" pitchFamily="34" charset="-122"/>
                <a:cs typeface="Arial" pitchFamily="34" charset="-120"/>
              </a:rPr>
              <a:t> — and audit the auditor: ours exempted every command starting with uv, so the one command it existed to catch was never examined.</a:t>
            </a:r>
            <a:endParaRPr lang="en-US" sz="1600" dirty="0"/>
          </a:p>
        </p:txBody>
      </p:sp>
      <p:sp>
        <p:nvSpPr>
          <p:cNvPr id="7" name="Text 5"/>
          <p:cNvSpPr/>
          <p:nvPr/>
        </p:nvSpPr>
        <p:spPr>
          <a:xfrm>
            <a:off x="868680" y="5852160"/>
            <a:ext cx="10607040" cy="365760"/>
          </a:xfrm>
          <a:prstGeom prst="rect">
            <a:avLst/>
          </a:prstGeom>
          <a:noFill/>
          <a:ln/>
        </p:spPr>
        <p:txBody>
          <a:bodyPr wrap="square" lIns="0" tIns="0" rIns="0" bIns="0" rtlCol="0" anchor="ctr"/>
          <a:lstStyle/>
          <a:p>
            <a:pPr indent="0" marL="0">
              <a:buNone/>
            </a:pPr>
            <a:r>
              <a:rPr lang="en-US" sz="1300" dirty="0">
                <a:solidFill>
                  <a:srgbClr val="5A5F66"/>
                </a:solidFill>
                <a:latin typeface="Arial" pitchFamily="34" charset="0"/>
                <a:ea typeface="Arial" pitchFamily="34" charset="-122"/>
                <a:cs typeface="Arial" pitchFamily="34" charset="-120"/>
              </a:rPr>
              <a:t>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2026-08-19T10:13:26Z</dcterms:created>
  <dcterms:modified xsi:type="dcterms:W3CDTF">2026-08-19T10:13:26Z</dcterms:modified>
</cp:coreProperties>
</file>
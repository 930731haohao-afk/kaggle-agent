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2A4A"/>
                </a:solidFill>
                <a:latin typeface="Calibri"/>
              </a:defRPr>
            </a:pPr>
            <a:r>
              <a:rPr sz="1300" b="0" i="0" u="none" strike="noStrike">
                <a:solidFill>
                  <a:srgbClr val="0F2A4A"/>
                </a:solidFill>
                <a:latin typeface="Calibri"/>
              </a:rPr>
              <a:t>Decidable-duel win rate, 20 comps, pre-v5 baseline (%)</a:t>
            </a:r>
          </a:p>
        </c:rich>
      </c:tx>
      <c:layout/>
      <c:overlay val="0"/>
    </c:title>
    <c:autoTitleDeleted val="0"/>
    <c:plotArea>
      <c:layout/>
      <c:barChart>
        <c:barDir val="bar"/>
        <c:grouping val="clustered"/>
        <c:varyColors val="0"/>
        <c:ser>
          <c:idx val="0"/>
          <c:order val="0"/>
          <c:tx>
            <c:strRef>
              <c:f>Sheet1!$B$1</c:f>
              <c:strCache>
                <c:ptCount val="1"/>
                <c:pt idx="0">
                  <c:v>Decidable-duel win rate</c:v>
                </c:pt>
              </c:strCache>
            </c:strRef>
          </c:tx>
          <c:spPr>
            <a:solidFill>
              <a:srgbClr val="2B6CB0">
                <a:alpha val="100000"/>
              </a:srgbClr>
            </a:solidFill>
            <a:effectLst/>
          </c:spPr>
          <c:invertIfNegative val="0"/>
          <c:dLbls>
            <c:numFmt formatCode="#,##0" sourceLinked="0"/>
            <c:txPr>
              <a:bodyPr/>
              <a:lstStyle/>
              <a:p>
                <a:pPr>
                  <a:defRPr b="0" i="0" strike="noStrike" sz="1200" u="none">
                    <a:solidFill>
                      <a:srgbClr val="1C1E21"/>
                    </a:solidFill>
                    <a:latin typeface="Calibri"/>
                  </a:defRPr>
                </a:pPr>
              </a:p>
            </c:txPr>
            <c:showLegendKey val="0"/>
            <c:showVal val="1"/>
            <c:showCatName val="0"/>
            <c:showSerName val="0"/>
            <c:showPercent val="0"/>
            <c:showBubbleSize val="0"/>
            <c:showLeaderLines val="0"/>
          </c:dLbls>
          <c:dPt>
            <c:idx val="0"/>
            <c:invertIfNegative val="0"/>
            <c:bubble3D val="0"/>
            <c:spPr>
              <a:solidFill>
                <a:srgbClr val="2B6CB0"/>
              </a:solidFill>
              <a:effectLst/>
            </c:spPr>
          </c:dPt>
          <c:dPt>
            <c:idx val="1"/>
            <c:invertIfNegative val="0"/>
            <c:bubble3D val="0"/>
            <c:spPr>
              <a:solidFill>
                <a:srgbClr val="A8BDD4"/>
              </a:solidFill>
              <a:effectLst/>
            </c:spPr>
          </c:dPt>
          <c:dPt>
            <c:idx val="2"/>
            <c:invertIfNegative val="0"/>
            <c:bubble3D val="0"/>
            <c:spPr>
              <a:solidFill>
                <a:srgbClr val="A8BDD4"/>
              </a:solidFill>
              <a:effectLst/>
            </c:spPr>
          </c:dPt>
          <c:cat>
            <c:multiLvlStrRef>
              <c:f>Sheet1!$A$2:$A$4</c:f>
              <c:multiLvlStrCache>
                <c:ptCount val="3"/>
                <c:lvl>
                  <c:pt idx="0">
                    <c:v>my-agent</c:v>
                  </c:pt>
                  <c:pt idx="1">
                    <c:v>NVIDIA</c:v>
                  </c:pt>
                  <c:pt idx="2">
                    <c:v>AIDE</c:v>
                  </c:pt>
                </c:lvl>
              </c:multiLvlStrCache>
            </c:multiLvlStrRef>
          </c:cat>
          <c:val>
            <c:numRef>
              <c:f>Sheet1!$B$2:$B$4</c:f>
              <c:numCache>
                <c:formatCode>General</c:formatCode>
                <c:ptCount val="3"/>
                <c:pt idx="0">
                  <c:v>57</c:v>
                </c:pt>
                <c:pt idx="1">
                  <c:v>48</c:v>
                </c:pt>
                <c:pt idx="2">
                  <c:v>44</c:v>
                </c:pt>
              </c:numCache>
            </c:numRef>
          </c:val>
        </c:ser>
        <c:dLbls>
          <c:numFmt formatCode="#,##0" sourceLinked="0"/>
          <c:txPr>
            <a:bodyPr/>
            <a:lstStyle/>
            <a:p>
              <a:pPr>
                <a:defRPr b="0" i="0" strike="noStrike" sz="1200" u="none">
                  <a:solidFill>
                    <a:srgbClr val="1C1E21"/>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1E21"/>
                </a:solidFill>
                <a:latin typeface="Calibri"/>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E4E9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what I built, how it works, what it scored, what surprised me, and what I would tell the next person. (10s)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Kaggle is the full expert loop, and the margins are at the fourth decimal. The obvious compass — your own cross-validation — points the wrong way in 9 of 13 cases we measured. An agent fits because it is tireless, holds one protocol across 20 competitions, and documents everything it does. (35s)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data ingestion, a problem dossier, EDA, features, modeling, evaluation, submission. The LLM reasons at every stage and drives Auto-ML tools through the shell. Two things make it more than a script: an evidence-backed experience library shared across competitions, and a tree search where ensembles are first-class nodes.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scored on the real leaderboard, and a paired significance test decides which gaps are real. My agent wins 57 percent of decidable duels; 27 percent cannot be decided at all. On the three harder competitions outside tabular data, it takes the best score on all three. Right now all 20 competitions are re-running under the frozen final architecture with transcript audits; those leaderboard numbers are still TBD.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visualization half: before any modeling, the agent draws its own diagnostics — distributions, temporal patterns, drift checks — and it writes 22 per-competition specification reports. Every figure you see in the report and the poster was produced by the pipeline itself.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surprised me. I expected the agent to beat most humans quickly — it lands above average, and its edge concentrates where no public solutions exist. I expected one score to decide a winner — a quarter of duels are actually undecidable. And I expected rule-following by default — the transcript audit proved otherwise once, and proved itself once by a false positive.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do this yourself: state an error model with every claim, never trust local CV between agents, freeze your yardsticks, isolate mechanically and then read the transcript, and put knowledge injection upstream. Everything is in report v4 and the repository. Thank you. (25s)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1737360"/>
            <a:ext cx="10698480" cy="2011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AI Agents for Data Visualization</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and Kaggle Competitions</a:t>
            </a:r>
            <a:endParaRPr lang="en-US" sz="4400" dirty="0"/>
          </a:p>
        </p:txBody>
      </p:sp>
      <p:sp>
        <p:nvSpPr>
          <p:cNvPr id="3" name="Text 1"/>
          <p:cNvSpPr/>
          <p:nvPr/>
        </p:nvSpPr>
        <p:spPr>
          <a:xfrm>
            <a:off x="731520" y="3794760"/>
            <a:ext cx="10058400" cy="6400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An end-to-end LLM agent, benchmarked against two frozen yardsticks on 20 Kaggle competitions</a:t>
            </a:r>
            <a:endParaRPr lang="en-US" sz="2000" dirty="0"/>
          </a:p>
        </p:txBody>
      </p:sp>
      <p:sp>
        <p:nvSpPr>
          <p:cNvPr id="4" name="Text 2"/>
          <p:cNvSpPr/>
          <p:nvPr/>
        </p:nvSpPr>
        <p:spPr>
          <a:xfrm>
            <a:off x="731520" y="5760720"/>
            <a:ext cx="10058400" cy="457200"/>
          </a:xfrm>
          <a:prstGeom prst="rect">
            <a:avLst/>
          </a:prstGeom>
          <a:noFill/>
          <a:ln/>
        </p:spPr>
        <p:txBody>
          <a:bodyPr wrap="square" lIns="0" tIns="0" rIns="0" bIns="0" rtlCol="0" anchor="ctr"/>
          <a:lstStyle/>
          <a:p>
            <a:pPr indent="0" marL="0">
              <a:buNone/>
            </a:pPr>
            <a:r>
              <a:rPr lang="en-US" sz="1400" dirty="0">
                <a:solidFill>
                  <a:srgbClr val="A8BDD4"/>
                </a:solidFill>
                <a:latin typeface="Calibri" pitchFamily="34" charset="0"/>
                <a:ea typeface="Calibri" pitchFamily="34" charset="-122"/>
                <a:cs typeface="Calibri" pitchFamily="34" charset="-120"/>
              </a:rPr>
              <a:t>Wei-Hao Huang  ·  Academia Sinica ISS Summer Internship 2026  ·  Report v4 (2026-08-17)</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Motivation — why these tasks, why an agent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2</a:t>
            </a:r>
            <a:endParaRPr lang="en-US" sz="1600" dirty="0"/>
          </a:p>
        </p:txBody>
      </p:sp>
      <p:sp>
        <p:nvSpPr>
          <p:cNvPr id="4" name="Text 2"/>
          <p:cNvSpPr/>
          <p:nvPr/>
        </p:nvSpPr>
        <p:spPr>
          <a:xfrm>
            <a:off x="50292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The challenge</a:t>
            </a:r>
            <a:endParaRPr lang="en-US" sz="1800" dirty="0"/>
          </a:p>
        </p:txBody>
      </p:sp>
      <p:sp>
        <p:nvSpPr>
          <p:cNvPr id="5" name="Text 3"/>
          <p:cNvSpPr/>
          <p:nvPr/>
        </p:nvSpPr>
        <p:spPr>
          <a:xfrm>
            <a:off x="502920" y="1508760"/>
            <a:ext cx="5394960" cy="329184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Kaggle demands the full expert loop — validation design, features, model selection, ensembling.</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Top entries differ at the 4th–5th decimal of the metric; intuition cannot rank them.</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Local cross-validation misleads: it contradicts the real leaderboard in 9 of 13 competitions we measured.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EDA and diagnostic visualization are essential but repetitive for every new dataset.</a:t>
            </a:r>
            <a:endParaRPr lang="en-US" sz="1500" dirty="0"/>
          </a:p>
        </p:txBody>
      </p:sp>
      <p:sp>
        <p:nvSpPr>
          <p:cNvPr id="6" name="Text 4"/>
          <p:cNvSpPr/>
          <p:nvPr/>
        </p:nvSpPr>
        <p:spPr>
          <a:xfrm>
            <a:off x="6309360" y="1097280"/>
            <a:ext cx="5394960" cy="365760"/>
          </a:xfrm>
          <a:prstGeom prst="rect">
            <a:avLst/>
          </a:prstGeom>
          <a:noFill/>
          <a:ln/>
        </p:spPr>
        <p:txBody>
          <a:bodyPr wrap="square" lIns="0" tIns="0" rIns="0" bIns="0"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Why an AI agent fits</a:t>
            </a:r>
            <a:endParaRPr lang="en-US" sz="1800" dirty="0"/>
          </a:p>
        </p:txBody>
      </p:sp>
      <p:sp>
        <p:nvSpPr>
          <p:cNvPr id="7" name="Text 5"/>
          <p:cNvSpPr/>
          <p:nvPr/>
        </p:nvSpPr>
        <p:spPr>
          <a:xfrm>
            <a:off x="6309360" y="1508760"/>
            <a:ext cx="5394960" cy="274320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Tireless systematic search: 22–80 candidate configurations per competition, all logged.</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Holds one disciplined protocol across 20 competitions — humans drift, agents don't.</a:t>
            </a:r>
            <a:endParaRPr lang="en-US" sz="1500" dirty="0"/>
          </a:p>
          <a:p>
            <a:pPr marL="342900" indent="-342900">
              <a:spcAft>
                <a:spcPts val="1000"/>
              </a:spcAft>
              <a:buSzPct val="100000"/>
              <a:buChar char="•"/>
            </a:pPr>
            <a:r>
              <a:rPr lang="en-US" sz="1500" dirty="0">
                <a:solidFill>
                  <a:srgbClr val="1C1E21"/>
                </a:solidFill>
                <a:latin typeface="Calibri" pitchFamily="34" charset="0"/>
                <a:ea typeface="Calibri" pitchFamily="34" charset="-122"/>
                <a:cs typeface="Calibri" pitchFamily="34" charset="-120"/>
              </a:rPr>
              <a:t>Emits EDA figures and per-competition reports automatically; every claim traces to an artifact.</a:t>
            </a:r>
            <a:endParaRPr lang="en-US" sz="1500" dirty="0"/>
          </a:p>
        </p:txBody>
      </p:sp>
      <p:sp>
        <p:nvSpPr>
          <p:cNvPr id="8" name="Shape 6"/>
          <p:cNvSpPr/>
          <p:nvPr/>
        </p:nvSpPr>
        <p:spPr>
          <a:xfrm>
            <a:off x="6309360" y="4572000"/>
            <a:ext cx="5394960" cy="1554480"/>
          </a:xfrm>
          <a:prstGeom prst="roundRect">
            <a:avLst>
              <a:gd name="adj" fmla="val 4706"/>
            </a:avLst>
          </a:prstGeom>
          <a:solidFill>
            <a:srgbClr val="F4F7FB"/>
          </a:solidFill>
          <a:ln w="12700">
            <a:solidFill>
              <a:srgbClr val="A8BDD4"/>
            </a:solidFill>
            <a:prstDash val="solid"/>
          </a:ln>
        </p:spPr>
      </p:sp>
      <p:sp>
        <p:nvSpPr>
          <p:cNvPr id="9" name="Text 7"/>
          <p:cNvSpPr/>
          <p:nvPr/>
        </p:nvSpPr>
        <p:spPr>
          <a:xfrm>
            <a:off x="6537960" y="4709160"/>
            <a:ext cx="4937760" cy="1325880"/>
          </a:xfrm>
          <a:prstGeom prst="rect">
            <a:avLst/>
          </a:prstGeom>
          <a:noFill/>
          <a:ln/>
        </p:spPr>
        <p:txBody>
          <a:bodyPr wrap="square" lIns="0" tIns="0" rIns="0" bIns="0" rtlCol="0" anchor="ctr"/>
          <a:lstStyle/>
          <a:p>
            <a:pPr algn="l" indent="0" marL="0">
              <a:buNone/>
            </a:pPr>
            <a:r>
              <a:rPr lang="en-US" sz="4000" b="1" dirty="0">
                <a:solidFill>
                  <a:srgbClr val="2B6CB0"/>
                </a:solidFill>
                <a:latin typeface="Calibri" pitchFamily="34" charset="0"/>
                <a:ea typeface="Calibri" pitchFamily="34" charset="-122"/>
                <a:cs typeface="Calibri" pitchFamily="34" charset="-120"/>
              </a:rPr>
              <a:t>9 / 13</a:t>
            </a:r>
            <a:endParaRPr lang="en-US" sz="4000" dirty="0"/>
          </a:p>
          <a:p>
            <a:pPr algn="l" indent="0" marL="0">
              <a:buNone/>
            </a:pPr>
            <a:r>
              <a:rPr lang="en-US" sz="1250" dirty="0">
                <a:solidFill>
                  <a:srgbClr val="5A6472"/>
                </a:solidFill>
                <a:latin typeface="Calibri" pitchFamily="34" charset="0"/>
                <a:ea typeface="Calibri" pitchFamily="34" charset="-122"/>
                <a:cs typeface="Calibri" pitchFamily="34" charset="-120"/>
              </a:rPr>
              <a:t>competitions where local CV and the real leaderboard disagree — the core reason honest measurement needs apparatus</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Workflow — an LLM reasons at every stage</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3</a:t>
            </a:r>
            <a:endParaRPr lang="en-US" sz="1600" dirty="0"/>
          </a:p>
        </p:txBody>
      </p:sp>
      <p:pic>
        <p:nvPicPr>
          <p:cNvPr id="4" name="Image 0" descr="fig1_architecture.png">    </p:cNvPr>
          <p:cNvPicPr>
            <a:picLocks noChangeAspect="1"/>
          </p:cNvPicPr>
          <p:nvPr/>
        </p:nvPicPr>
        <p:blipFill>
          <a:blip r:embed="rId1"/>
          <a:stretch>
            <a:fillRect/>
          </a:stretch>
        </p:blipFill>
        <p:spPr>
          <a:xfrm>
            <a:off x="502920" y="1234440"/>
            <a:ext cx="6949440" cy="3511296"/>
          </a:xfrm>
          <a:prstGeom prst="rect">
            <a:avLst/>
          </a:prstGeom>
        </p:spPr>
      </p:pic>
      <p:sp>
        <p:nvSpPr>
          <p:cNvPr id="5" name="Text 2"/>
          <p:cNvSpPr/>
          <p:nvPr/>
        </p:nvSpPr>
        <p:spPr>
          <a:xfrm>
            <a:off x="502920" y="4892040"/>
            <a:ext cx="6949440" cy="548640"/>
          </a:xfrm>
          <a:prstGeom prst="rect">
            <a:avLst/>
          </a:prstGeom>
          <a:noFill/>
          <a:ln/>
        </p:spPr>
        <p:txBody>
          <a:bodyPr wrap="square" lIns="0" tIns="0" rIns="0" bIns="0" rtlCol="0" anchor="ctr"/>
          <a:lstStyle/>
          <a:p>
            <a:pPr indent="0" marL="0">
              <a:buNone/>
            </a:pPr>
            <a:r>
              <a:rPr lang="en-US" sz="1250" i="1" dirty="0">
                <a:solidFill>
                  <a:srgbClr val="5A6472"/>
                </a:solidFill>
                <a:latin typeface="Calibri" pitchFamily="34" charset="0"/>
                <a:ea typeface="Calibri" pitchFamily="34" charset="-122"/>
                <a:cs typeface="Calibri" pitchFamily="34" charset="-120"/>
              </a:rPr>
              <a:t>Six-stage pipeline: problem dossier → EDA → feature engineering → modeling → evaluation → submission.</a:t>
            </a:r>
            <a:endParaRPr lang="en-US" sz="1250" dirty="0"/>
          </a:p>
        </p:txBody>
      </p:sp>
      <p:sp>
        <p:nvSpPr>
          <p:cNvPr id="6" name="Text 3"/>
          <p:cNvSpPr/>
          <p:nvPr/>
        </p:nvSpPr>
        <p:spPr>
          <a:xfrm>
            <a:off x="7772400" y="1325880"/>
            <a:ext cx="3931920" cy="457200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LLM decides at every stage; Auto-ML tools (LightGBM / XGBoost / CatBoost / Optuna) do the heavy lifting via the shell.</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Experience library: cross-competition priors, every entry evidence-backed, written back after each run.</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Tree search over candidate configurations is the optimisation loop — ensembles are first-class nodes with OOF caching.</a:t>
            </a:r>
            <a:endParaRPr lang="en-US" sz="1400" dirty="0"/>
          </a:p>
          <a:p>
            <a:pPr marL="342900" indent="-342900">
              <a:spcAft>
                <a:spcPts val="1200"/>
              </a:spcAft>
              <a:buSzPct val="100000"/>
              <a:buChar char="•"/>
            </a:pPr>
            <a:r>
              <a:rPr lang="en-US" sz="1400" dirty="0">
                <a:solidFill>
                  <a:srgbClr val="1C1E21"/>
                </a:solidFill>
                <a:latin typeface="Calibri" pitchFamily="34" charset="0"/>
                <a:ea typeface="Calibri" pitchFamily="34" charset="-122"/>
                <a:cs typeface="Calibri" pitchFamily="34" charset="-120"/>
              </a:rPr>
              <a:t>v5 layer: a problem dossier classifies the task and injects external data upstream, before any modeling.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three agents, real leaderboards</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4</a:t>
            </a:r>
            <a:endParaRPr lang="en-US" sz="1600" dirty="0"/>
          </a:p>
        </p:txBody>
      </p:sp>
      <p:graphicFrame>
        <p:nvGraphicFramePr>
          <p:cNvPr id="4" name="Chart 0" descr=""/>
          <p:cNvGraphicFramePr/>
          <p:nvPr/>
        </p:nvGraphicFramePr>
        <p:xfrm>
          <a:off x="502920" y="1234440"/>
          <a:ext cx="521208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02920" y="4206240"/>
            <a:ext cx="5212080" cy="1005840"/>
          </a:xfrm>
          <a:prstGeom prst="rect">
            <a:avLst/>
          </a:prstGeom>
          <a:noFill/>
          <a:ln/>
        </p:spPr>
        <p:txBody>
          <a:bodyPr wrap="square" lIns="0" tIns="0" rIns="0" bIns="0" rtlCol="0" anchor="ctr"/>
          <a:lstStyle/>
          <a:p>
            <a:pPr indent="0" marL="0">
              <a:buNone/>
            </a:pPr>
            <a:r>
              <a:rPr lang="en-US" sz="1250" dirty="0">
                <a:solidFill>
                  <a:srgbClr val="5A6472"/>
                </a:solidFill>
                <a:latin typeface="Calibri" pitchFamily="34" charset="0"/>
                <a:ea typeface="Calibri" pitchFamily="34" charset="-122"/>
                <a:cs typeface="Calibri" pitchFamily="34" charset="-120"/>
              </a:rPr>
              <a:t>27% of all duels are undecidable at the measurable error scale; verdicts come from a paired test built on Kaggle's own public/private split. Median percentile rank: my-agent 72.3, NVIDIA 68.0, AIDE 68.7. Standings are the pre-v5 baseline lanes; the Stage-0.5 re-run replaces them once scored.</a:t>
            </a:r>
            <a:endParaRPr lang="en-US" sz="1250" dirty="0"/>
          </a:p>
        </p:txBody>
      </p:sp>
      <p:sp>
        <p:nvSpPr>
          <p:cNvPr id="6" name="Text 3"/>
          <p:cNvSpPr/>
          <p:nvPr/>
        </p:nvSpPr>
        <p:spPr>
          <a:xfrm>
            <a:off x="6309360" y="1234440"/>
            <a:ext cx="5394960" cy="365760"/>
          </a:xfrm>
          <a:prstGeom prst="rect">
            <a:avLst/>
          </a:prstGeom>
          <a:noFill/>
          <a:ln/>
        </p:spPr>
        <p:txBody>
          <a:bodyPr wrap="square" lIns="0" tIns="0" rIns="0" bIns="0" rtlCol="0" anchor="ctr"/>
          <a:lstStyle/>
          <a:p>
            <a:pPr indent="0" marL="0">
              <a:buNone/>
            </a:pPr>
            <a:r>
              <a:rPr lang="en-US" sz="1600" b="1" dirty="0">
                <a:solidFill>
                  <a:srgbClr val="0F2A4A"/>
                </a:solidFill>
                <a:latin typeface="Calibri" pitchFamily="34" charset="0"/>
                <a:ea typeface="Calibri" pitchFamily="34" charset="-122"/>
                <a:cs typeface="Calibri" pitchFamily="34" charset="-120"/>
              </a:rPr>
              <a:t>Mid-complexity three-way — my-agent sweeps all three</a:t>
            </a:r>
            <a:endParaRPr lang="en-US" sz="1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309360" y="1691640"/>
          <a:ext cx="5394960" cy="914400"/>
        </p:xfrm>
        <a:graphic>
          <a:graphicData uri="http://schemas.openxmlformats.org/drawingml/2006/table">
            <a:tbl>
              <a:tblPr/>
              <a:tblGrid>
                <a:gridCol w="1737360"/>
                <a:gridCol w="1188720"/>
                <a:gridCol w="914400"/>
                <a:gridCol w="822960"/>
                <a:gridCol w="822960"/>
              </a:tblGrid>
              <a:tr h="310896">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Competition</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Metric</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my-agent</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NVIDIA</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0F2A4A"/>
                          </a:solidFill>
                          <a:latin typeface="Calibri" pitchFamily="34" charset="0"/>
                          <a:ea typeface="Calibri" pitchFamily="34" charset="-122"/>
                          <a:cs typeface="Calibri" pitchFamily="34" charset="-120"/>
                        </a:rPr>
                        <a:t>AIDE</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us-patent (NLP)</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Pearson r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0.86658</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0.86160</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0.65821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ventilator (time series)</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MAE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0.16525</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0.40093</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0.34591</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r h="310896">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SIIM-ISIC (imaging)</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AUC ↑</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b="1" dirty="0">
                          <a:solidFill>
                            <a:srgbClr val="2B6CB0"/>
                          </a:solidFill>
                          <a:latin typeface="Calibri" pitchFamily="34" charset="0"/>
                          <a:ea typeface="Calibri" pitchFamily="34" charset="-122"/>
                          <a:cs typeface="Calibri" pitchFamily="34" charset="-120"/>
                        </a:rPr>
                        <a:t>0.93529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0.89822</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c>
                  <a:txBody>
                    <a:bodyPr/>
                    <a:lstStyle/>
                    <a:p>
                      <a:pPr indent="0" marL="0">
                        <a:buNone/>
                      </a:pPr>
                      <a:r>
                        <a:rPr lang="en-US" sz="1150" dirty="0">
                          <a:solidFill>
                            <a:srgbClr val="1C1E21"/>
                          </a:solidFill>
                          <a:latin typeface="Calibri" pitchFamily="34" charset="0"/>
                          <a:ea typeface="Calibri" pitchFamily="34" charset="-122"/>
                          <a:cs typeface="Calibri" pitchFamily="34" charset="-120"/>
                        </a:rPr>
                        <a:t>0.88579</a:t>
                      </a:r>
                      <a:endParaRPr lang="en-US" sz="1150" dirty="0">
                        <a:latin typeface="Calibri" charset="0"/>
                        <a:ea typeface="Calibri" charset="0"/>
                        <a:cs typeface="Calibri" charset="0"/>
                      </a:endParaRPr>
                    </a:p>
                  </a:txBody>
                  <a:tcPr marL="36576" marR="36576" marT="36576" marB="36576" anchor="ctr">
                    <a:lnL w="6350" cap="flat" cmpd="sng" algn="ctr">
                      <a:solidFill>
                        <a:srgbClr val="DFE5EC"/>
                      </a:solidFill>
                      <a:prstDash val="solid"/>
                      <a:round/>
                      <a:headEnd type="none" w="med" len="med"/>
                      <a:tailEnd type="none" w="med" len="med"/>
                    </a:lnL>
                    <a:lnR w="6350" cap="flat" cmpd="sng" algn="ctr">
                      <a:solidFill>
                        <a:srgbClr val="DFE5EC"/>
                      </a:solidFill>
                      <a:prstDash val="solid"/>
                      <a:round/>
                      <a:headEnd type="none" w="med" len="med"/>
                      <a:tailEnd type="none" w="med" len="med"/>
                    </a:lnR>
                    <a:lnT w="6350" cap="flat" cmpd="sng" algn="ctr">
                      <a:solidFill>
                        <a:srgbClr val="DFE5EC"/>
                      </a:solidFill>
                      <a:prstDash val="solid"/>
                      <a:round/>
                      <a:headEnd type="none" w="med" len="med"/>
                      <a:tailEnd type="none" w="med" len="med"/>
                    </a:lnT>
                    <a:lnB w="6350" cap="flat" cmpd="sng" algn="ctr">
                      <a:solidFill>
                        <a:srgbClr val="DFE5EC"/>
                      </a:solidFill>
                      <a:prstDash val="solid"/>
                      <a:round/>
                      <a:headEnd type="none" w="med" len="med"/>
                      <a:tailEnd type="none" w="med" len="med"/>
                    </a:lnB>
                    <a:solidFill>
                      <a:srgbClr val="FFFFFF"/>
                    </a:solidFill>
                  </a:tcPr>
                </a:tc>
              </a:tr>
            </a:tbl>
          </a:graphicData>
        </a:graphic>
      </p:graphicFrame>
      <p:sp>
        <p:nvSpPr>
          <p:cNvPr id="8" name="Shape 4"/>
          <p:cNvSpPr/>
          <p:nvPr/>
        </p:nvSpPr>
        <p:spPr>
          <a:xfrm>
            <a:off x="6309360" y="3794760"/>
            <a:ext cx="5394960" cy="2148840"/>
          </a:xfrm>
          <a:prstGeom prst="roundRect">
            <a:avLst>
              <a:gd name="adj" fmla="val 3404"/>
            </a:avLst>
          </a:prstGeom>
          <a:solidFill>
            <a:srgbClr val="F4F7FB"/>
          </a:solidFill>
          <a:ln w="12700">
            <a:solidFill>
              <a:srgbClr val="A8BDD4"/>
            </a:solidFill>
            <a:prstDash val="solid"/>
          </a:ln>
        </p:spPr>
      </p:sp>
      <p:sp>
        <p:nvSpPr>
          <p:cNvPr id="9" name="Text 5"/>
          <p:cNvSpPr/>
          <p:nvPr/>
        </p:nvSpPr>
        <p:spPr>
          <a:xfrm>
            <a:off x="6537960" y="3931920"/>
            <a:ext cx="4937760" cy="1874520"/>
          </a:xfrm>
          <a:prstGeom prst="rect">
            <a:avLst/>
          </a:prstGeom>
          <a:noFill/>
          <a:ln/>
        </p:spPr>
        <p:txBody>
          <a:bodyPr wrap="square" lIns="0" tIns="0" rIns="0" bIns="0" rtlCol="0" anchor="ctr"/>
          <a:lstStyle/>
          <a:p>
            <a:pPr indent="0" marL="0">
              <a:spcAft>
                <a:spcPts val="800"/>
              </a:spcAft>
              <a:buNone/>
            </a:pPr>
            <a:r>
              <a:rPr lang="en-US" sz="1500" b="1" dirty="0">
                <a:solidFill>
                  <a:srgbClr val="0F2A4A"/>
                </a:solidFill>
                <a:latin typeface="Calibri" pitchFamily="34" charset="0"/>
                <a:ea typeface="Calibri" pitchFamily="34" charset="-122"/>
                <a:cs typeface="Calibri" pitchFamily="34" charset="-120"/>
              </a:rPr>
              <a:t>Final-architecture re-run — in progress</a:t>
            </a:r>
            <a:endParaRPr lang="en-US" sz="1500" dirty="0"/>
          </a:p>
          <a:p>
            <a:pPr indent="0" marL="0">
              <a:spcAft>
                <a:spcPts val="800"/>
              </a:spcAft>
              <a:buNone/>
            </a:pPr>
            <a:r>
              <a:rPr lang="en-US" sz="1250" dirty="0">
                <a:solidFill>
                  <a:srgbClr val="1C1E21"/>
                </a:solidFill>
                <a:latin typeface="Calibri" pitchFamily="34" charset="0"/>
                <a:ea typeface="Calibri" pitchFamily="34" charset="-122"/>
                <a:cs typeface="Calibri" pitchFamily="34" charset="-120"/>
              </a:rPr>
              <a:t>All 20 competitions re-run under one frozen architecture, in credential-free sandboxes with per-lane transcript audits. 16/20 lanes run (one pending audit review), 1 running, 3 queued.</a:t>
            </a:r>
            <a:endParaRPr lang="en-US" sz="1500" dirty="0"/>
          </a:p>
          <a:p>
            <a:pPr indent="0" marL="0">
              <a:spcAft>
                <a:spcPts val="800"/>
              </a:spcAft>
              <a:buNone/>
            </a:pPr>
            <a:r>
              <a:rPr lang="en-US" sz="1250" b="1" dirty="0">
                <a:solidFill>
                  <a:srgbClr val="8A6D1A"/>
                </a:solidFill>
                <a:latin typeface="Calibri" pitchFamily="34" charset="0"/>
                <a:ea typeface="Calibri" pitchFamily="34" charset="-122"/>
                <a:cs typeface="Calibri" pitchFamily="34" charset="-120"/>
              </a:rPr>
              <a:t>Leaderboard scores: TBD until the credentialed scoring step.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Results — the agent's visualization output</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5</a:t>
            </a:r>
            <a:endParaRPr lang="en-US" sz="1600" dirty="0"/>
          </a:p>
        </p:txBody>
      </p:sp>
      <p:pic>
        <p:nvPicPr>
          <p:cNvPr id="4" name="Image 0" descr="eda_target.png">    </p:cNvPr>
          <p:cNvPicPr>
            <a:picLocks noChangeAspect="1"/>
          </p:cNvPicPr>
          <p:nvPr/>
        </p:nvPicPr>
        <p:blipFill>
          <a:blip r:embed="rId1"/>
          <a:stretch>
            <a:fillRect/>
          </a:stretch>
        </p:blipFill>
        <p:spPr>
          <a:xfrm>
            <a:off x="502920" y="1325880"/>
            <a:ext cx="5440680" cy="3886200"/>
          </a:xfrm>
          <a:prstGeom prst="rect">
            <a:avLst/>
          </a:prstGeom>
        </p:spPr>
      </p:pic>
      <p:pic>
        <p:nvPicPr>
          <p:cNvPr id="5" name="Image 1" descr="eda_temporal.png">    </p:cNvPr>
          <p:cNvPicPr>
            <a:picLocks noChangeAspect="1"/>
          </p:cNvPicPr>
          <p:nvPr/>
        </p:nvPicPr>
        <p:blipFill>
          <a:blip r:embed="rId2"/>
          <a:stretch>
            <a:fillRect/>
          </a:stretch>
        </p:blipFill>
        <p:spPr>
          <a:xfrm>
            <a:off x="6263640" y="1325880"/>
            <a:ext cx="5440680" cy="3886200"/>
          </a:xfrm>
          <a:prstGeom prst="rect">
            <a:avLst/>
          </a:prstGeom>
        </p:spPr>
      </p:pic>
      <p:sp>
        <p:nvSpPr>
          <p:cNvPr id="6" name="Text 2"/>
          <p:cNvSpPr/>
          <p:nvPr/>
        </p:nvSpPr>
        <p:spPr>
          <a:xfrm>
            <a:off x="502920" y="5394960"/>
            <a:ext cx="11201400" cy="822960"/>
          </a:xfrm>
          <a:prstGeom prst="rect">
            <a:avLst/>
          </a:prstGeom>
          <a:noFill/>
          <a:ln/>
        </p:spPr>
        <p:txBody>
          <a:bodyPr wrap="square" lIns="0" tIns="0" rIns="0" bIns="0" rtlCol="0" anchor="ctr"/>
          <a:lstStyle/>
          <a:p>
            <a:pPr indent="0" marL="0">
              <a:buNone/>
            </a:pPr>
            <a:r>
              <a:rPr lang="en-US" sz="1300" dirty="0">
                <a:solidFill>
                  <a:srgbClr val="5A6472"/>
                </a:solidFill>
                <a:latin typeface="Calibri" pitchFamily="34" charset="0"/>
                <a:ea typeface="Calibri" pitchFamily="34" charset="-122"/>
                <a:cs typeface="Calibri" pitchFamily="34" charset="-120"/>
              </a:rPr>
              <a:t>Agent-generated EDA, produced automatically before modeling (energy-prosumer example): target distributions by segment (left) and temporal consumption/production patterns (right). The same pipeline emits 22 per-competition ML-spec reports and its own architecture flowcharts.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0515600" cy="685800"/>
          </a:xfrm>
          <a:prstGeom prst="rect">
            <a:avLst/>
          </a:prstGeom>
          <a:noFill/>
          <a:ln/>
        </p:spPr>
        <p:txBody>
          <a:bodyPr wrap="square" lIns="0" tIns="0" rIns="0" bIns="0" rtlCol="0" anchor="ctr"/>
          <a:lstStyle/>
          <a:p>
            <a:pPr indent="0" marL="0">
              <a:buNone/>
            </a:pPr>
            <a:r>
              <a:rPr lang="en-US" sz="3000" b="1" dirty="0">
                <a:solidFill>
                  <a:srgbClr val="0F2A4A"/>
                </a:solidFill>
                <a:latin typeface="Cambria" pitchFamily="34" charset="0"/>
                <a:ea typeface="Cambria" pitchFamily="34" charset="-122"/>
                <a:cs typeface="Cambria" pitchFamily="34" charset="-120"/>
              </a:rPr>
              <a:t>What I expected vs. what I experienced</a:t>
            </a:r>
            <a:endParaRPr lang="en-US" sz="3000" dirty="0"/>
          </a:p>
        </p:txBody>
      </p:sp>
      <p:sp>
        <p:nvSpPr>
          <p:cNvPr id="3" name="Text 1"/>
          <p:cNvSpPr/>
          <p:nvPr/>
        </p:nvSpPr>
        <p:spPr>
          <a:xfrm>
            <a:off x="11292840" y="256032"/>
            <a:ext cx="548640" cy="685800"/>
          </a:xfrm>
          <a:prstGeom prst="rect">
            <a:avLst/>
          </a:prstGeom>
          <a:noFill/>
          <a:ln/>
        </p:spPr>
        <p:txBody>
          <a:bodyPr wrap="square" lIns="0" tIns="0" rIns="0" bIns="0" rtlCol="0" anchor="ctr"/>
          <a:lstStyle/>
          <a:p>
            <a:pPr algn="r" indent="0" marL="0">
              <a:buNone/>
            </a:pPr>
            <a:r>
              <a:rPr lang="en-US" sz="1600" dirty="0">
                <a:solidFill>
                  <a:srgbClr val="A8BDD4"/>
                </a:solidFill>
                <a:latin typeface="Calibri" pitchFamily="34" charset="0"/>
                <a:ea typeface="Calibri" pitchFamily="34" charset="-122"/>
                <a:cs typeface="Calibri" pitchFamily="34" charset="-120"/>
              </a:rPr>
              <a:t>6</a:t>
            </a:r>
            <a:endParaRPr lang="en-US" sz="1600" dirty="0"/>
          </a:p>
        </p:txBody>
      </p:sp>
      <p:sp>
        <p:nvSpPr>
          <p:cNvPr id="4" name="Text 2"/>
          <p:cNvSpPr/>
          <p:nvPr/>
        </p:nvSpPr>
        <p:spPr>
          <a:xfrm>
            <a:off x="502920" y="1097280"/>
            <a:ext cx="5120640" cy="365760"/>
          </a:xfrm>
          <a:prstGeom prst="rect">
            <a:avLst/>
          </a:prstGeom>
          <a:noFill/>
          <a:ln/>
        </p:spPr>
        <p:txBody>
          <a:bodyPr wrap="square" lIns="0" tIns="0" rIns="0" bIns="0" rtlCol="0" anchor="ctr"/>
          <a:lstStyle/>
          <a:p>
            <a:pPr indent="0" marL="0">
              <a:buNone/>
            </a:pPr>
            <a:r>
              <a:rPr lang="en-US" sz="1700" b="1" dirty="0">
                <a:solidFill>
                  <a:srgbClr val="5A6472"/>
                </a:solidFill>
                <a:latin typeface="Calibri" pitchFamily="34" charset="0"/>
                <a:ea typeface="Calibri" pitchFamily="34" charset="-122"/>
                <a:cs typeface="Calibri" pitchFamily="34" charset="-120"/>
              </a:rPr>
              <a:t>Expected</a:t>
            </a:r>
            <a:endParaRPr lang="en-US" sz="1700" dirty="0"/>
          </a:p>
        </p:txBody>
      </p:sp>
      <p:sp>
        <p:nvSpPr>
          <p:cNvPr id="5" name="Text 3"/>
          <p:cNvSpPr/>
          <p:nvPr/>
        </p:nvSpPr>
        <p:spPr>
          <a:xfrm>
            <a:off x="6035040" y="1097280"/>
            <a:ext cx="557784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Experienced</a:t>
            </a:r>
            <a:endParaRPr lang="en-US" sz="1700" dirty="0"/>
          </a:p>
        </p:txBody>
      </p:sp>
      <p:sp>
        <p:nvSpPr>
          <p:cNvPr id="6" name="Shape 4"/>
          <p:cNvSpPr/>
          <p:nvPr/>
        </p:nvSpPr>
        <p:spPr>
          <a:xfrm>
            <a:off x="502920" y="1554480"/>
            <a:ext cx="5120640" cy="1115568"/>
          </a:xfrm>
          <a:prstGeom prst="roundRect">
            <a:avLst>
              <a:gd name="adj" fmla="val 4918"/>
            </a:avLst>
          </a:prstGeom>
          <a:solidFill>
            <a:srgbClr val="F4F7FB"/>
          </a:solidFill>
          <a:ln w="9525">
            <a:solidFill>
              <a:srgbClr val="E4E9F0"/>
            </a:solidFill>
            <a:prstDash val="solid"/>
          </a:ln>
        </p:spPr>
      </p:sp>
      <p:sp>
        <p:nvSpPr>
          <p:cNvPr id="7" name="Text 5"/>
          <p:cNvSpPr/>
          <p:nvPr/>
        </p:nvSpPr>
        <p:spPr>
          <a:xfrm>
            <a:off x="685800" y="1627632"/>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would quickly beat most humans.</a:t>
            </a:r>
            <a:endParaRPr lang="en-US" sz="1300" dirty="0"/>
          </a:p>
        </p:txBody>
      </p:sp>
      <p:sp>
        <p:nvSpPr>
          <p:cNvPr id="8" name="Shape 6"/>
          <p:cNvSpPr/>
          <p:nvPr/>
        </p:nvSpPr>
        <p:spPr>
          <a:xfrm>
            <a:off x="6035040" y="1554480"/>
            <a:ext cx="5623560" cy="1115568"/>
          </a:xfrm>
          <a:prstGeom prst="roundRect">
            <a:avLst>
              <a:gd name="adj" fmla="val 4918"/>
            </a:avLst>
          </a:prstGeom>
          <a:solidFill>
            <a:srgbClr val="FFFFFF"/>
          </a:solidFill>
          <a:ln w="12700">
            <a:solidFill>
              <a:srgbClr val="A8BDD4"/>
            </a:solidFill>
            <a:prstDash val="solid"/>
          </a:ln>
        </p:spPr>
      </p:sp>
      <p:sp>
        <p:nvSpPr>
          <p:cNvPr id="9" name="Text 7"/>
          <p:cNvSpPr/>
          <p:nvPr/>
        </p:nvSpPr>
        <p:spPr>
          <a:xfrm>
            <a:off x="6217920" y="1627632"/>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Median percentile 72.3 — above average; wins concentrate where no mature public solutions exist.</a:t>
            </a:r>
            <a:endParaRPr lang="en-US" sz="1300" dirty="0"/>
          </a:p>
        </p:txBody>
      </p:sp>
      <p:sp>
        <p:nvSpPr>
          <p:cNvPr id="10" name="Shape 8"/>
          <p:cNvSpPr/>
          <p:nvPr/>
        </p:nvSpPr>
        <p:spPr>
          <a:xfrm>
            <a:off x="502920" y="2816352"/>
            <a:ext cx="5120640" cy="1115568"/>
          </a:xfrm>
          <a:prstGeom prst="roundRect">
            <a:avLst>
              <a:gd name="adj" fmla="val 4918"/>
            </a:avLst>
          </a:prstGeom>
          <a:solidFill>
            <a:srgbClr val="F4F7FB"/>
          </a:solidFill>
          <a:ln w="9525">
            <a:solidFill>
              <a:srgbClr val="E4E9F0"/>
            </a:solidFill>
            <a:prstDash val="solid"/>
          </a:ln>
        </p:spPr>
      </p:sp>
      <p:sp>
        <p:nvSpPr>
          <p:cNvPr id="11" name="Text 9"/>
          <p:cNvSpPr/>
          <p:nvPr/>
        </p:nvSpPr>
        <p:spPr>
          <a:xfrm>
            <a:off x="685800" y="2889504"/>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One run and one score decide a winner.</a:t>
            </a:r>
            <a:endParaRPr lang="en-US" sz="1300" dirty="0"/>
          </a:p>
        </p:txBody>
      </p:sp>
      <p:sp>
        <p:nvSpPr>
          <p:cNvPr id="12" name="Shape 10"/>
          <p:cNvSpPr/>
          <p:nvPr/>
        </p:nvSpPr>
        <p:spPr>
          <a:xfrm>
            <a:off x="6035040" y="2816352"/>
            <a:ext cx="5623560" cy="1115568"/>
          </a:xfrm>
          <a:prstGeom prst="roundRect">
            <a:avLst>
              <a:gd name="adj" fmla="val 4918"/>
            </a:avLst>
          </a:prstGeom>
          <a:solidFill>
            <a:srgbClr val="FFFFFF"/>
          </a:solidFill>
          <a:ln w="12700">
            <a:solidFill>
              <a:srgbClr val="A8BDD4"/>
            </a:solidFill>
            <a:prstDash val="solid"/>
          </a:ln>
        </p:spPr>
      </p:sp>
      <p:sp>
        <p:nvSpPr>
          <p:cNvPr id="13" name="Text 11"/>
          <p:cNvSpPr/>
          <p:nvPr/>
        </p:nvSpPr>
        <p:spPr>
          <a:xfrm>
            <a:off x="6217920" y="2889504"/>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Score noise + run variance leave 27% of duels undecidable; a paired error model became mandatory.</a:t>
            </a:r>
            <a:endParaRPr lang="en-US" sz="1300" dirty="0"/>
          </a:p>
        </p:txBody>
      </p:sp>
      <p:sp>
        <p:nvSpPr>
          <p:cNvPr id="14" name="Shape 12"/>
          <p:cNvSpPr/>
          <p:nvPr/>
        </p:nvSpPr>
        <p:spPr>
          <a:xfrm>
            <a:off x="502920" y="4078224"/>
            <a:ext cx="5120640" cy="1115568"/>
          </a:xfrm>
          <a:prstGeom prst="roundRect">
            <a:avLst>
              <a:gd name="adj" fmla="val 4918"/>
            </a:avLst>
          </a:prstGeom>
          <a:solidFill>
            <a:srgbClr val="F4F7FB"/>
          </a:solidFill>
          <a:ln w="9525">
            <a:solidFill>
              <a:srgbClr val="E4E9F0"/>
            </a:solidFill>
            <a:prstDash val="solid"/>
          </a:ln>
        </p:spPr>
      </p:sp>
      <p:sp>
        <p:nvSpPr>
          <p:cNvPr id="15" name="Text 13"/>
          <p:cNvSpPr/>
          <p:nvPr/>
        </p:nvSpPr>
        <p:spPr>
          <a:xfrm>
            <a:off x="685800" y="4151376"/>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The agent follows the rules by default.</a:t>
            </a:r>
            <a:endParaRPr lang="en-US" sz="1300" dirty="0"/>
          </a:p>
        </p:txBody>
      </p:sp>
      <p:sp>
        <p:nvSpPr>
          <p:cNvPr id="16" name="Shape 14"/>
          <p:cNvSpPr/>
          <p:nvPr/>
        </p:nvSpPr>
        <p:spPr>
          <a:xfrm>
            <a:off x="6035040" y="4078224"/>
            <a:ext cx="5623560" cy="1115568"/>
          </a:xfrm>
          <a:prstGeom prst="roundRect">
            <a:avLst>
              <a:gd name="adj" fmla="val 4918"/>
            </a:avLst>
          </a:prstGeom>
          <a:solidFill>
            <a:srgbClr val="FFFFFF"/>
          </a:solidFill>
          <a:ln w="12700">
            <a:solidFill>
              <a:srgbClr val="A8BDD4"/>
            </a:solidFill>
            <a:prstDash val="solid"/>
          </a:ln>
        </p:spPr>
      </p:sp>
      <p:sp>
        <p:nvSpPr>
          <p:cNvPr id="17" name="Text 15"/>
          <p:cNvSpPr/>
          <p:nvPr/>
        </p:nvSpPr>
        <p:spPr>
          <a:xfrm>
            <a:off x="6217920" y="4151376"/>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A transcript audit caught a lane reading its own competition's recorded findings — the clean re-run scored worse, so the advantage was real.</a:t>
            </a:r>
            <a:endParaRPr lang="en-US" sz="1300" dirty="0"/>
          </a:p>
        </p:txBody>
      </p:sp>
      <p:sp>
        <p:nvSpPr>
          <p:cNvPr id="18" name="Shape 16"/>
          <p:cNvSpPr/>
          <p:nvPr/>
        </p:nvSpPr>
        <p:spPr>
          <a:xfrm>
            <a:off x="502920" y="5340096"/>
            <a:ext cx="5120640" cy="1115568"/>
          </a:xfrm>
          <a:prstGeom prst="roundRect">
            <a:avLst>
              <a:gd name="adj" fmla="val 4918"/>
            </a:avLst>
          </a:prstGeom>
          <a:solidFill>
            <a:srgbClr val="F4F7FB"/>
          </a:solidFill>
          <a:ln w="9525">
            <a:solidFill>
              <a:srgbClr val="E4E9F0"/>
            </a:solidFill>
            <a:prstDash val="solid"/>
          </a:ln>
        </p:spPr>
      </p:sp>
      <p:sp>
        <p:nvSpPr>
          <p:cNvPr id="19" name="Text 17"/>
          <p:cNvSpPr/>
          <p:nvPr/>
        </p:nvSpPr>
        <p:spPr>
          <a:xfrm>
            <a:off x="685800" y="5413248"/>
            <a:ext cx="4754880" cy="969264"/>
          </a:xfrm>
          <a:prstGeom prst="rect">
            <a:avLst/>
          </a:prstGeom>
          <a:noFill/>
          <a:ln/>
        </p:spPr>
        <p:txBody>
          <a:bodyPr wrap="square" lIns="0" tIns="0" rIns="0" bIns="0" rtlCol="0" anchor="ctr"/>
          <a:lstStyle/>
          <a:p>
            <a:pPr indent="0" marL="0">
              <a:buNone/>
            </a:pPr>
            <a:r>
              <a:rPr lang="en-US" sz="1300" i="1" dirty="0">
                <a:solidFill>
                  <a:srgbClr val="5A6472"/>
                </a:solidFill>
                <a:latin typeface="Calibri" pitchFamily="34" charset="0"/>
                <a:ea typeface="Calibri" pitchFamily="34" charset="-122"/>
                <a:cs typeface="Calibri" pitchFamily="34" charset="-120"/>
              </a:rPr>
              <a:t>Fairness is mostly a mindset.</a:t>
            </a:r>
            <a:endParaRPr lang="en-US" sz="1300" dirty="0"/>
          </a:p>
        </p:txBody>
      </p:sp>
      <p:sp>
        <p:nvSpPr>
          <p:cNvPr id="20" name="Shape 18"/>
          <p:cNvSpPr/>
          <p:nvPr/>
        </p:nvSpPr>
        <p:spPr>
          <a:xfrm>
            <a:off x="6035040" y="5340096"/>
            <a:ext cx="5623560" cy="1115568"/>
          </a:xfrm>
          <a:prstGeom prst="roundRect">
            <a:avLst>
              <a:gd name="adj" fmla="val 4918"/>
            </a:avLst>
          </a:prstGeom>
          <a:solidFill>
            <a:srgbClr val="FFFFFF"/>
          </a:solidFill>
          <a:ln w="12700">
            <a:solidFill>
              <a:srgbClr val="A8BDD4"/>
            </a:solidFill>
            <a:prstDash val="solid"/>
          </a:ln>
        </p:spPr>
      </p:sp>
      <p:sp>
        <p:nvSpPr>
          <p:cNvPr id="21" name="Text 19"/>
          <p:cNvSpPr/>
          <p:nvPr/>
        </p:nvSpPr>
        <p:spPr>
          <a:xfrm>
            <a:off x="6217920" y="5413248"/>
            <a:ext cx="5257800" cy="969264"/>
          </a:xfrm>
          <a:prstGeom prst="rect">
            <a:avLst/>
          </a:prstGeom>
          <a:noFill/>
          <a:ln/>
        </p:spPr>
        <p:txBody>
          <a:bodyPr wrap="square" lIns="0" tIns="0" rIns="0" bIns="0" rtlCol="0" anchor="ctr"/>
          <a:lstStyle/>
          <a:p>
            <a:pPr indent="0" marL="0">
              <a:buNone/>
            </a:pPr>
            <a:r>
              <a:rPr lang="en-US" sz="1300" dirty="0">
                <a:solidFill>
                  <a:srgbClr val="1C1E21"/>
                </a:solidFill>
                <a:latin typeface="Calibri" pitchFamily="34" charset="0"/>
                <a:ea typeface="Calibri" pitchFamily="34" charset="-122"/>
                <a:cs typeface="Calibri" pitchFamily="34" charset="-120"/>
              </a:rPr>
              <a:t>It is infrastructure: isolated data roots, credential-free sandboxes, per-lane audits — expensive, but without them numbers aren't comparable.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731520" y="502920"/>
            <a:ext cx="1069848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Advice — if you use an AI agent for this</a:t>
            </a:r>
            <a:endParaRPr lang="en-US" sz="3000" dirty="0"/>
          </a:p>
        </p:txBody>
      </p:sp>
      <p:sp>
        <p:nvSpPr>
          <p:cNvPr id="3" name="Text 1"/>
          <p:cNvSpPr/>
          <p:nvPr/>
        </p:nvSpPr>
        <p:spPr>
          <a:xfrm>
            <a:off x="731520" y="1554480"/>
            <a:ext cx="10698480" cy="3566160"/>
          </a:xfrm>
          <a:prstGeom prst="rect">
            <a:avLst/>
          </a:prstGeom>
          <a:noFill/>
          <a:ln/>
        </p:spPr>
        <p:txBody>
          <a:bodyPr wrap="square" lIns="0" tIns="0" rIns="0" bIns="0" rtlCol="0" anchor="ctr"/>
          <a:lstStyle/>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State the error model with every claim. Without an error scale a ranking is noise: 27% of our duels are undecidable, and the winner flips when the evaluation set changes.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Never trust local CV for between-agent claims — score on the real leaderboard.</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Freeze your yardsticks. Improving a baseline mid-study turns the benchmark into an optimisation of the baseline.</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Isolate mechanically, then audit the transcript — reading what the agent actually did catches the leaks you didn't anticipate, in both directions.</a:t>
            </a:r>
            <a:endParaRPr lang="en-US" sz="1650" dirty="0"/>
          </a:p>
          <a:p>
            <a:pPr marL="342900" indent="-342900">
              <a:spcAft>
                <a:spcPts val="1400"/>
              </a:spcAft>
              <a:buSzPct val="100000"/>
              <a:buChar char="•"/>
            </a:pPr>
            <a:r>
              <a:rPr lang="en-US" sz="1650" dirty="0">
                <a:solidFill>
                  <a:srgbClr val="CADCFC"/>
                </a:solidFill>
                <a:latin typeface="Calibri" pitchFamily="34" charset="0"/>
                <a:ea typeface="Calibri" pitchFamily="34" charset="-122"/>
                <a:cs typeface="Calibri" pitchFamily="34" charset="-120"/>
              </a:rPr>
              <a:t>Put knowledge injection upstream: at the blend stage it was worth ~10⁻⁵; moved into problem identification it lifted the canonical failure case from last to first.</a:t>
            </a:r>
            <a:endParaRPr lang="en-US" sz="1650" dirty="0"/>
          </a:p>
        </p:txBody>
      </p:sp>
      <p:sp>
        <p:nvSpPr>
          <p:cNvPr id="4" name="Text 2"/>
          <p:cNvSpPr/>
          <p:nvPr/>
        </p:nvSpPr>
        <p:spPr>
          <a:xfrm>
            <a:off x="731520" y="5897880"/>
            <a:ext cx="10698480" cy="457200"/>
          </a:xfrm>
          <a:prstGeom prst="rect">
            <a:avLst/>
          </a:prstGeom>
          <a:noFill/>
          <a:ln/>
        </p:spPr>
        <p:txBody>
          <a:bodyPr wrap="square" lIns="0" tIns="0" rIns="0" bIns="0" rtlCol="0" anchor="ctr"/>
          <a:lstStyle/>
          <a:p>
            <a:pPr indent="0" marL="0">
              <a:buNone/>
            </a:pPr>
            <a:r>
              <a:rPr lang="en-US" sz="1300" dirty="0">
                <a:solidFill>
                  <a:srgbClr val="A8BDD4"/>
                </a:solidFill>
                <a:latin typeface="Calibri" pitchFamily="34" charset="0"/>
                <a:ea typeface="Calibri" pitchFamily="34" charset="-122"/>
                <a:cs typeface="Calibri" pitchFamily="34" charset="-120"/>
              </a:rPr>
              <a:t>Report v4 · Engineering Log · Case Studies · 22 ML-spec reports  —  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2026-08-17T09:35:46Z</dcterms:created>
  <dcterms:modified xsi:type="dcterms:W3CDTF">2026-08-17T09:35:46Z</dcterms:modified>
</cp:coreProperties>
</file>
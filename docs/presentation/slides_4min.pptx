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2A4A"/>
                </a:solidFill>
                <a:latin typeface="Calibri"/>
              </a:defRPr>
            </a:pPr>
            <a:r>
              <a:rPr sz="1300" b="0" i="0" u="none" strike="noStrike">
                <a:solidFill>
                  <a:srgbClr val="0F2A4A"/>
                </a:solidFill>
                <a:latin typeface="Calibri"/>
              </a:rPr>
              <a:t>Injection-layer ablation, s3e19 private SMAPE (lower = better)</a:t>
            </a:r>
          </a:p>
        </c:rich>
      </c:tx>
      <c:layout/>
      <c:overlay val="0"/>
    </c:title>
    <c:autoTitleDeleted val="0"/>
    <c:plotArea>
      <c:layout/>
      <c:barChart>
        <c:barDir val="bar"/>
        <c:grouping val="clustered"/>
        <c:varyColors val="0"/>
        <c:ser>
          <c:idx val="0"/>
          <c:order val="0"/>
          <c:tx>
            <c:strRef>
              <c:f>Sheet1!$B$1</c:f>
              <c:strCache>
                <c:ptCount val="1"/>
                <c:pt idx="0">
                  <c:v>s3e19 private SMAPE</c:v>
                </c:pt>
              </c:strCache>
            </c:strRef>
          </c:tx>
          <c:spPr>
            <a:solidFill>
              <a:srgbClr val="2B6CB0"/>
            </a:solidFill>
            <a:effectLst/>
          </c:spPr>
          <c:invertIfNegative val="0"/>
          <c:dLbls>
            <c:numFmt formatCode="0.000" sourceLinked="0"/>
            <c:txPr>
              <a:bodyPr/>
              <a:lstStyle/>
              <a:p>
                <a:pPr>
                  <a:defRPr b="0" i="0" strike="noStrike" sz="1100" u="none">
                    <a:solidFill>
                      <a:srgbClr val="1C1E21"/>
                    </a:solidFill>
                    <a:latin typeface="Calibri"/>
                  </a:defRPr>
                </a:pPr>
              </a:p>
            </c:txPr>
            <c:showLegendKey val="0"/>
            <c:showVal val="1"/>
            <c:showCatName val="0"/>
            <c:showSerName val="0"/>
            <c:showPercent val="0"/>
            <c:showBubbleSize val="0"/>
            <c:showLeaderLines val="0"/>
          </c:dLbls>
          <c:dPt>
            <c:idx val="0"/>
            <c:invertIfNegative val="0"/>
            <c:bubble3D val="0"/>
            <c:spPr>
              <a:solidFill>
                <a:srgbClr val="2B6CB0"/>
              </a:solidFill>
              <a:effectLst/>
            </c:spPr>
          </c:dPt>
          <c:dPt>
            <c:idx val="1"/>
            <c:invertIfNegative val="0"/>
            <c:bubble3D val="0"/>
            <c:spPr>
              <a:solidFill>
                <a:srgbClr val="A8BDD4"/>
              </a:solidFill>
              <a:effectLst/>
            </c:spPr>
          </c:dPt>
          <c:dPt>
            <c:idx val="2"/>
            <c:invertIfNegative val="0"/>
            <c:bubble3D val="0"/>
            <c:spPr>
              <a:solidFill>
                <a:srgbClr val="A8BDD4"/>
              </a:solidFill>
              <a:effectLst/>
            </c:spPr>
          </c:dPt>
          <c:dPt>
            <c:idx val="3"/>
            <c:invertIfNegative val="0"/>
            <c:bubble3D val="0"/>
            <c:spPr>
              <a:solidFill>
                <a:srgbClr val="A8BDD4"/>
              </a:solidFill>
              <a:effectLst/>
            </c:spPr>
          </c:dPt>
          <c:cat>
            <c:multiLvlStrRef>
              <c:f>Sheet1!$A$2:$A$5</c:f>
              <c:multiLvlStrCache>
                <c:ptCount val="4"/>
                <c:lvl>
                  <c:pt idx="0">
                    <c:v>with layer</c:v>
                  </c:pt>
                  <c:pt idx="1">
                    <c:v>NVIDIA</c:v>
                  </c:pt>
                  <c:pt idx="2">
                    <c:v>AIDE</c:v>
                  </c:pt>
                  <c:pt idx="3">
                    <c:v>no layer</c:v>
                  </c:pt>
                </c:lvl>
              </c:multiLvlStrCache>
            </c:multiLvlStrRef>
          </c:cat>
          <c:val>
            <c:numRef>
              <c:f>Sheet1!$B$2:$B$5</c:f>
              <c:numCache>
                <c:formatCode>General</c:formatCode>
                <c:ptCount val="4"/>
                <c:pt idx="0">
                  <c:v>48.243</c:v>
                </c:pt>
                <c:pt idx="1">
                  <c:v>48.26558</c:v>
                </c:pt>
                <c:pt idx="2">
                  <c:v>48.34131</c:v>
                </c:pt>
                <c:pt idx="3">
                  <c:v>50.455</c:v>
                </c:pt>
              </c:numCache>
            </c:numRef>
          </c:val>
        </c:ser>
        <c:dLbls>
          <c:numFmt formatCode="0.000" sourceLinked="0"/>
          <c:txPr>
            <a:bodyPr/>
            <a:lstStyle/>
            <a:p>
              <a:pPr>
                <a:defRPr b="0" i="0" strike="noStrike" sz="1100" u="none">
                  <a:solidFill>
                    <a:srgbClr val="1C1E21"/>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C1E21"/>
                </a:solidFill>
                <a:latin typeface="Calibri"/>
              </a:defRPr>
            </a:pPr>
            <a:endParaRPr lang="en-US"/>
          </a:p>
        </c:txPr>
        <c:crossAx val="2094734552"/>
        <c:crosses val="autoZero"/>
        <c:auto val="1"/>
        <c:lblAlgn val="ctr"/>
        <c:noMultiLvlLbl val="1"/>
      </c:catAx>
      <c:valAx>
        <c:axId val="2094734552"/>
        <c:scaling>
          <c:orientation val="minMax"/>
          <c:max val="51"/>
          <c:min val="47"/>
        </c:scaling>
        <c:delete val="0"/>
        <c:axPos val="b"/>
        <c:majorGridlines>
          <c:spPr>
            <a:ln w="6350" cap="flat">
              <a:solidFill>
                <a:srgbClr val="E4E9F0"/>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4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what I built, how it works, what it scored, what surprised me, and what I would tell the next person. (10s)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Kaggle is the full expert loop, and the margins are at the fourth decimal. The obvious compass — your own cross-validation — can be off by an order of magnitude: 6.71 out-of-fold became 49.41 on the real leaderboard. An agent fits because it is tireless, holds one protocol across 20 competitions, and documents everything it does. (35s)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workflow: data ingestion, a problem dossier, EDA, features, modeling, evaluation, submission. The LLM reasons at every stage and drives Auto-ML tools through the shell. Two things make it more than a script: an evidence-backed experience library shared across competitions, and a tree search where ensembles are first-class nodes. (40s)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Nineteen of twenty lanes are scored on the real leaderboard under the frozen architecture: fifteen wins, seven losses — sixty-eight percent — against forty-four percent for AIDE and forty for NVIDIA, with the best private score on ten of nineteen. The injection layer turns our worst competition into a numerical first among the three agents, six of six controlled arms beat their baselines, and on the three harder competitions outside tabular data my agent takes the best score on all three. (45s)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visualization half: before any modeling, the agent draws its own diagnostics — distributions, temporal patterns, drift checks — and it writes 22 per-competition specification reports. Every figure you see in the report and the poster was produced by the pipeline itself. (25s)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surprised me. I expected the agent to beat most humans quickly — it wins fifteen of its twenty-two decided duels, and its edge concentrates where no mature public solutions exist. I expected one score to decide a winner — close duels are undecidable without a paired error model. And I expected rule-following by default — the transcript audit proved otherwise once, and proved itself once by a false positive. (40s)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do this yourself: state an error model with every claim, never trust local CV between agents, freeze your yardsticks, isolate mechanically and then read the transcript, and put knowledge injection upstream. Everything is in report v6 and the repository. Thank you. (25s)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A"/>
        </a:solidFill>
      </p:bgPr>
    </p:bg>
    <p:spTree>
      <p:nvGrpSpPr>
        <p:cNvPr id="1" name=""/>
        <p:cNvGrpSpPr/>
        <p:nvPr/>
      </p:nvGrpSpPr>
      <p:grpSpPr>
        <a:xfrm>
          <a:off x="0" y="0"/>
          <a:ext cx="0" cy="0"/>
          <a:chOff x="0" y="0"/>
          <a:chExt cx="0" cy="0"/>
        </a:xfrm>
      </p:grpSpPr>
      <p:sp>
        <p:nvSpPr>
          <p:cNvPr id="2" name="Text 0"/>
          <p:cNvSpPr/>
          <p:nvPr/>
        </p:nvSpPr>
        <p:spPr>
          <a:xfrm>
            <a:off x="731520" y="1737360"/>
            <a:ext cx="10698480" cy="201168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AI Agents for Data Visualization</a:t>
            </a:r>
            <a:endParaRPr lang="en-US" sz="4400" dirty="0"/>
          </a:p>
          <a:p>
            <a:pPr indent="0" marL="0">
              <a:buNone/>
            </a:pPr>
            <a:r>
              <a:rPr lang="en-US" sz="4400" b="1" dirty="0">
                <a:solidFill>
                  <a:srgbClr val="FFFFFF"/>
                </a:solidFill>
                <a:latin typeface="Cambria" pitchFamily="34" charset="0"/>
                <a:ea typeface="Cambria" pitchFamily="34" charset="-122"/>
                <a:cs typeface="Cambria" pitchFamily="34" charset="-120"/>
              </a:rPr>
              <a:t>and Kaggle Competitions</a:t>
            </a:r>
            <a:endParaRPr lang="en-US" sz="4400" dirty="0"/>
          </a:p>
        </p:txBody>
      </p:sp>
      <p:sp>
        <p:nvSpPr>
          <p:cNvPr id="3" name="Text 1"/>
          <p:cNvSpPr/>
          <p:nvPr/>
        </p:nvSpPr>
        <p:spPr>
          <a:xfrm>
            <a:off x="731520" y="3794760"/>
            <a:ext cx="10058400" cy="6400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An end-to-end LLM agent, benchmarked against two frozen yardsticks on 20 Kaggle competitions</a:t>
            </a:r>
            <a:endParaRPr lang="en-US" sz="2000" dirty="0"/>
          </a:p>
        </p:txBody>
      </p:sp>
      <p:sp>
        <p:nvSpPr>
          <p:cNvPr id="4" name="Text 2"/>
          <p:cNvSpPr/>
          <p:nvPr/>
        </p:nvSpPr>
        <p:spPr>
          <a:xfrm>
            <a:off x="731520" y="5760720"/>
            <a:ext cx="10058400" cy="457200"/>
          </a:xfrm>
          <a:prstGeom prst="rect">
            <a:avLst/>
          </a:prstGeom>
          <a:noFill/>
          <a:ln/>
        </p:spPr>
        <p:txBody>
          <a:bodyPr wrap="square" lIns="0" tIns="0" rIns="0" bIns="0" rtlCol="0" anchor="ctr"/>
          <a:lstStyle/>
          <a:p>
            <a:pPr indent="0" marL="0">
              <a:buNone/>
            </a:pPr>
            <a:r>
              <a:rPr lang="en-US" sz="1400" dirty="0">
                <a:solidFill>
                  <a:srgbClr val="A8BDD4"/>
                </a:solidFill>
                <a:latin typeface="Calibri" pitchFamily="34" charset="0"/>
                <a:ea typeface="Calibri" pitchFamily="34" charset="-122"/>
                <a:cs typeface="Calibri" pitchFamily="34" charset="-120"/>
              </a:rPr>
              <a:t>Wei-Hao Huang  ·  Academia Sinica ISS Summer Internship 2026  ·  Report v6 (2026-08-18)</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Motivation — why these tasks, why an agent</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2</a:t>
            </a:r>
            <a:endParaRPr lang="en-US" sz="1600" dirty="0"/>
          </a:p>
        </p:txBody>
      </p:sp>
      <p:sp>
        <p:nvSpPr>
          <p:cNvPr id="4" name="Text 2"/>
          <p:cNvSpPr/>
          <p:nvPr/>
        </p:nvSpPr>
        <p:spPr>
          <a:xfrm>
            <a:off x="502920" y="1097280"/>
            <a:ext cx="5394960" cy="365760"/>
          </a:xfrm>
          <a:prstGeom prst="rect">
            <a:avLst/>
          </a:prstGeom>
          <a:noFill/>
          <a:ln/>
        </p:spPr>
        <p:txBody>
          <a:bodyPr wrap="square" lIns="0" tIns="0" rIns="0" bIns="0" rtlCol="0" anchor="ctr"/>
          <a:lstStyle/>
          <a:p>
            <a:pPr indent="0" marL="0">
              <a:buNone/>
            </a:pPr>
            <a:r>
              <a:rPr lang="en-US" sz="1800" b="1" dirty="0">
                <a:solidFill>
                  <a:srgbClr val="0F2A4A"/>
                </a:solidFill>
                <a:latin typeface="Calibri" pitchFamily="34" charset="0"/>
                <a:ea typeface="Calibri" pitchFamily="34" charset="-122"/>
                <a:cs typeface="Calibri" pitchFamily="34" charset="-120"/>
              </a:rPr>
              <a:t>The challenge</a:t>
            </a:r>
            <a:endParaRPr lang="en-US" sz="1800" dirty="0"/>
          </a:p>
        </p:txBody>
      </p:sp>
      <p:sp>
        <p:nvSpPr>
          <p:cNvPr id="5" name="Text 3"/>
          <p:cNvSpPr/>
          <p:nvPr/>
        </p:nvSpPr>
        <p:spPr>
          <a:xfrm>
            <a:off x="502920" y="1508760"/>
            <a:ext cx="5394960" cy="3291840"/>
          </a:xfrm>
          <a:prstGeom prst="rect">
            <a:avLst/>
          </a:prstGeom>
          <a:noFill/>
          <a:ln/>
        </p:spPr>
        <p:txBody>
          <a:bodyPr wrap="square" lIns="0" tIns="0" rIns="0" bIns="0" rtlCol="0" anchor="ctr"/>
          <a:lstStyle/>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Kaggle demands the full expert loop — validation design, features, model selection, ensembling.</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Top entries differ at the 4th–5th decimal of the metric; intuition cannot rank them.</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Local cross-validation misleads: one competition scored 6.71 out-of-fold yet 49.41 on the real leaderboard.</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EDA and diagnostic visualization are essential but repetitive for every new dataset.</a:t>
            </a:r>
            <a:endParaRPr lang="en-US" sz="1500" dirty="0"/>
          </a:p>
        </p:txBody>
      </p:sp>
      <p:sp>
        <p:nvSpPr>
          <p:cNvPr id="6" name="Text 4"/>
          <p:cNvSpPr/>
          <p:nvPr/>
        </p:nvSpPr>
        <p:spPr>
          <a:xfrm>
            <a:off x="6309360" y="1097280"/>
            <a:ext cx="5394960" cy="365760"/>
          </a:xfrm>
          <a:prstGeom prst="rect">
            <a:avLst/>
          </a:prstGeom>
          <a:noFill/>
          <a:ln/>
        </p:spPr>
        <p:txBody>
          <a:bodyPr wrap="square" lIns="0" tIns="0" rIns="0" bIns="0" rtlCol="0" anchor="ctr"/>
          <a:lstStyle/>
          <a:p>
            <a:pPr indent="0" marL="0">
              <a:buNone/>
            </a:pPr>
            <a:r>
              <a:rPr lang="en-US" sz="1800" b="1" dirty="0">
                <a:solidFill>
                  <a:srgbClr val="0F2A4A"/>
                </a:solidFill>
                <a:latin typeface="Calibri" pitchFamily="34" charset="0"/>
                <a:ea typeface="Calibri" pitchFamily="34" charset="-122"/>
                <a:cs typeface="Calibri" pitchFamily="34" charset="-120"/>
              </a:rPr>
              <a:t>Why an AI agent fits</a:t>
            </a:r>
            <a:endParaRPr lang="en-US" sz="1800" dirty="0"/>
          </a:p>
        </p:txBody>
      </p:sp>
      <p:sp>
        <p:nvSpPr>
          <p:cNvPr id="7" name="Text 5"/>
          <p:cNvSpPr/>
          <p:nvPr/>
        </p:nvSpPr>
        <p:spPr>
          <a:xfrm>
            <a:off x="6309360" y="1508760"/>
            <a:ext cx="5394960" cy="2743200"/>
          </a:xfrm>
          <a:prstGeom prst="rect">
            <a:avLst/>
          </a:prstGeom>
          <a:noFill/>
          <a:ln/>
        </p:spPr>
        <p:txBody>
          <a:bodyPr wrap="square" lIns="0" tIns="0" rIns="0" bIns="0" rtlCol="0" anchor="ctr"/>
          <a:lstStyle/>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Tireless systematic search: 37–224 candidate configurations per competition, all logged.</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Holds one disciplined protocol across 20 competitions — humans drift, agents don't.</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Emits EDA figures and per-competition reports automatically; every claim traces to an artifact.</a:t>
            </a:r>
            <a:endParaRPr lang="en-US" sz="1500" dirty="0"/>
          </a:p>
        </p:txBody>
      </p:sp>
      <p:sp>
        <p:nvSpPr>
          <p:cNvPr id="8" name="Shape 6"/>
          <p:cNvSpPr/>
          <p:nvPr/>
        </p:nvSpPr>
        <p:spPr>
          <a:xfrm>
            <a:off x="6309360" y="4572000"/>
            <a:ext cx="5394960" cy="1554480"/>
          </a:xfrm>
          <a:prstGeom prst="roundRect">
            <a:avLst>
              <a:gd name="adj" fmla="val 4706"/>
            </a:avLst>
          </a:prstGeom>
          <a:solidFill>
            <a:srgbClr val="F4F7FB"/>
          </a:solidFill>
          <a:ln w="12700">
            <a:solidFill>
              <a:srgbClr val="A8BDD4"/>
            </a:solidFill>
            <a:prstDash val="solid"/>
          </a:ln>
        </p:spPr>
      </p:sp>
      <p:sp>
        <p:nvSpPr>
          <p:cNvPr id="9" name="Text 7"/>
          <p:cNvSpPr/>
          <p:nvPr/>
        </p:nvSpPr>
        <p:spPr>
          <a:xfrm>
            <a:off x="6537960" y="4709160"/>
            <a:ext cx="4937760" cy="1325880"/>
          </a:xfrm>
          <a:prstGeom prst="rect">
            <a:avLst/>
          </a:prstGeom>
          <a:noFill/>
          <a:ln/>
        </p:spPr>
        <p:txBody>
          <a:bodyPr wrap="square" lIns="0" tIns="0" rIns="0" bIns="0" rtlCol="0" anchor="ctr"/>
          <a:lstStyle/>
          <a:p>
            <a:pPr algn="l" indent="0" marL="0">
              <a:buNone/>
            </a:pPr>
            <a:r>
              <a:rPr lang="en-US" sz="4000" b="1" dirty="0">
                <a:solidFill>
                  <a:srgbClr val="2B6CB0"/>
                </a:solidFill>
                <a:latin typeface="Calibri" pitchFamily="34" charset="0"/>
                <a:ea typeface="Calibri" pitchFamily="34" charset="-122"/>
                <a:cs typeface="Calibri" pitchFamily="34" charset="-120"/>
              </a:rPr>
              <a:t>6.71 → 49.41</a:t>
            </a:r>
            <a:endParaRPr lang="en-US" sz="4000" dirty="0"/>
          </a:p>
          <a:p>
            <a:pPr algn="l" indent="0" marL="0">
              <a:buNone/>
            </a:pPr>
            <a:r>
              <a:rPr lang="en-US" sz="1250" dirty="0">
                <a:solidFill>
                  <a:srgbClr val="5A6472"/>
                </a:solidFill>
                <a:latin typeface="Calibri" pitchFamily="34" charset="0"/>
                <a:ea typeface="Calibri" pitchFamily="34" charset="-122"/>
                <a:cs typeface="Calibri" pitchFamily="34" charset="-120"/>
              </a:rPr>
              <a:t>s3e19: out-of-fold SMAPE vs. realized leaderboard score — the core reason honest measurement needs apparatus</a:t>
            </a:r>
            <a:endParaRPr lang="en-US" sz="4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Workflow — an LLM reasons at every stage</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3</a:t>
            </a:r>
            <a:endParaRPr lang="en-US" sz="1600" dirty="0"/>
          </a:p>
        </p:txBody>
      </p:sp>
      <p:pic>
        <p:nvPicPr>
          <p:cNvPr id="4" name="Image 0" descr="fig1_report-1.png">    </p:cNvPr>
          <p:cNvPicPr>
            <a:picLocks noChangeAspect="1"/>
          </p:cNvPicPr>
          <p:nvPr/>
        </p:nvPicPr>
        <p:blipFill>
          <a:blip r:embed="rId1"/>
          <a:stretch>
            <a:fillRect/>
          </a:stretch>
        </p:blipFill>
        <p:spPr>
          <a:xfrm>
            <a:off x="502920" y="1188720"/>
            <a:ext cx="4754880" cy="4352544"/>
          </a:xfrm>
          <a:prstGeom prst="rect">
            <a:avLst/>
          </a:prstGeom>
        </p:spPr>
      </p:pic>
      <p:sp>
        <p:nvSpPr>
          <p:cNvPr id="5" name="Text 2"/>
          <p:cNvSpPr/>
          <p:nvPr/>
        </p:nvSpPr>
        <p:spPr>
          <a:xfrm>
            <a:off x="502920" y="5669280"/>
            <a:ext cx="4937760" cy="548640"/>
          </a:xfrm>
          <a:prstGeom prst="rect">
            <a:avLst/>
          </a:prstGeom>
          <a:noFill/>
          <a:ln/>
        </p:spPr>
        <p:txBody>
          <a:bodyPr wrap="square" lIns="0" tIns="0" rIns="0" bIns="0" rtlCol="0" anchor="ctr"/>
          <a:lstStyle/>
          <a:p>
            <a:pPr indent="0" marL="0">
              <a:buNone/>
            </a:pPr>
            <a:r>
              <a:rPr lang="en-US" sz="1250" i="1" dirty="0">
                <a:solidFill>
                  <a:srgbClr val="5A6472"/>
                </a:solidFill>
                <a:latin typeface="Calibri" pitchFamily="34" charset="0"/>
                <a:ea typeface="Calibri" pitchFamily="34" charset="-122"/>
                <a:cs typeface="Calibri" pitchFamily="34" charset="-120"/>
              </a:rPr>
              <a:t>Pipeline: dossier → EDA → features → modeling → evaluation → submission → real leaderboard.</a:t>
            </a:r>
            <a:endParaRPr lang="en-US" sz="1250" dirty="0"/>
          </a:p>
        </p:txBody>
      </p:sp>
      <p:sp>
        <p:nvSpPr>
          <p:cNvPr id="6" name="Text 3"/>
          <p:cNvSpPr/>
          <p:nvPr/>
        </p:nvSpPr>
        <p:spPr>
          <a:xfrm>
            <a:off x="5623560" y="1325880"/>
            <a:ext cx="6035040" cy="4572000"/>
          </a:xfrm>
          <a:prstGeom prst="rect">
            <a:avLst/>
          </a:prstGeom>
          <a:noFill/>
          <a:ln/>
        </p:spPr>
        <p:txBody>
          <a:bodyPr wrap="square" lIns="0" tIns="0" rIns="0" bIns="0" rtlCol="0" anchor="ctr"/>
          <a:lstStyle/>
          <a:p>
            <a:pPr marL="342900" indent="-342900">
              <a:spcAft>
                <a:spcPts val="1200"/>
              </a:spcAft>
              <a:buSzPct val="100000"/>
              <a:buChar char="•"/>
            </a:pPr>
            <a:r>
              <a:rPr lang="en-US" sz="1400" dirty="0">
                <a:solidFill>
                  <a:srgbClr val="1C1E21"/>
                </a:solidFill>
                <a:latin typeface="Calibri" pitchFamily="34" charset="0"/>
                <a:ea typeface="Calibri" pitchFamily="34" charset="-122"/>
                <a:cs typeface="Calibri" pitchFamily="34" charset="-120"/>
              </a:rPr>
              <a:t>LLM decides at every stage; Auto-ML tools (LightGBM / XGBoost / CatBoost / Optuna) do the heavy lifting via the shell.</a:t>
            </a:r>
            <a:endParaRPr lang="en-US" sz="1400" dirty="0"/>
          </a:p>
          <a:p>
            <a:pPr marL="342900" indent="-342900">
              <a:spcAft>
                <a:spcPts val="1200"/>
              </a:spcAft>
              <a:buSzPct val="100000"/>
              <a:buChar char="•"/>
            </a:pPr>
            <a:r>
              <a:rPr lang="en-US" sz="1400" dirty="0">
                <a:solidFill>
                  <a:srgbClr val="1C1E21"/>
                </a:solidFill>
                <a:latin typeface="Calibri" pitchFamily="34" charset="0"/>
                <a:ea typeface="Calibri" pitchFamily="34" charset="-122"/>
                <a:cs typeface="Calibri" pitchFamily="34" charset="-120"/>
              </a:rPr>
              <a:t>Experience library: cross-competition priors, every entry evidence-backed, written back after each run.</a:t>
            </a:r>
            <a:endParaRPr lang="en-US" sz="1400" dirty="0"/>
          </a:p>
          <a:p>
            <a:pPr marL="342900" indent="-342900">
              <a:spcAft>
                <a:spcPts val="1200"/>
              </a:spcAft>
              <a:buSzPct val="100000"/>
              <a:buChar char="•"/>
            </a:pPr>
            <a:r>
              <a:rPr lang="en-US" sz="1400" dirty="0">
                <a:solidFill>
                  <a:srgbClr val="1C1E21"/>
                </a:solidFill>
                <a:latin typeface="Calibri" pitchFamily="34" charset="0"/>
                <a:ea typeface="Calibri" pitchFamily="34" charset="-122"/>
                <a:cs typeface="Calibri" pitchFamily="34" charset="-120"/>
              </a:rPr>
              <a:t>Tree search over candidate configurations is the optimisation loop — ensembles are first-class nodes with OOF caching.</a:t>
            </a:r>
            <a:endParaRPr lang="en-US" sz="1400" dirty="0"/>
          </a:p>
          <a:p>
            <a:pPr marL="342900" indent="-342900">
              <a:spcAft>
                <a:spcPts val="1200"/>
              </a:spcAft>
              <a:buSzPct val="100000"/>
              <a:buChar char="•"/>
            </a:pPr>
            <a:r>
              <a:rPr lang="en-US" sz="1400" dirty="0">
                <a:solidFill>
                  <a:srgbClr val="1C1E21"/>
                </a:solidFill>
                <a:latin typeface="Calibri" pitchFamily="34" charset="0"/>
                <a:ea typeface="Calibri" pitchFamily="34" charset="-122"/>
                <a:cs typeface="Calibri" pitchFamily="34" charset="-120"/>
              </a:rPr>
              <a:t>Stage-0.5 dossier (injection layer): classifies the task and injects external data upstream, before any modeling.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Results — my-agent on real leaderboards</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4</a:t>
            </a:r>
            <a:endParaRPr lang="en-US" sz="1600" dirty="0"/>
          </a:p>
        </p:txBody>
      </p:sp>
      <p:graphicFrame>
        <p:nvGraphicFramePr>
          <p:cNvPr id="4" name="Chart 0" descr=""/>
          <p:cNvGraphicFramePr/>
          <p:nvPr/>
        </p:nvGraphicFramePr>
        <p:xfrm>
          <a:off x="502920" y="1234440"/>
          <a:ext cx="5212080" cy="28346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02920" y="4206240"/>
            <a:ext cx="5212080" cy="1371600"/>
          </a:xfrm>
          <a:prstGeom prst="rect">
            <a:avLst/>
          </a:prstGeom>
          <a:noFill/>
          <a:ln/>
        </p:spPr>
        <p:txBody>
          <a:bodyPr wrap="square" lIns="0" tIns="0" rIns="0" bIns="0" rtlCol="0" anchor="ctr"/>
          <a:lstStyle/>
          <a:p>
            <a:pPr indent="0" marL="0">
              <a:buNone/>
            </a:pPr>
            <a:r>
              <a:rPr lang="en-US" sz="1250" dirty="0">
                <a:solidFill>
                  <a:srgbClr val="5A6472"/>
                </a:solidFill>
                <a:latin typeface="Calibri" pitchFamily="34" charset="0"/>
                <a:ea typeface="Calibri" pitchFamily="34" charset="-122"/>
                <a:cs typeface="Calibri" pitchFamily="34" charset="-120"/>
              </a:rPr>
              <a:t>19 of 20 lanes are scored on the real leaderboard, adjudicated by a paired test on Kaggle's public/private split: my-agent stands 15 W / 7 L (68% excl. ties) with the best private score on 10 of 19. On s3e19 the controlled with/without-layer ablation scores 48.243 against 50.455 without the layer, and all 6 of 6 controlled arms beat their matched baselines.</a:t>
            </a:r>
            <a:endParaRPr lang="en-US" sz="1250" dirty="0"/>
          </a:p>
        </p:txBody>
      </p:sp>
      <p:sp>
        <p:nvSpPr>
          <p:cNvPr id="6" name="Text 3"/>
          <p:cNvSpPr/>
          <p:nvPr/>
        </p:nvSpPr>
        <p:spPr>
          <a:xfrm>
            <a:off x="6309360" y="1234440"/>
            <a:ext cx="5394960" cy="36576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Beyond tabular — my-agent beats both yardsticks on all three</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309360" y="1691640"/>
          <a:ext cx="5394960" cy="914400"/>
        </p:xfrm>
        <a:graphic>
          <a:graphicData uri="http://schemas.openxmlformats.org/drawingml/2006/table">
            <a:tbl>
              <a:tblPr/>
              <a:tblGrid>
                <a:gridCol w="1737360"/>
                <a:gridCol w="1188720"/>
                <a:gridCol w="914400"/>
                <a:gridCol w="822960"/>
                <a:gridCol w="822960"/>
              </a:tblGrid>
              <a:tr h="310896">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Competition</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Metric</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my-agent</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NVIDIA</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AIDE</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us-patent (NLP)</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Pearson r ↑</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2B6CB0"/>
                          </a:solidFill>
                          <a:latin typeface="Calibri" pitchFamily="34" charset="0"/>
                          <a:ea typeface="Calibri" pitchFamily="34" charset="-122"/>
                          <a:cs typeface="Calibri" pitchFamily="34" charset="-120"/>
                        </a:rPr>
                        <a:t>0.86658</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0.86160</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0.65821</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ventilator (time series)</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MAE ↓</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2B6CB0"/>
                          </a:solidFill>
                          <a:latin typeface="Calibri" pitchFamily="34" charset="0"/>
                          <a:ea typeface="Calibri" pitchFamily="34" charset="-122"/>
                          <a:cs typeface="Calibri" pitchFamily="34" charset="-120"/>
                        </a:rPr>
                        <a:t>0.16525</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0.40093</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0.34591</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SIIM-ISIC (imaging)</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AUC ↑</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2B6CB0"/>
                          </a:solidFill>
                          <a:latin typeface="Calibri" pitchFamily="34" charset="0"/>
                          <a:ea typeface="Calibri" pitchFamily="34" charset="-122"/>
                          <a:cs typeface="Calibri" pitchFamily="34" charset="-120"/>
                        </a:rPr>
                        <a:t>0.93529</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0.89822</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0.88579</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r>
            </a:tbl>
          </a:graphicData>
        </a:graphic>
      </p:graphicFrame>
      <p:sp>
        <p:nvSpPr>
          <p:cNvPr id="8" name="Shape 4"/>
          <p:cNvSpPr/>
          <p:nvPr/>
        </p:nvSpPr>
        <p:spPr>
          <a:xfrm>
            <a:off x="6309360" y="3794760"/>
            <a:ext cx="5394960" cy="2148840"/>
          </a:xfrm>
          <a:prstGeom prst="roundRect">
            <a:avLst>
              <a:gd name="adj" fmla="val 3404"/>
            </a:avLst>
          </a:prstGeom>
          <a:solidFill>
            <a:srgbClr val="F4F7FB"/>
          </a:solidFill>
          <a:ln w="12700">
            <a:solidFill>
              <a:srgbClr val="A8BDD4"/>
            </a:solidFill>
            <a:prstDash val="solid"/>
          </a:ln>
        </p:spPr>
      </p:sp>
      <p:sp>
        <p:nvSpPr>
          <p:cNvPr id="9" name="Text 5"/>
          <p:cNvSpPr/>
          <p:nvPr/>
        </p:nvSpPr>
        <p:spPr>
          <a:xfrm>
            <a:off x="6537960" y="3931920"/>
            <a:ext cx="4937760" cy="1874520"/>
          </a:xfrm>
          <a:prstGeom prst="rect">
            <a:avLst/>
          </a:prstGeom>
          <a:noFill/>
          <a:ln/>
        </p:spPr>
        <p:txBody>
          <a:bodyPr wrap="square" lIns="0" tIns="0" rIns="0" bIns="0" rtlCol="0" anchor="ctr"/>
          <a:lstStyle/>
          <a:p>
            <a:pPr indent="0" marL="0">
              <a:spcAft>
                <a:spcPts val="800"/>
              </a:spcAft>
              <a:buNone/>
            </a:pPr>
            <a:r>
              <a:rPr lang="en-US" sz="1500" b="1" dirty="0">
                <a:solidFill>
                  <a:srgbClr val="0F2A4A"/>
                </a:solidFill>
                <a:latin typeface="Calibri" pitchFamily="34" charset="0"/>
                <a:ea typeface="Calibri" pitchFamily="34" charset="-122"/>
                <a:cs typeface="Calibri" pitchFamily="34" charset="-120"/>
              </a:rPr>
              <a:t>Final-architecture re-run — 19/20 scored</a:t>
            </a:r>
            <a:endParaRPr lang="en-US" sz="1500" dirty="0"/>
          </a:p>
          <a:p>
            <a:pPr indent="0" marL="0">
              <a:spcAft>
                <a:spcPts val="800"/>
              </a:spcAft>
              <a:buNone/>
            </a:pPr>
            <a:r>
              <a:rPr lang="en-US" sz="1250" dirty="0">
                <a:solidFill>
                  <a:srgbClr val="1C1E21"/>
                </a:solidFill>
                <a:latin typeface="Calibri" pitchFamily="34" charset="0"/>
                <a:ea typeface="Calibri" pitchFamily="34" charset="-122"/>
                <a:cs typeface="Calibri" pitchFamily="34" charset="-120"/>
              </a:rPr>
              <a:t>All 20 competitions re-run under one frozen architecture, in credential-free sandboxes with per-lane transcript audits. 19/20 lanes scored, the final lane re-running clean; beats its own development-lane score on 12 of 19.</a:t>
            </a:r>
            <a:endParaRPr lang="en-US" sz="1500" dirty="0"/>
          </a:p>
          <a:p>
            <a:pPr indent="0" marL="0">
              <a:spcAft>
                <a:spcPts val="800"/>
              </a:spcAft>
              <a:buNone/>
            </a:pPr>
            <a:r>
              <a:rPr lang="en-US" sz="1250" b="1" dirty="0">
                <a:solidFill>
                  <a:srgbClr val="8A6D1A"/>
                </a:solidFill>
                <a:latin typeface="Calibri" pitchFamily="34" charset="0"/>
                <a:ea typeface="Calibri" pitchFamily="34" charset="-122"/>
                <a:cs typeface="Calibri" pitchFamily="34" charset="-120"/>
              </a:rPr>
              <a:t>Standing: my-agent 15 W / 7 L (68%) vs AIDE 44% · NVIDIA 40%.</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Results — the agent's visualization output</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5</a:t>
            </a:r>
            <a:endParaRPr lang="en-US" sz="1600" dirty="0"/>
          </a:p>
        </p:txBody>
      </p:sp>
      <p:pic>
        <p:nvPicPr>
          <p:cNvPr id="4" name="Image 0" descr="eda_target.png">    </p:cNvPr>
          <p:cNvPicPr>
            <a:picLocks noChangeAspect="1"/>
          </p:cNvPicPr>
          <p:nvPr/>
        </p:nvPicPr>
        <p:blipFill>
          <a:blip r:embed="rId1"/>
          <a:stretch>
            <a:fillRect/>
          </a:stretch>
        </p:blipFill>
        <p:spPr>
          <a:xfrm>
            <a:off x="502920" y="1325880"/>
            <a:ext cx="5440680" cy="3886200"/>
          </a:xfrm>
          <a:prstGeom prst="rect">
            <a:avLst/>
          </a:prstGeom>
        </p:spPr>
      </p:pic>
      <p:pic>
        <p:nvPicPr>
          <p:cNvPr id="5" name="Image 1" descr="eda_temporal.png">    </p:cNvPr>
          <p:cNvPicPr>
            <a:picLocks noChangeAspect="1"/>
          </p:cNvPicPr>
          <p:nvPr/>
        </p:nvPicPr>
        <p:blipFill>
          <a:blip r:embed="rId2"/>
          <a:stretch>
            <a:fillRect/>
          </a:stretch>
        </p:blipFill>
        <p:spPr>
          <a:xfrm>
            <a:off x="6263640" y="1325880"/>
            <a:ext cx="5440680" cy="3886200"/>
          </a:xfrm>
          <a:prstGeom prst="rect">
            <a:avLst/>
          </a:prstGeom>
        </p:spPr>
      </p:pic>
      <p:sp>
        <p:nvSpPr>
          <p:cNvPr id="6" name="Text 2"/>
          <p:cNvSpPr/>
          <p:nvPr/>
        </p:nvSpPr>
        <p:spPr>
          <a:xfrm>
            <a:off x="502920" y="5394960"/>
            <a:ext cx="11201400" cy="822960"/>
          </a:xfrm>
          <a:prstGeom prst="rect">
            <a:avLst/>
          </a:prstGeom>
          <a:noFill/>
          <a:ln/>
        </p:spPr>
        <p:txBody>
          <a:bodyPr wrap="square" lIns="0" tIns="0" rIns="0" bIns="0" rtlCol="0" anchor="ctr"/>
          <a:lstStyle/>
          <a:p>
            <a:pPr indent="0" marL="0">
              <a:buNone/>
            </a:pPr>
            <a:r>
              <a:rPr lang="en-US" sz="1300" dirty="0">
                <a:solidFill>
                  <a:srgbClr val="5A6472"/>
                </a:solidFill>
                <a:latin typeface="Calibri" pitchFamily="34" charset="0"/>
                <a:ea typeface="Calibri" pitchFamily="34" charset="-122"/>
                <a:cs typeface="Calibri" pitchFamily="34" charset="-120"/>
              </a:rPr>
              <a:t>Agent-generated EDA, produced automatically before modeling (energy-prosumer example): target distributions by segment (left) and temporal consumption/production patterns (right). The same pipeline emits 22 per-competition ML-spec reports and its own architecture flowcharts.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What I expected vs. what I experienced</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6</a:t>
            </a:r>
            <a:endParaRPr lang="en-US" sz="1600" dirty="0"/>
          </a:p>
        </p:txBody>
      </p:sp>
      <p:sp>
        <p:nvSpPr>
          <p:cNvPr id="4" name="Text 2"/>
          <p:cNvSpPr/>
          <p:nvPr/>
        </p:nvSpPr>
        <p:spPr>
          <a:xfrm>
            <a:off x="502920" y="1097280"/>
            <a:ext cx="5120640" cy="365760"/>
          </a:xfrm>
          <a:prstGeom prst="rect">
            <a:avLst/>
          </a:prstGeom>
          <a:noFill/>
          <a:ln/>
        </p:spPr>
        <p:txBody>
          <a:bodyPr wrap="square" lIns="0" tIns="0" rIns="0" bIns="0" rtlCol="0" anchor="ctr"/>
          <a:lstStyle/>
          <a:p>
            <a:pPr indent="0" marL="0">
              <a:buNone/>
            </a:pPr>
            <a:r>
              <a:rPr lang="en-US" sz="1700" b="1" dirty="0">
                <a:solidFill>
                  <a:srgbClr val="5A6472"/>
                </a:solidFill>
                <a:latin typeface="Calibri" pitchFamily="34" charset="0"/>
                <a:ea typeface="Calibri" pitchFamily="34" charset="-122"/>
                <a:cs typeface="Calibri" pitchFamily="34" charset="-120"/>
              </a:rPr>
              <a:t>Expected</a:t>
            </a:r>
            <a:endParaRPr lang="en-US" sz="1700" dirty="0"/>
          </a:p>
        </p:txBody>
      </p:sp>
      <p:sp>
        <p:nvSpPr>
          <p:cNvPr id="5" name="Text 3"/>
          <p:cNvSpPr/>
          <p:nvPr/>
        </p:nvSpPr>
        <p:spPr>
          <a:xfrm>
            <a:off x="6035040" y="1097280"/>
            <a:ext cx="5577840" cy="36576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Experienced</a:t>
            </a:r>
            <a:endParaRPr lang="en-US" sz="1700" dirty="0"/>
          </a:p>
        </p:txBody>
      </p:sp>
      <p:sp>
        <p:nvSpPr>
          <p:cNvPr id="6" name="Shape 4"/>
          <p:cNvSpPr/>
          <p:nvPr/>
        </p:nvSpPr>
        <p:spPr>
          <a:xfrm>
            <a:off x="502920" y="1554480"/>
            <a:ext cx="5120640" cy="1115568"/>
          </a:xfrm>
          <a:prstGeom prst="roundRect">
            <a:avLst>
              <a:gd name="adj" fmla="val 4918"/>
            </a:avLst>
          </a:prstGeom>
          <a:solidFill>
            <a:srgbClr val="F4F7FB"/>
          </a:solidFill>
          <a:ln w="9525">
            <a:solidFill>
              <a:srgbClr val="E4E9F0"/>
            </a:solidFill>
            <a:prstDash val="solid"/>
          </a:ln>
        </p:spPr>
      </p:sp>
      <p:sp>
        <p:nvSpPr>
          <p:cNvPr id="7" name="Text 5"/>
          <p:cNvSpPr/>
          <p:nvPr/>
        </p:nvSpPr>
        <p:spPr>
          <a:xfrm>
            <a:off x="685800" y="1627632"/>
            <a:ext cx="4754880" cy="969264"/>
          </a:xfrm>
          <a:prstGeom prst="rect">
            <a:avLst/>
          </a:prstGeom>
          <a:noFill/>
          <a:ln/>
        </p:spPr>
        <p:txBody>
          <a:bodyPr wrap="square" lIns="0" tIns="0" rIns="0" bIns="0" rtlCol="0" anchor="ctr"/>
          <a:lstStyle/>
          <a:p>
            <a:pPr indent="0" marL="0">
              <a:buNone/>
            </a:pPr>
            <a:r>
              <a:rPr lang="en-US" sz="1300" i="1" dirty="0">
                <a:solidFill>
                  <a:srgbClr val="5A6472"/>
                </a:solidFill>
                <a:latin typeface="Calibri" pitchFamily="34" charset="0"/>
                <a:ea typeface="Calibri" pitchFamily="34" charset="-122"/>
                <a:cs typeface="Calibri" pitchFamily="34" charset="-120"/>
              </a:rPr>
              <a:t>The agent would quickly beat most humans.</a:t>
            </a:r>
            <a:endParaRPr lang="en-US" sz="1300" dirty="0"/>
          </a:p>
        </p:txBody>
      </p:sp>
      <p:sp>
        <p:nvSpPr>
          <p:cNvPr id="8" name="Shape 6"/>
          <p:cNvSpPr/>
          <p:nvPr/>
        </p:nvSpPr>
        <p:spPr>
          <a:xfrm>
            <a:off x="6035040" y="1554480"/>
            <a:ext cx="5623560" cy="1115568"/>
          </a:xfrm>
          <a:prstGeom prst="roundRect">
            <a:avLst>
              <a:gd name="adj" fmla="val 4918"/>
            </a:avLst>
          </a:prstGeom>
          <a:solidFill>
            <a:srgbClr val="FFFFFF"/>
          </a:solidFill>
          <a:ln w="12700">
            <a:solidFill>
              <a:srgbClr val="A8BDD4"/>
            </a:solidFill>
            <a:prstDash val="solid"/>
          </a:ln>
        </p:spPr>
      </p:sp>
      <p:sp>
        <p:nvSpPr>
          <p:cNvPr id="9" name="Text 7"/>
          <p:cNvSpPr/>
          <p:nvPr/>
        </p:nvSpPr>
        <p:spPr>
          <a:xfrm>
            <a:off x="6217920" y="1627632"/>
            <a:ext cx="5257800" cy="969264"/>
          </a:xfrm>
          <a:prstGeom prst="rect">
            <a:avLst/>
          </a:prstGeom>
          <a:noFill/>
          <a:ln/>
        </p:spPr>
        <p:txBody>
          <a:bodyPr wrap="square" lIns="0" tIns="0" rIns="0" bIns="0" rtlCol="0" anchor="ctr"/>
          <a:lstStyle/>
          <a:p>
            <a:pPr indent="0" marL="0">
              <a:buNone/>
            </a:pPr>
            <a:r>
              <a:rPr lang="en-US" sz="1300" dirty="0">
                <a:solidFill>
                  <a:srgbClr val="1C1E21"/>
                </a:solidFill>
                <a:latin typeface="Calibri" pitchFamily="34" charset="0"/>
                <a:ea typeface="Calibri" pitchFamily="34" charset="-122"/>
                <a:cs typeface="Calibri" pitchFamily="34" charset="-120"/>
              </a:rPr>
              <a:t>Scored frozen-architecture runs stand 15 W / 7 L (68%) with the best private score on 10 of 19 lanes; wins concentrate where no mature public solutions exist.</a:t>
            </a:r>
            <a:endParaRPr lang="en-US" sz="1300" dirty="0"/>
          </a:p>
        </p:txBody>
      </p:sp>
      <p:sp>
        <p:nvSpPr>
          <p:cNvPr id="10" name="Shape 8"/>
          <p:cNvSpPr/>
          <p:nvPr/>
        </p:nvSpPr>
        <p:spPr>
          <a:xfrm>
            <a:off x="502920" y="2816352"/>
            <a:ext cx="5120640" cy="1115568"/>
          </a:xfrm>
          <a:prstGeom prst="roundRect">
            <a:avLst>
              <a:gd name="adj" fmla="val 4918"/>
            </a:avLst>
          </a:prstGeom>
          <a:solidFill>
            <a:srgbClr val="F4F7FB"/>
          </a:solidFill>
          <a:ln w="9525">
            <a:solidFill>
              <a:srgbClr val="E4E9F0"/>
            </a:solidFill>
            <a:prstDash val="solid"/>
          </a:ln>
        </p:spPr>
      </p:sp>
      <p:sp>
        <p:nvSpPr>
          <p:cNvPr id="11" name="Text 9"/>
          <p:cNvSpPr/>
          <p:nvPr/>
        </p:nvSpPr>
        <p:spPr>
          <a:xfrm>
            <a:off x="685800" y="2889504"/>
            <a:ext cx="4754880" cy="969264"/>
          </a:xfrm>
          <a:prstGeom prst="rect">
            <a:avLst/>
          </a:prstGeom>
          <a:noFill/>
          <a:ln/>
        </p:spPr>
        <p:txBody>
          <a:bodyPr wrap="square" lIns="0" tIns="0" rIns="0" bIns="0" rtlCol="0" anchor="ctr"/>
          <a:lstStyle/>
          <a:p>
            <a:pPr indent="0" marL="0">
              <a:buNone/>
            </a:pPr>
            <a:r>
              <a:rPr lang="en-US" sz="1300" i="1" dirty="0">
                <a:solidFill>
                  <a:srgbClr val="5A6472"/>
                </a:solidFill>
                <a:latin typeface="Calibri" pitchFamily="34" charset="0"/>
                <a:ea typeface="Calibri" pitchFamily="34" charset="-122"/>
                <a:cs typeface="Calibri" pitchFamily="34" charset="-120"/>
              </a:rPr>
              <a:t>One run and one score decide a winner.</a:t>
            </a:r>
            <a:endParaRPr lang="en-US" sz="1300" dirty="0"/>
          </a:p>
        </p:txBody>
      </p:sp>
      <p:sp>
        <p:nvSpPr>
          <p:cNvPr id="12" name="Shape 10"/>
          <p:cNvSpPr/>
          <p:nvPr/>
        </p:nvSpPr>
        <p:spPr>
          <a:xfrm>
            <a:off x="6035040" y="2816352"/>
            <a:ext cx="5623560" cy="1115568"/>
          </a:xfrm>
          <a:prstGeom prst="roundRect">
            <a:avLst>
              <a:gd name="adj" fmla="val 4918"/>
            </a:avLst>
          </a:prstGeom>
          <a:solidFill>
            <a:srgbClr val="FFFFFF"/>
          </a:solidFill>
          <a:ln w="12700">
            <a:solidFill>
              <a:srgbClr val="A8BDD4"/>
            </a:solidFill>
            <a:prstDash val="solid"/>
          </a:ln>
        </p:spPr>
      </p:sp>
      <p:sp>
        <p:nvSpPr>
          <p:cNvPr id="13" name="Text 11"/>
          <p:cNvSpPr/>
          <p:nvPr/>
        </p:nvSpPr>
        <p:spPr>
          <a:xfrm>
            <a:off x="6217920" y="2889504"/>
            <a:ext cx="5257800" cy="969264"/>
          </a:xfrm>
          <a:prstGeom prst="rect">
            <a:avLst/>
          </a:prstGeom>
          <a:noFill/>
          <a:ln/>
        </p:spPr>
        <p:txBody>
          <a:bodyPr wrap="square" lIns="0" tIns="0" rIns="0" bIns="0" rtlCol="0" anchor="ctr"/>
          <a:lstStyle/>
          <a:p>
            <a:pPr indent="0" marL="0">
              <a:buNone/>
            </a:pPr>
            <a:r>
              <a:rPr lang="en-US" sz="1300" dirty="0">
                <a:solidFill>
                  <a:srgbClr val="1C1E21"/>
                </a:solidFill>
                <a:latin typeface="Calibri" pitchFamily="34" charset="0"/>
                <a:ea typeface="Calibri" pitchFamily="34" charset="-122"/>
                <a:cs typeface="Calibri" pitchFamily="34" charset="-120"/>
              </a:rPr>
              <a:t>Score noise + run variance leave close duels undecidable on a single score; a paired error model became mandatory.</a:t>
            </a:r>
            <a:endParaRPr lang="en-US" sz="1300" dirty="0"/>
          </a:p>
        </p:txBody>
      </p:sp>
      <p:sp>
        <p:nvSpPr>
          <p:cNvPr id="14" name="Shape 12"/>
          <p:cNvSpPr/>
          <p:nvPr/>
        </p:nvSpPr>
        <p:spPr>
          <a:xfrm>
            <a:off x="502920" y="4078224"/>
            <a:ext cx="5120640" cy="1115568"/>
          </a:xfrm>
          <a:prstGeom prst="roundRect">
            <a:avLst>
              <a:gd name="adj" fmla="val 4918"/>
            </a:avLst>
          </a:prstGeom>
          <a:solidFill>
            <a:srgbClr val="F4F7FB"/>
          </a:solidFill>
          <a:ln w="9525">
            <a:solidFill>
              <a:srgbClr val="E4E9F0"/>
            </a:solidFill>
            <a:prstDash val="solid"/>
          </a:ln>
        </p:spPr>
      </p:sp>
      <p:sp>
        <p:nvSpPr>
          <p:cNvPr id="15" name="Text 13"/>
          <p:cNvSpPr/>
          <p:nvPr/>
        </p:nvSpPr>
        <p:spPr>
          <a:xfrm>
            <a:off x="685800" y="4151376"/>
            <a:ext cx="4754880" cy="969264"/>
          </a:xfrm>
          <a:prstGeom prst="rect">
            <a:avLst/>
          </a:prstGeom>
          <a:noFill/>
          <a:ln/>
        </p:spPr>
        <p:txBody>
          <a:bodyPr wrap="square" lIns="0" tIns="0" rIns="0" bIns="0" rtlCol="0" anchor="ctr"/>
          <a:lstStyle/>
          <a:p>
            <a:pPr indent="0" marL="0">
              <a:buNone/>
            </a:pPr>
            <a:r>
              <a:rPr lang="en-US" sz="1300" i="1" dirty="0">
                <a:solidFill>
                  <a:srgbClr val="5A6472"/>
                </a:solidFill>
                <a:latin typeface="Calibri" pitchFamily="34" charset="0"/>
                <a:ea typeface="Calibri" pitchFamily="34" charset="-122"/>
                <a:cs typeface="Calibri" pitchFamily="34" charset="-120"/>
              </a:rPr>
              <a:t>The agent follows the rules by default.</a:t>
            </a:r>
            <a:endParaRPr lang="en-US" sz="1300" dirty="0"/>
          </a:p>
        </p:txBody>
      </p:sp>
      <p:sp>
        <p:nvSpPr>
          <p:cNvPr id="16" name="Shape 14"/>
          <p:cNvSpPr/>
          <p:nvPr/>
        </p:nvSpPr>
        <p:spPr>
          <a:xfrm>
            <a:off x="6035040" y="4078224"/>
            <a:ext cx="5623560" cy="1115568"/>
          </a:xfrm>
          <a:prstGeom prst="roundRect">
            <a:avLst>
              <a:gd name="adj" fmla="val 4918"/>
            </a:avLst>
          </a:prstGeom>
          <a:solidFill>
            <a:srgbClr val="FFFFFF"/>
          </a:solidFill>
          <a:ln w="12700">
            <a:solidFill>
              <a:srgbClr val="A8BDD4"/>
            </a:solidFill>
            <a:prstDash val="solid"/>
          </a:ln>
        </p:spPr>
      </p:sp>
      <p:sp>
        <p:nvSpPr>
          <p:cNvPr id="17" name="Text 15"/>
          <p:cNvSpPr/>
          <p:nvPr/>
        </p:nvSpPr>
        <p:spPr>
          <a:xfrm>
            <a:off x="6217920" y="4151376"/>
            <a:ext cx="5257800" cy="969264"/>
          </a:xfrm>
          <a:prstGeom prst="rect">
            <a:avLst/>
          </a:prstGeom>
          <a:noFill/>
          <a:ln/>
        </p:spPr>
        <p:txBody>
          <a:bodyPr wrap="square" lIns="0" tIns="0" rIns="0" bIns="0" rtlCol="0" anchor="ctr"/>
          <a:lstStyle/>
          <a:p>
            <a:pPr indent="0" marL="0">
              <a:buNone/>
            </a:pPr>
            <a:r>
              <a:rPr lang="en-US" sz="1300" dirty="0">
                <a:solidFill>
                  <a:srgbClr val="1C1E21"/>
                </a:solidFill>
                <a:latin typeface="Calibri" pitchFamily="34" charset="0"/>
                <a:ea typeface="Calibri" pitchFamily="34" charset="-122"/>
                <a:cs typeface="Calibri" pitchFamily="34" charset="-120"/>
              </a:rPr>
              <a:t>A transcript audit caught a lane reading its own competition's recorded findings — the clean re-run's local validation scored worse, consistent with a real contamination advantage.</a:t>
            </a:r>
            <a:endParaRPr lang="en-US" sz="1300" dirty="0"/>
          </a:p>
        </p:txBody>
      </p:sp>
      <p:sp>
        <p:nvSpPr>
          <p:cNvPr id="18" name="Shape 16"/>
          <p:cNvSpPr/>
          <p:nvPr/>
        </p:nvSpPr>
        <p:spPr>
          <a:xfrm>
            <a:off x="502920" y="5340096"/>
            <a:ext cx="5120640" cy="1115568"/>
          </a:xfrm>
          <a:prstGeom prst="roundRect">
            <a:avLst>
              <a:gd name="adj" fmla="val 4918"/>
            </a:avLst>
          </a:prstGeom>
          <a:solidFill>
            <a:srgbClr val="F4F7FB"/>
          </a:solidFill>
          <a:ln w="9525">
            <a:solidFill>
              <a:srgbClr val="E4E9F0"/>
            </a:solidFill>
            <a:prstDash val="solid"/>
          </a:ln>
        </p:spPr>
      </p:sp>
      <p:sp>
        <p:nvSpPr>
          <p:cNvPr id="19" name="Text 17"/>
          <p:cNvSpPr/>
          <p:nvPr/>
        </p:nvSpPr>
        <p:spPr>
          <a:xfrm>
            <a:off x="685800" y="5413248"/>
            <a:ext cx="4754880" cy="969264"/>
          </a:xfrm>
          <a:prstGeom prst="rect">
            <a:avLst/>
          </a:prstGeom>
          <a:noFill/>
          <a:ln/>
        </p:spPr>
        <p:txBody>
          <a:bodyPr wrap="square" lIns="0" tIns="0" rIns="0" bIns="0" rtlCol="0" anchor="ctr"/>
          <a:lstStyle/>
          <a:p>
            <a:pPr indent="0" marL="0">
              <a:buNone/>
            </a:pPr>
            <a:r>
              <a:rPr lang="en-US" sz="1300" i="1" dirty="0">
                <a:solidFill>
                  <a:srgbClr val="5A6472"/>
                </a:solidFill>
                <a:latin typeface="Calibri" pitchFamily="34" charset="0"/>
                <a:ea typeface="Calibri" pitchFamily="34" charset="-122"/>
                <a:cs typeface="Calibri" pitchFamily="34" charset="-120"/>
              </a:rPr>
              <a:t>Fairness is mostly a mindset.</a:t>
            </a:r>
            <a:endParaRPr lang="en-US" sz="1300" dirty="0"/>
          </a:p>
        </p:txBody>
      </p:sp>
      <p:sp>
        <p:nvSpPr>
          <p:cNvPr id="20" name="Shape 18"/>
          <p:cNvSpPr/>
          <p:nvPr/>
        </p:nvSpPr>
        <p:spPr>
          <a:xfrm>
            <a:off x="6035040" y="5340096"/>
            <a:ext cx="5623560" cy="1115568"/>
          </a:xfrm>
          <a:prstGeom prst="roundRect">
            <a:avLst>
              <a:gd name="adj" fmla="val 4918"/>
            </a:avLst>
          </a:prstGeom>
          <a:solidFill>
            <a:srgbClr val="FFFFFF"/>
          </a:solidFill>
          <a:ln w="12700">
            <a:solidFill>
              <a:srgbClr val="A8BDD4"/>
            </a:solidFill>
            <a:prstDash val="solid"/>
          </a:ln>
        </p:spPr>
      </p:sp>
      <p:sp>
        <p:nvSpPr>
          <p:cNvPr id="21" name="Text 19"/>
          <p:cNvSpPr/>
          <p:nvPr/>
        </p:nvSpPr>
        <p:spPr>
          <a:xfrm>
            <a:off x="6217920" y="5413248"/>
            <a:ext cx="5257800" cy="969264"/>
          </a:xfrm>
          <a:prstGeom prst="rect">
            <a:avLst/>
          </a:prstGeom>
          <a:noFill/>
          <a:ln/>
        </p:spPr>
        <p:txBody>
          <a:bodyPr wrap="square" lIns="0" tIns="0" rIns="0" bIns="0" rtlCol="0" anchor="ctr"/>
          <a:lstStyle/>
          <a:p>
            <a:pPr indent="0" marL="0">
              <a:buNone/>
            </a:pPr>
            <a:r>
              <a:rPr lang="en-US" sz="1300" dirty="0">
                <a:solidFill>
                  <a:srgbClr val="1C1E21"/>
                </a:solidFill>
                <a:latin typeface="Calibri" pitchFamily="34" charset="0"/>
                <a:ea typeface="Calibri" pitchFamily="34" charset="-122"/>
                <a:cs typeface="Calibri" pitchFamily="34" charset="-120"/>
              </a:rPr>
              <a:t>It is infrastructure: isolated data roots, credential-free sandboxes, per-lane audits — expensive, but without them numbers aren't comparable.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A4A"/>
        </a:solidFill>
      </p:bgPr>
    </p:bg>
    <p:spTree>
      <p:nvGrpSpPr>
        <p:cNvPr id="1" name=""/>
        <p:cNvGrpSpPr/>
        <p:nvPr/>
      </p:nvGrpSpPr>
      <p:grpSpPr>
        <a:xfrm>
          <a:off x="0" y="0"/>
          <a:ext cx="0" cy="0"/>
          <a:chOff x="0" y="0"/>
          <a:chExt cx="0" cy="0"/>
        </a:xfrm>
      </p:grpSpPr>
      <p:sp>
        <p:nvSpPr>
          <p:cNvPr id="2" name="Text 0"/>
          <p:cNvSpPr/>
          <p:nvPr/>
        </p:nvSpPr>
        <p:spPr>
          <a:xfrm>
            <a:off x="731520" y="502920"/>
            <a:ext cx="10698480"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Advice — if you use an AI agent for this</a:t>
            </a:r>
            <a:endParaRPr lang="en-US" sz="3000" dirty="0"/>
          </a:p>
        </p:txBody>
      </p:sp>
      <p:sp>
        <p:nvSpPr>
          <p:cNvPr id="3" name="Text 1"/>
          <p:cNvSpPr/>
          <p:nvPr/>
        </p:nvSpPr>
        <p:spPr>
          <a:xfrm>
            <a:off x="731520" y="1554480"/>
            <a:ext cx="10698480" cy="3566160"/>
          </a:xfrm>
          <a:prstGeom prst="rect">
            <a:avLst/>
          </a:prstGeom>
          <a:noFill/>
          <a:ln/>
        </p:spPr>
        <p:txBody>
          <a:bodyPr wrap="square" lIns="0" tIns="0" rIns="0" bIns="0" rtlCol="0" anchor="ctr"/>
          <a:lstStyle/>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State the error model with every claim. Without an error scale a ranking is noise: close duels are undecidable, and the winner flips when the evaluation set changes.</a:t>
            </a:r>
            <a:endParaRPr lang="en-US" sz="1650" dirty="0"/>
          </a:p>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Never trust local CV for between-agent claims — score on the real leaderboard.</a:t>
            </a:r>
            <a:endParaRPr lang="en-US" sz="1650" dirty="0"/>
          </a:p>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Freeze your yardsticks. Improving a baseline mid-study turns the benchmark into an optimisation of the baseline.</a:t>
            </a:r>
            <a:endParaRPr lang="en-US" sz="1650" dirty="0"/>
          </a:p>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Isolate mechanically, then audit the transcript — reading what the agent actually did catches the leaks you didn't anticipate, in both directions.</a:t>
            </a:r>
            <a:endParaRPr lang="en-US" sz="1650" dirty="0"/>
          </a:p>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Put knowledge injection upstream: at the blend stage it was worth ~10⁻⁵; moved into problem identification it lifted the canonical failure case from last to first.</a:t>
            </a:r>
            <a:endParaRPr lang="en-US" sz="1650" dirty="0"/>
          </a:p>
        </p:txBody>
      </p:sp>
      <p:sp>
        <p:nvSpPr>
          <p:cNvPr id="4" name="Text 2"/>
          <p:cNvSpPr/>
          <p:nvPr/>
        </p:nvSpPr>
        <p:spPr>
          <a:xfrm>
            <a:off x="731520" y="5897880"/>
            <a:ext cx="10698480" cy="457200"/>
          </a:xfrm>
          <a:prstGeom prst="rect">
            <a:avLst/>
          </a:prstGeom>
          <a:noFill/>
          <a:ln/>
        </p:spPr>
        <p:txBody>
          <a:bodyPr wrap="square" lIns="0" tIns="0" rIns="0" bIns="0" rtlCol="0" anchor="ctr"/>
          <a:lstStyle/>
          <a:p>
            <a:pPr indent="0" marL="0">
              <a:buNone/>
            </a:pPr>
            <a:r>
              <a:rPr lang="en-US" sz="1300" dirty="0">
                <a:solidFill>
                  <a:srgbClr val="A8BDD4"/>
                </a:solidFill>
                <a:latin typeface="Calibri" pitchFamily="34" charset="0"/>
                <a:ea typeface="Calibri" pitchFamily="34" charset="-122"/>
                <a:cs typeface="Calibri" pitchFamily="34" charset="-120"/>
              </a:rPr>
              <a:t>Report v6 · Engineering Log · Case Studies · 22 ML-spec reports  —  github.com/930731haohao-afk/kaggle-agent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2026-08-18T09:02:48Z</dcterms:created>
  <dcterms:modified xsi:type="dcterms:W3CDTF">2026-08-18T09:02:48Z</dcterms:modified>
</cp:coreProperties>
</file>
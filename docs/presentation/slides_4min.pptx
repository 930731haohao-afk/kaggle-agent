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Sinica is an end-to-end agent for Kaggle competitions: it takes a raw dataset and returns a submission, with no person in the loop. I benchmarked it against two frozen reference agents on twenty competitions, scored on the real leaderboards. (18s)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Competitions demand the whole expert loop, and the top of the leaderboard separates at the fourth or fifth decimal, so tuning skill distinguishes nobody — and at that scale a pipeline's own cross-validation routinely disagrees with the leaderboard. What an agent brings is tireless, logged search: between thirty-seven and two hundred and twenty-four candidate configurations per competition, and the same protocol run twenty times without drifting. (32s)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reads top to bottom. An LLM reasons and decides at every stage, gradient boosting does the fitting, and a tree search over complete candidate solutions is the optimization loop. The one design decision that mattered is where outside knowledge enters. My first version put it downstream, at the blend — measured, it was worth ten to the minus five. So it moved upstream, into a dossier stage that classifies the task before any modeling. The lanes hold no Kaggle credentials, so nothing inside a run can touch a leaderboard.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reading. All twenty lanes are scored on the real leaderboard, and every one of the sixty duels is judged against the score noise measured on Kaggle's own split of the test set: thirty-eight decide, twenty-two the data refuses to call. Sinica leads — sixteen wins to eight of its decided duels, sixty-six point seven percent, against forty-two point three for each reference agent. It takes the best private score on ten of the twenty competitions, and on three harder competitions outside tabular data it takes the best of the three every time.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would tell anyone doing this. Put knowledge injection upstream — at the blend stage it bought nothing. While you iterate, local cross-validation is the only feedback you get, and it can look healthy while the leaderboard says otherwise. Never mix agent versions in one table, because an architecture change invalidates every run before it and every mid-flight change costs a tail of bugs and then a re-run to earn the score back. And isolate the isolation right: if a lane can reach a leaderboard or another lane's work, every number in the table is worthless, so it has to be enforced by the setup rather than by instruction. (43s)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working this way still falls short. The loop has strong hands but no design judgment: it solves the problem it is handed, never asks whether the change was worth making, and there is no engineering judgment at design time: nothing in the loop can tell whether an architecture will hold until it runs, and by the time the flaws surface the debt is already there. And AI writing habits survive review — redundant suffixes, invented terminology, and detail in place of the question you actually came for. Thank you. (37s)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C64"/>
        </a:solidFill>
      </p:bgPr>
    </p:bg>
    <p:spTree>
      <p:nvGrpSpPr>
        <p:cNvPr id="1" name=""/>
        <p:cNvGrpSpPr/>
        <p:nvPr/>
      </p:nvGrpSpPr>
      <p:grpSpPr>
        <a:xfrm>
          <a:off x="0" y="0"/>
          <a:ext cx="0" cy="0"/>
          <a:chOff x="0" y="0"/>
          <a:chExt cx="0" cy="0"/>
        </a:xfrm>
      </p:grpSpPr>
      <p:sp>
        <p:nvSpPr>
          <p:cNvPr id="2" name="Text 0"/>
          <p:cNvSpPr/>
          <p:nvPr/>
        </p:nvSpPr>
        <p:spPr>
          <a:xfrm>
            <a:off x="822960" y="14173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An End-to-End AI Agent</a:t>
            </a:r>
            <a:endParaRPr lang="en-US" sz="4000" dirty="0"/>
          </a:p>
          <a:p>
            <a:pPr indent="0" marL="0">
              <a:lnSpc>
                <a:spcPct val="110000"/>
              </a:lnSpc>
              <a:buNone/>
            </a:pPr>
            <a:r>
              <a:rPr lang="en-US" sz="4000" b="1" dirty="0">
                <a:solidFill>
                  <a:srgbClr val="FFFFFF"/>
                </a:solidFill>
                <a:latin typeface="Arial" pitchFamily="34" charset="0"/>
                <a:ea typeface="Arial" pitchFamily="34" charset="-122"/>
                <a:cs typeface="Arial" pitchFamily="34" charset="-120"/>
              </a:rPr>
              <a:t>for Kaggle Competitions</a:t>
            </a:r>
            <a:endParaRPr lang="en-US" sz="4000" dirty="0"/>
          </a:p>
        </p:txBody>
      </p:sp>
      <p:sp>
        <p:nvSpPr>
          <p:cNvPr id="3" name="Text 1"/>
          <p:cNvSpPr/>
          <p:nvPr/>
        </p:nvSpPr>
        <p:spPr>
          <a:xfrm>
            <a:off x="822960" y="5577840"/>
            <a:ext cx="10789920" cy="402336"/>
          </a:xfrm>
          <a:prstGeom prst="rect">
            <a:avLst/>
          </a:prstGeom>
          <a:noFill/>
          <a:ln/>
        </p:spPr>
        <p:txBody>
          <a:bodyPr wrap="square" lIns="0" tIns="0" rIns="0" bIns="0" rtlCol="0" anchor="ctr"/>
          <a:lstStyle/>
          <a:p>
            <a:pPr indent="0" marL="0">
              <a:buNone/>
            </a:pPr>
            <a:r>
              <a:rPr lang="en-US" sz="1300" dirty="0">
                <a:solidFill>
                  <a:srgbClr val="A8BDD4"/>
                </a:solidFill>
                <a:latin typeface="Arial" pitchFamily="34" charset="0"/>
                <a:ea typeface="Arial" pitchFamily="34" charset="-122"/>
                <a:cs typeface="Arial" pitchFamily="34" charset="-120"/>
              </a:rPr>
              <a:t>Wei-Hao Huang, National Chengchi University   ·   PI: Dr. Tso-Jung Yen, Institute of Statistical Science, Academia Sinica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1 · Motivation</a:t>
            </a:r>
            <a:endParaRPr lang="en-US" sz="2600" dirty="0"/>
          </a:p>
        </p:txBody>
      </p:sp>
      <p:sp>
        <p:nvSpPr>
          <p:cNvPr id="3" name="Text 1"/>
          <p:cNvSpPr/>
          <p:nvPr/>
        </p:nvSpPr>
        <p:spPr>
          <a:xfrm>
            <a:off x="658368" y="105156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Challenges of Kaggle competitions</a:t>
            </a:r>
            <a:endParaRPr lang="en-US" sz="1900" dirty="0"/>
          </a:p>
        </p:txBody>
      </p:sp>
      <p:sp>
        <p:nvSpPr>
          <p:cNvPr id="4" name="Text 2"/>
          <p:cNvSpPr/>
          <p:nvPr/>
        </p:nvSpPr>
        <p:spPr>
          <a:xfrm>
            <a:off x="868680" y="1481328"/>
            <a:ext cx="10607040" cy="77724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demands the whole expert loop: validation design, features, model selection, ensembling. The top entries separate by a </a:t>
            </a:r>
            <a:pPr indent="0" marL="0">
              <a:buNone/>
            </a:pPr>
            <a:r>
              <a:rPr lang="en-US" sz="1700" b="1" dirty="0">
                <a:solidFill>
                  <a:srgbClr val="111111"/>
                </a:solidFill>
                <a:latin typeface="Arial" pitchFamily="34" charset="0"/>
                <a:ea typeface="Arial" pitchFamily="34" charset="-122"/>
                <a:cs typeface="Arial" pitchFamily="34" charset="-120"/>
              </a:rPr>
              <a:t>very small margin.</a:t>
            </a:r>
            <a:endParaRPr lang="en-US" sz="1700" dirty="0"/>
          </a:p>
        </p:txBody>
      </p:sp>
      <p:sp>
        <p:nvSpPr>
          <p:cNvPr id="5" name="Text 3"/>
          <p:cNvSpPr/>
          <p:nvPr/>
        </p:nvSpPr>
        <p:spPr>
          <a:xfrm>
            <a:off x="658368" y="2514600"/>
            <a:ext cx="10881360" cy="365760"/>
          </a:xfrm>
          <a:prstGeom prst="rect">
            <a:avLst/>
          </a:prstGeom>
          <a:noFill/>
          <a:ln/>
        </p:spPr>
        <p:txBody>
          <a:bodyPr wrap="square" lIns="0" tIns="0" rIns="0" bIns="0" rtlCol="0" anchor="ctr"/>
          <a:lstStyle/>
          <a:p>
            <a:pPr indent="0" marL="0">
              <a:buNone/>
            </a:pPr>
            <a:r>
              <a:rPr lang="en-US" sz="1900" b="1" dirty="0">
                <a:solidFill>
                  <a:srgbClr val="111111"/>
                </a:solidFill>
                <a:latin typeface="Arial" pitchFamily="34" charset="0"/>
                <a:ea typeface="Arial" pitchFamily="34" charset="-122"/>
                <a:cs typeface="Arial" pitchFamily="34" charset="-120"/>
              </a:rPr>
              <a:t>Why an AI agent</a:t>
            </a:r>
            <a:endParaRPr lang="en-US" sz="1900" dirty="0"/>
          </a:p>
        </p:txBody>
      </p:sp>
      <p:sp>
        <p:nvSpPr>
          <p:cNvPr id="6" name="Text 4"/>
          <p:cNvSpPr/>
          <p:nvPr/>
        </p:nvSpPr>
        <p:spPr>
          <a:xfrm>
            <a:off x="868680" y="2944368"/>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A competition is a </a:t>
            </a:r>
            <a:pPr indent="0" marL="0">
              <a:buNone/>
            </a:pPr>
            <a:r>
              <a:rPr lang="en-US" sz="1700" b="1" dirty="0">
                <a:solidFill>
                  <a:srgbClr val="111111"/>
                </a:solidFill>
                <a:latin typeface="Arial" pitchFamily="34" charset="0"/>
                <a:ea typeface="Arial" pitchFamily="34" charset="-122"/>
                <a:cs typeface="Arial" pitchFamily="34" charset="-120"/>
              </a:rPr>
              <a:t>scorable task</a:t>
            </a:r>
            <a:pPr indent="0" marL="0">
              <a:buNone/>
            </a:pPr>
            <a:r>
              <a:rPr lang="en-US" sz="1700" dirty="0">
                <a:solidFill>
                  <a:srgbClr val="111111"/>
                </a:solidFill>
                <a:latin typeface="Arial" pitchFamily="34" charset="0"/>
                <a:ea typeface="Arial" pitchFamily="34" charset="-122"/>
                <a:cs typeface="Arial" pitchFamily="34" charset="-120"/>
              </a:rPr>
              <a:t>: every candidate returns a number, so it can be </a:t>
            </a:r>
            <a:pPr indent="0" marL="0">
              <a:buNone/>
            </a:pPr>
            <a:r>
              <a:rPr lang="en-US" sz="1700" b="1" dirty="0">
                <a:solidFill>
                  <a:srgbClr val="111111"/>
                </a:solidFill>
                <a:latin typeface="Arial" pitchFamily="34" charset="0"/>
                <a:ea typeface="Arial" pitchFamily="34" charset="-122"/>
                <a:cs typeface="Arial" pitchFamily="34" charset="-120"/>
              </a:rPr>
              <a:t>optimized automatically</a:t>
            </a:r>
            <a:pPr indent="0" marL="0">
              <a:buNone/>
            </a:pPr>
            <a:r>
              <a:rPr lang="en-US" sz="1700" dirty="0">
                <a:solidFill>
                  <a:srgbClr val="111111"/>
                </a:solidFill>
                <a:latin typeface="Arial" pitchFamily="34" charset="0"/>
                <a:ea typeface="Arial" pitchFamily="34" charset="-122"/>
                <a:cs typeface="Arial" pitchFamily="34" charset="-120"/>
              </a:rPr>
              <a:t> (propose, score, keep the better, repeat).</a:t>
            </a:r>
            <a:endParaRPr lang="en-US" sz="1700" dirty="0"/>
          </a:p>
        </p:txBody>
      </p:sp>
      <p:sp>
        <p:nvSpPr>
          <p:cNvPr id="7" name="Text 5"/>
          <p:cNvSpPr/>
          <p:nvPr/>
        </p:nvSpPr>
        <p:spPr>
          <a:xfrm>
            <a:off x="868680" y="3602736"/>
            <a:ext cx="10607040" cy="5029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   Tireless, systematic search over candidate configurations, every experiment logged and reproducible.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2 · Workflow</a:t>
            </a:r>
            <a:endParaRPr lang="en-US" sz="2600" dirty="0"/>
          </a:p>
        </p:txBody>
      </p:sp>
      <p:pic>
        <p:nvPicPr>
          <p:cNvPr id="3" name="Image 0" descr="fig1_arch_hi-1.png">    </p:cNvPr>
          <p:cNvPicPr>
            <a:picLocks noChangeAspect="1"/>
          </p:cNvPicPr>
          <p:nvPr/>
        </p:nvPicPr>
        <p:blipFill>
          <a:blip r:embed="rId1"/>
          <a:stretch>
            <a:fillRect/>
          </a:stretch>
        </p:blipFill>
        <p:spPr>
          <a:xfrm>
            <a:off x="658368" y="960120"/>
            <a:ext cx="6355080" cy="5660136"/>
          </a:xfrm>
          <a:prstGeom prst="rect">
            <a:avLst/>
          </a:prstGeom>
        </p:spPr>
      </p:pic>
      <p:sp>
        <p:nvSpPr>
          <p:cNvPr id="4" name="Text 1"/>
          <p:cNvSpPr/>
          <p:nvPr/>
        </p:nvSpPr>
        <p:spPr>
          <a:xfrm>
            <a:off x="7360920" y="1463040"/>
            <a:ext cx="4160520" cy="14630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LLM reasons and decides at every stage</a:t>
            </a:r>
            <a:pPr indent="0" marL="0">
              <a:buNone/>
            </a:pPr>
            <a:r>
              <a:rPr lang="en-US" sz="1600" dirty="0">
                <a:solidFill>
                  <a:srgbClr val="111111"/>
                </a:solidFill>
                <a:latin typeface="Arial" pitchFamily="34" charset="0"/>
                <a:ea typeface="Arial" pitchFamily="34" charset="-122"/>
                <a:cs typeface="Arial" pitchFamily="34" charset="-120"/>
              </a:rPr>
              <a:t>; gradient boosting does the fitting; a tree search over complete candidate solutions is the optimization loop.</a:t>
            </a:r>
            <a:endParaRPr lang="en-US" sz="1600" dirty="0"/>
          </a:p>
        </p:txBody>
      </p:sp>
      <p:sp>
        <p:nvSpPr>
          <p:cNvPr id="5" name="Text 2"/>
          <p:cNvSpPr/>
          <p:nvPr/>
        </p:nvSpPr>
        <p:spPr>
          <a:xfrm>
            <a:off x="7360920" y="3063240"/>
            <a:ext cx="4160520" cy="109728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The problem dossier</a:t>
            </a:r>
            <a:pPr indent="0" marL="0">
              <a:buNone/>
            </a:pPr>
            <a:r>
              <a:rPr lang="en-US" sz="1600" dirty="0">
                <a:solidFill>
                  <a:srgbClr val="111111"/>
                </a:solidFill>
                <a:latin typeface="Arial" pitchFamily="34" charset="0"/>
                <a:ea typeface="Arial" pitchFamily="34" charset="-122"/>
                <a:cs typeface="Arial" pitchFamily="34" charset="-120"/>
              </a:rPr>
              <a:t> classifies the task and injects external data </a:t>
            </a:r>
            <a:pPr indent="0" marL="0">
              <a:buNone/>
            </a:pPr>
            <a:r>
              <a:rPr lang="en-US" sz="1600" i="1" dirty="0">
                <a:solidFill>
                  <a:srgbClr val="111111"/>
                </a:solidFill>
                <a:latin typeface="Arial" pitchFamily="34" charset="0"/>
                <a:ea typeface="Arial" pitchFamily="34" charset="-122"/>
                <a:cs typeface="Arial" pitchFamily="34" charset="-120"/>
              </a:rPr>
              <a:t>upstream</a:t>
            </a:r>
            <a:pPr indent="0" marL="0">
              <a:buNone/>
            </a:pPr>
            <a:r>
              <a:rPr lang="en-US" sz="1600" dirty="0">
                <a:solidFill>
                  <a:srgbClr val="111111"/>
                </a:solidFill>
                <a:latin typeface="Arial" pitchFamily="34" charset="0"/>
                <a:ea typeface="Arial" pitchFamily="34" charset="-122"/>
                <a:cs typeface="Arial" pitchFamily="34" charset="-120"/>
              </a:rPr>
              <a:t>, before any modeling.</a:t>
            </a:r>
            <a:endParaRPr lang="en-US" sz="1600" dirty="0"/>
          </a:p>
        </p:txBody>
      </p:sp>
      <p:sp>
        <p:nvSpPr>
          <p:cNvPr id="6" name="Text 3"/>
          <p:cNvSpPr/>
          <p:nvPr/>
        </p:nvSpPr>
        <p:spPr>
          <a:xfrm>
            <a:off x="7360920" y="4297680"/>
            <a:ext cx="4160520" cy="100584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Lanes hold no Kaggle credentials; submissions are scored post-run on the real leaderboard.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3 · Results</a:t>
            </a:r>
            <a:endParaRPr lang="en-US" sz="2600" dirty="0"/>
          </a:p>
        </p:txBody>
      </p:sp>
      <p:sp>
        <p:nvSpPr>
          <p:cNvPr id="3" name="Text 1"/>
          <p:cNvSpPr/>
          <p:nvPr/>
        </p:nvSpPr>
        <p:spPr>
          <a:xfrm>
            <a:off x="658368" y="1024128"/>
            <a:ext cx="10881360" cy="731520"/>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All 20 lanes scored on the real leaderboard; each of the 60 duels judged against the score noise measured on Kaggle's own public/private split — 38 decided, 22 too close to call.</a:t>
            </a:r>
            <a:endParaRPr lang="en-US" sz="1700" dirty="0"/>
          </a:p>
        </p:txBody>
      </p:sp>
      <p:sp>
        <p:nvSpPr>
          <p:cNvPr id="4" name="Text 2"/>
          <p:cNvSpPr/>
          <p:nvPr/>
        </p:nvSpPr>
        <p:spPr>
          <a:xfrm>
            <a:off x="658368" y="1874520"/>
            <a:ext cx="10881360" cy="50292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Sinica leads: 16 wins / 8 losses (66.7% of its decided duels)</a:t>
            </a:r>
            <a:pPr indent="0" marL="0">
              <a:buNone/>
            </a:pPr>
            <a:r>
              <a:rPr lang="en-US" sz="1700" dirty="0">
                <a:solidFill>
                  <a:srgbClr val="111111"/>
                </a:solidFill>
                <a:latin typeface="Arial" pitchFamily="34" charset="0"/>
                <a:ea typeface="Arial" pitchFamily="34" charset="-122"/>
                <a:cs typeface="Arial" pitchFamily="34" charset="-120"/>
              </a:rPr>
              <a:t> against 42.3% for each frozen reference agent.</a:t>
            </a:r>
            <a:endParaRPr lang="en-US" sz="1700" dirty="0"/>
          </a:p>
        </p:txBody>
      </p:sp>
      <p:sp>
        <p:nvSpPr>
          <p:cNvPr id="5" name="Text 3"/>
          <p:cNvSpPr/>
          <p:nvPr/>
        </p:nvSpPr>
        <p:spPr>
          <a:xfrm>
            <a:off x="658368" y="2606040"/>
            <a:ext cx="1088136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Head-to-head best private score</a:t>
            </a:r>
            <a:endParaRPr lang="en-US" sz="1700" dirty="0"/>
          </a:p>
        </p:txBody>
      </p:sp>
      <p:sp>
        <p:nvSpPr>
          <p:cNvPr id="6" name="Text 4"/>
          <p:cNvSpPr/>
          <p:nvPr/>
        </p:nvSpPr>
        <p:spPr>
          <a:xfrm>
            <a:off x="658368" y="3108960"/>
            <a:ext cx="1828800" cy="420624"/>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Sinica</a:t>
            </a:r>
            <a:endParaRPr lang="en-US" sz="1700" dirty="0"/>
          </a:p>
        </p:txBody>
      </p:sp>
      <p:sp>
        <p:nvSpPr>
          <p:cNvPr id="7" name="Shape 5"/>
          <p:cNvSpPr/>
          <p:nvPr/>
        </p:nvSpPr>
        <p:spPr>
          <a:xfrm>
            <a:off x="2606040" y="3154680"/>
            <a:ext cx="5120640" cy="329184"/>
          </a:xfrm>
          <a:prstGeom prst="rect">
            <a:avLst/>
          </a:prstGeom>
          <a:solidFill>
            <a:srgbClr val="EEF0F3"/>
          </a:solidFill>
          <a:ln w="12700">
            <a:solidFill>
              <a:srgbClr val="EEF0F3"/>
            </a:solidFill>
            <a:prstDash val="solid"/>
          </a:ln>
        </p:spPr>
      </p:sp>
      <p:sp>
        <p:nvSpPr>
          <p:cNvPr id="8" name="Shape 6"/>
          <p:cNvSpPr/>
          <p:nvPr/>
        </p:nvSpPr>
        <p:spPr>
          <a:xfrm>
            <a:off x="2606040" y="3154680"/>
            <a:ext cx="2560320" cy="329184"/>
          </a:xfrm>
          <a:prstGeom prst="rect">
            <a:avLst/>
          </a:prstGeom>
          <a:solidFill>
            <a:srgbClr val="003C64"/>
          </a:solidFill>
          <a:ln w="12700">
            <a:solidFill>
              <a:srgbClr val="003C64"/>
            </a:solidFill>
            <a:prstDash val="solid"/>
          </a:ln>
        </p:spPr>
      </p:sp>
      <p:sp>
        <p:nvSpPr>
          <p:cNvPr id="9" name="Text 7"/>
          <p:cNvSpPr/>
          <p:nvPr/>
        </p:nvSpPr>
        <p:spPr>
          <a:xfrm>
            <a:off x="7909560" y="310896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10 / 20</a:t>
            </a:r>
            <a:endParaRPr lang="en-US" sz="1700" dirty="0"/>
          </a:p>
        </p:txBody>
      </p:sp>
      <p:sp>
        <p:nvSpPr>
          <p:cNvPr id="10" name="Text 8"/>
          <p:cNvSpPr/>
          <p:nvPr/>
        </p:nvSpPr>
        <p:spPr>
          <a:xfrm>
            <a:off x="658368" y="365760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NVIDIA</a:t>
            </a:r>
            <a:endParaRPr lang="en-US" sz="1700" dirty="0"/>
          </a:p>
        </p:txBody>
      </p:sp>
      <p:sp>
        <p:nvSpPr>
          <p:cNvPr id="11" name="Shape 9"/>
          <p:cNvSpPr/>
          <p:nvPr/>
        </p:nvSpPr>
        <p:spPr>
          <a:xfrm>
            <a:off x="2606040" y="3703320"/>
            <a:ext cx="5120640" cy="329184"/>
          </a:xfrm>
          <a:prstGeom prst="rect">
            <a:avLst/>
          </a:prstGeom>
          <a:solidFill>
            <a:srgbClr val="EEF0F3"/>
          </a:solidFill>
          <a:ln w="12700">
            <a:solidFill>
              <a:srgbClr val="EEF0F3"/>
            </a:solidFill>
            <a:prstDash val="solid"/>
          </a:ln>
        </p:spPr>
      </p:sp>
      <p:sp>
        <p:nvSpPr>
          <p:cNvPr id="12" name="Shape 10"/>
          <p:cNvSpPr/>
          <p:nvPr/>
        </p:nvSpPr>
        <p:spPr>
          <a:xfrm>
            <a:off x="2606040" y="3703320"/>
            <a:ext cx="1792224" cy="329184"/>
          </a:xfrm>
          <a:prstGeom prst="rect">
            <a:avLst/>
          </a:prstGeom>
          <a:solidFill>
            <a:srgbClr val="B0BAC4"/>
          </a:solidFill>
          <a:ln w="12700">
            <a:solidFill>
              <a:srgbClr val="B0BAC4"/>
            </a:solidFill>
            <a:prstDash val="solid"/>
          </a:ln>
        </p:spPr>
      </p:sp>
      <p:sp>
        <p:nvSpPr>
          <p:cNvPr id="13" name="Text 11"/>
          <p:cNvSpPr/>
          <p:nvPr/>
        </p:nvSpPr>
        <p:spPr>
          <a:xfrm>
            <a:off x="7909560" y="365760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7 / 20</a:t>
            </a:r>
            <a:endParaRPr lang="en-US" sz="1700" dirty="0"/>
          </a:p>
        </p:txBody>
      </p:sp>
      <p:sp>
        <p:nvSpPr>
          <p:cNvPr id="14" name="Text 12"/>
          <p:cNvSpPr/>
          <p:nvPr/>
        </p:nvSpPr>
        <p:spPr>
          <a:xfrm>
            <a:off x="658368" y="4206240"/>
            <a:ext cx="182880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AIDE</a:t>
            </a:r>
            <a:endParaRPr lang="en-US" sz="1700" dirty="0"/>
          </a:p>
        </p:txBody>
      </p:sp>
      <p:sp>
        <p:nvSpPr>
          <p:cNvPr id="15" name="Shape 13"/>
          <p:cNvSpPr/>
          <p:nvPr/>
        </p:nvSpPr>
        <p:spPr>
          <a:xfrm>
            <a:off x="2606040" y="4251960"/>
            <a:ext cx="5120640" cy="329184"/>
          </a:xfrm>
          <a:prstGeom prst="rect">
            <a:avLst/>
          </a:prstGeom>
          <a:solidFill>
            <a:srgbClr val="EEF0F3"/>
          </a:solidFill>
          <a:ln w="12700">
            <a:solidFill>
              <a:srgbClr val="EEF0F3"/>
            </a:solidFill>
            <a:prstDash val="solid"/>
          </a:ln>
        </p:spPr>
      </p:sp>
      <p:sp>
        <p:nvSpPr>
          <p:cNvPr id="16" name="Shape 14"/>
          <p:cNvSpPr/>
          <p:nvPr/>
        </p:nvSpPr>
        <p:spPr>
          <a:xfrm>
            <a:off x="2606040" y="4251960"/>
            <a:ext cx="768096" cy="329184"/>
          </a:xfrm>
          <a:prstGeom prst="rect">
            <a:avLst/>
          </a:prstGeom>
          <a:solidFill>
            <a:srgbClr val="B0BAC4"/>
          </a:solidFill>
          <a:ln w="12700">
            <a:solidFill>
              <a:srgbClr val="B0BAC4"/>
            </a:solidFill>
            <a:prstDash val="solid"/>
          </a:ln>
        </p:spPr>
      </p:sp>
      <p:sp>
        <p:nvSpPr>
          <p:cNvPr id="17" name="Text 15"/>
          <p:cNvSpPr/>
          <p:nvPr/>
        </p:nvSpPr>
        <p:spPr>
          <a:xfrm>
            <a:off x="7909560" y="4206240"/>
            <a:ext cx="1463040" cy="420624"/>
          </a:xfrm>
          <a:prstGeom prst="rect">
            <a:avLst/>
          </a:prstGeom>
          <a:noFill/>
          <a:ln/>
        </p:spPr>
        <p:txBody>
          <a:bodyPr wrap="square" lIns="0" tIns="0" rIns="0" bIns="0" rtlCol="0" anchor="ctr"/>
          <a:lstStyle/>
          <a:p>
            <a:pPr indent="0" marL="0">
              <a:buNone/>
            </a:pPr>
            <a:r>
              <a:rPr lang="en-US" sz="1700" dirty="0">
                <a:solidFill>
                  <a:srgbClr val="111111"/>
                </a:solidFill>
                <a:latin typeface="Arial" pitchFamily="34" charset="0"/>
                <a:ea typeface="Arial" pitchFamily="34" charset="-122"/>
                <a:cs typeface="Arial" pitchFamily="34" charset="-120"/>
              </a:rPr>
              <a:t>3 / 20</a:t>
            </a:r>
            <a:endParaRPr lang="en-US" sz="1700" dirty="0"/>
          </a:p>
        </p:txBody>
      </p:sp>
      <p:sp>
        <p:nvSpPr>
          <p:cNvPr id="18" name="Text 16"/>
          <p:cNvSpPr/>
          <p:nvPr/>
        </p:nvSpPr>
        <p:spPr>
          <a:xfrm>
            <a:off x="658368" y="4983480"/>
            <a:ext cx="10881360" cy="640080"/>
          </a:xfrm>
          <a:prstGeom prst="rect">
            <a:avLst/>
          </a:prstGeom>
          <a:noFill/>
          <a:ln/>
        </p:spPr>
        <p:txBody>
          <a:bodyPr wrap="square" lIns="0" tIns="0" rIns="0" bIns="0" rtlCol="0" anchor="ctr"/>
          <a:lstStyle/>
          <a:p>
            <a:pPr indent="0" marL="0">
              <a:buNone/>
            </a:pPr>
            <a:r>
              <a:rPr lang="en-US" sz="1500" dirty="0">
                <a:solidFill>
                  <a:srgbClr val="5A5F66"/>
                </a:solidFill>
                <a:latin typeface="Arial" pitchFamily="34" charset="0"/>
                <a:ea typeface="Arial" pitchFamily="34" charset="-122"/>
                <a:cs typeface="Arial" pitchFamily="34" charset="-120"/>
              </a:rPr>
              <a:t>Beyond tabular: on three mid-complexity competitions (NLP, physiological time series, medical imaging) Sinica takes the three-way best on all three.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4 · Reflections</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Put knowledge injection upstream.</a:t>
            </a:r>
            <a:pPr indent="0" marL="0">
              <a:buNone/>
            </a:pPr>
            <a:r>
              <a:rPr lang="en-US" sz="1600" dirty="0">
                <a:solidFill>
                  <a:srgbClr val="111111"/>
                </a:solidFill>
                <a:latin typeface="Arial" pitchFamily="34" charset="0"/>
                <a:ea typeface="Arial" pitchFamily="34" charset="-122"/>
                <a:cs typeface="Arial" pitchFamily="34" charset="-120"/>
              </a:rPr>
              <a:t> At the blend stage it measured near-nothing; moved into problem identification it </a:t>
            </a:r>
            <a:pPr indent="0" marL="0">
              <a:buNone/>
            </a:pPr>
            <a:r>
              <a:rPr lang="en-US" sz="1600" b="1" dirty="0">
                <a:solidFill>
                  <a:srgbClr val="111111"/>
                </a:solidFill>
                <a:latin typeface="Arial" pitchFamily="34" charset="0"/>
                <a:ea typeface="Arial" pitchFamily="34" charset="-122"/>
                <a:cs typeface="Arial" pitchFamily="34" charset="-120"/>
              </a:rPr>
              <a:t>improves scores significantly.</a:t>
            </a:r>
            <a:endParaRPr lang="en-US" sz="1600" dirty="0"/>
          </a:p>
        </p:txBody>
      </p:sp>
      <p:sp>
        <p:nvSpPr>
          <p:cNvPr id="4" name="Text 2"/>
          <p:cNvSpPr/>
          <p:nvPr/>
        </p:nvSpPr>
        <p:spPr>
          <a:xfrm>
            <a:off x="868680" y="20116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No score until you submit.</a:t>
            </a:r>
            <a:pPr indent="0" marL="0">
              <a:buNone/>
            </a:pPr>
            <a:r>
              <a:rPr lang="en-US" sz="1600" dirty="0">
                <a:solidFill>
                  <a:srgbClr val="111111"/>
                </a:solidFill>
                <a:latin typeface="Arial" pitchFamily="34" charset="0"/>
                <a:ea typeface="Arial" pitchFamily="34" charset="-122"/>
                <a:cs typeface="Arial" pitchFamily="34" charset="-120"/>
              </a:rPr>
              <a:t> While you iterate, local CV is all you see, so an error in problem-level judgment leaves CV looking healthy while the leaderboard says otherwise.</a:t>
            </a:r>
            <a:endParaRPr lang="en-US" sz="1600" dirty="0"/>
          </a:p>
        </p:txBody>
      </p:sp>
      <p:sp>
        <p:nvSpPr>
          <p:cNvPr id="5" name="Text 3"/>
          <p:cNvSpPr/>
          <p:nvPr/>
        </p:nvSpPr>
        <p:spPr>
          <a:xfrm>
            <a:off x="868680" y="29260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Freeze the architecture before you measure.</a:t>
            </a:r>
            <a:pPr indent="0" marL="0">
              <a:buNone/>
            </a:pPr>
            <a:r>
              <a:rPr lang="en-US" sz="1600" dirty="0">
                <a:solidFill>
                  <a:srgbClr val="111111"/>
                </a:solidFill>
                <a:latin typeface="Arial" pitchFamily="34" charset="0"/>
                <a:ea typeface="Arial" pitchFamily="34" charset="-122"/>
                <a:cs typeface="Arial" pitchFamily="34" charset="-120"/>
              </a:rPr>
              <a:t> One results table can report only one agent version, so an architectural change invalidates every run before it. That is why such a change costs twice: a tail of bugs to fix, then a full re-run to earn the voided scores back.</a:t>
            </a:r>
            <a:endParaRPr lang="en-US" sz="1600" dirty="0"/>
          </a:p>
        </p:txBody>
      </p:sp>
      <p:sp>
        <p:nvSpPr>
          <p:cNvPr id="6" name="Text 4"/>
          <p:cNvSpPr/>
          <p:nvPr/>
        </p:nvSpPr>
        <p:spPr>
          <a:xfrm>
            <a:off x="868680" y="402336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Get isolation right.</a:t>
            </a:r>
            <a:pPr indent="0" marL="0">
              <a:buNone/>
            </a:pPr>
            <a:r>
              <a:rPr lang="en-US" sz="1600" dirty="0">
                <a:solidFill>
                  <a:srgbClr val="111111"/>
                </a:solidFill>
                <a:latin typeface="Arial" pitchFamily="34" charset="0"/>
                <a:ea typeface="Arial" pitchFamily="34" charset="-122"/>
                <a:cs typeface="Arial" pitchFamily="34" charset="-120"/>
              </a:rPr>
              <a:t> If a lane can reach a leaderboard or another lane's work, every number in the table is worthless. It has to be enforced by the setup, not by telling the agent what to avoid.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56032"/>
            <a:ext cx="10972800" cy="548640"/>
          </a:xfrm>
          <a:prstGeom prst="rect">
            <a:avLst/>
          </a:prstGeom>
          <a:noFill/>
          <a:ln/>
        </p:spPr>
        <p:txBody>
          <a:bodyPr wrap="square" lIns="0" tIns="0" rIns="0" bIns="0" rtlCol="0" anchor="ctr"/>
          <a:lstStyle/>
          <a:p>
            <a:pPr indent="0" marL="0">
              <a:buNone/>
            </a:pPr>
            <a:r>
              <a:rPr lang="en-US" sz="2600" b="1" dirty="0">
                <a:solidFill>
                  <a:srgbClr val="003C64"/>
                </a:solidFill>
                <a:latin typeface="Arial" pitchFamily="34" charset="0"/>
                <a:ea typeface="Arial" pitchFamily="34" charset="-122"/>
                <a:cs typeface="Arial" pitchFamily="34" charset="-120"/>
              </a:rPr>
              <a:t>5 · Weaknesses of AI-heavy research</a:t>
            </a:r>
            <a:endParaRPr lang="en-US" sz="2600" dirty="0"/>
          </a:p>
        </p:txBody>
      </p:sp>
      <p:sp>
        <p:nvSpPr>
          <p:cNvPr id="3" name="Text 1"/>
          <p:cNvSpPr/>
          <p:nvPr/>
        </p:nvSpPr>
        <p:spPr>
          <a:xfrm>
            <a:off x="868680" y="109728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Strong hands, no design judgment.</a:t>
            </a:r>
            <a:pPr indent="0" marL="0">
              <a:buNone/>
            </a:pPr>
            <a:r>
              <a:rPr lang="en-US" sz="1600" dirty="0">
                <a:solidFill>
                  <a:srgbClr val="111111"/>
                </a:solidFill>
                <a:latin typeface="Arial" pitchFamily="34" charset="0"/>
                <a:ea typeface="Arial" pitchFamily="34" charset="-122"/>
                <a:cs typeface="Arial" pitchFamily="34" charset="-120"/>
              </a:rPr>
              <a:t> The loop only solves the problem it is handed. It never asks whether a change is worth making, and nothing in it can tell whether an architecture holds until the runs come back, by which time the debt is already there.</a:t>
            </a:r>
            <a:endParaRPr lang="en-US" sz="1600" dirty="0"/>
          </a:p>
        </p:txBody>
      </p:sp>
      <p:sp>
        <p:nvSpPr>
          <p:cNvPr id="4" name="Text 2"/>
          <p:cNvSpPr/>
          <p:nvPr/>
        </p:nvSpPr>
        <p:spPr>
          <a:xfrm>
            <a:off x="868680" y="3657600"/>
            <a:ext cx="10607040" cy="77724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   AI writing habits survive review</a:t>
            </a:r>
            <a:pPr indent="0" marL="0">
              <a:buNone/>
            </a:pPr>
            <a:r>
              <a:rPr lang="en-US" sz="1600" dirty="0">
                <a:solidFill>
                  <a:srgbClr val="111111"/>
                </a:solidFill>
                <a:latin typeface="Arial" pitchFamily="34" charset="0"/>
                <a:ea typeface="Arial" pitchFamily="34" charset="-122"/>
                <a:cs typeface="Arial" pitchFamily="34" charset="-120"/>
              </a:rPr>
              <a:t>: redundant suffixes, invented terminology, detail in place of the question the reader came for.</a:t>
            </a:r>
            <a:endParaRPr lang="en-US" sz="1600" dirty="0"/>
          </a:p>
        </p:txBody>
      </p:sp>
      <p:sp>
        <p:nvSpPr>
          <p:cNvPr id="5" name="Text 3"/>
          <p:cNvSpPr/>
          <p:nvPr/>
        </p:nvSpPr>
        <p:spPr>
          <a:xfrm>
            <a:off x="868680" y="5852160"/>
            <a:ext cx="10607040" cy="365760"/>
          </a:xfrm>
          <a:prstGeom prst="rect">
            <a:avLst/>
          </a:prstGeom>
          <a:noFill/>
          <a:ln/>
        </p:spPr>
        <p:txBody>
          <a:bodyPr wrap="square" lIns="0" tIns="0" rIns="0" bIns="0" rtlCol="0" anchor="ctr"/>
          <a:lstStyle/>
          <a:p>
            <a:pPr indent="0" marL="0">
              <a:buNone/>
            </a:pPr>
            <a:r>
              <a:rPr lang="en-US" sz="1300" dirty="0">
                <a:solidFill>
                  <a:srgbClr val="5A5F66"/>
                </a:solidFill>
                <a:latin typeface="Arial" pitchFamily="34" charset="0"/>
                <a:ea typeface="Arial" pitchFamily="34" charset="-122"/>
                <a:cs typeface="Arial" pitchFamily="34" charset="-120"/>
              </a:rPr>
              <a:t>github.com/930731haohao-afk/kaggle-agent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2026-08-20T04:05:30Z</dcterms:created>
  <dcterms:modified xsi:type="dcterms:W3CDTF">2026-08-20T04:05:30Z</dcterms:modified>
</cp:coreProperties>
</file>
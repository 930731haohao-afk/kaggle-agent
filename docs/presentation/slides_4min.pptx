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Sinica is an end-to-end agent for Kaggle competitions: it takes a raw dataset and returns a submission, with no person in the loop. I benchmarked it against two frozen reference agents on twenty-three competitions. (18s)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Competitions demand the whole expert loop, and the top of the leaderboard separates at the fourth or fifth decimal, so tuning skill distinguishes nobody. Before any of that, every dataset needs the same repetitive preparation. What an agent brings is tireless, logged search: between thirty-seven and two hundred and twenty-four candidate configurations per competition, and the same protocol run twenty times without drifting. (32s)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reads top to bottom. An LLM reasons and decides at every stage, gradient boosting does the fitting, and a tree search over complete candidate solutions is the optimization loop. The one design decision that mattered is where outside knowledge enters. My first version put it downstream, at the blend — measured, it was worth ten to the minus five. So it moved upstream, into a dossier stage that classifies the task before any modeling. The lanes hold no Kaggle credentials, so nothing inside a run can touch a leaderboard. If time allows: each run also writes a five-section ML specification report from its logged records — neither reference agent does this. (40s, +8s with the spec-report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23 competitions are scored: the 20 ordinary ones on the real private leaderboard, the 3 special ones offline with MLE-bench. Against the two reference agents, Sinica takes the best score on 13 of the 23 and leads the pairwise duels judged against the split noise — sixteen wins to eight of its decided duels, sixty-six point seven percent, against forty-two point three for each reference agent.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approach falls short. The agent codes efficiently, but it has no design judgment: it never asks whether a change is worth making, so a poor design choice slips in and yields bugs. Its iteration can only target the local validation score, which can look outstanding while the real leaderboard score is mediocre. Heavy AI use also pulls a write-up toward technical detail and away from the question the reader came for. And its writing habits — redundant headings, reinvented terms — come back in every draft; verifying and fixing them by hand is exhausting.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pieces of advice for anyone building one of these. Build an isolated environment before running the agent, so a run simply cannot reach the leaderboard or another run's files. Justify the design before building the pipeline — a redesign costs debugging plus a full rerun of earlier competitions. And inject external knowledge before data modeling — at the final blending step it bought almost nothing; before modeling it clearly helped. (38s)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systems this work sits next to: AIDE and the Nature paper for the search-based agents, the NVIDIA plugin as the reproduction baseline, and MLE-bench for how the three harder competitions are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for questions. The three I expect: how a duel is decided against the noise floor, how the tree search spends its budget, and how the lanes are isolated and audited. (about 60s of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14884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111111"/>
                </a:solidFill>
                <a:latin typeface="Arial" pitchFamily="34" charset="0"/>
                <a:ea typeface="Arial" pitchFamily="34" charset="-122"/>
                <a:cs typeface="Arial" pitchFamily="34" charset="-120"/>
              </a:rPr>
              <a:t>An End-to-End AI Agent for Kaggle Competitions</a:t>
            </a:r>
            <a:endParaRPr lang="en-US" sz="4000" dirty="0"/>
          </a:p>
        </p:txBody>
      </p:sp>
      <p:sp>
        <p:nvSpPr>
          <p:cNvPr id="3" name="Text 1"/>
          <p:cNvSpPr/>
          <p:nvPr/>
        </p:nvSpPr>
        <p:spPr>
          <a:xfrm>
            <a:off x="822960" y="5303520"/>
            <a:ext cx="10789920" cy="365760"/>
          </a:xfrm>
          <a:prstGeom prst="rect">
            <a:avLst/>
          </a:prstGeom>
          <a:noFill/>
          <a:ln/>
        </p:spPr>
        <p:txBody>
          <a:bodyPr wrap="square" lIns="0" tIns="0" rIns="0" bIns="0" rtlCol="0" anchor="ctr"/>
          <a:lstStyle/>
          <a:p>
            <a:pPr indent="0" marL="0">
              <a:buNone/>
            </a:pPr>
            <a:r>
              <a:rPr lang="en-US" sz="1400" dirty="0">
                <a:solidFill>
                  <a:srgbClr val="111111"/>
                </a:solidFill>
                <a:latin typeface="Arial" pitchFamily="34" charset="0"/>
                <a:ea typeface="Arial" pitchFamily="34" charset="-122"/>
                <a:cs typeface="Arial" pitchFamily="34" charset="-120"/>
              </a:rPr>
              <a:t>Wei-Hao Huang, National Chengchi University</a:t>
            </a:r>
            <a:endParaRPr lang="en-US" sz="1400" dirty="0"/>
          </a:p>
        </p:txBody>
      </p:sp>
      <p:sp>
        <p:nvSpPr>
          <p:cNvPr id="4" name="Text 2"/>
          <p:cNvSpPr/>
          <p:nvPr/>
        </p:nvSpPr>
        <p:spPr>
          <a:xfrm>
            <a:off x="822960" y="5715000"/>
            <a:ext cx="10789920" cy="365760"/>
          </a:xfrm>
          <a:prstGeom prst="rect">
            <a:avLst/>
          </a:prstGeom>
          <a:noFill/>
          <a:ln/>
        </p:spPr>
        <p:txBody>
          <a:bodyPr wrap="square" lIns="0" tIns="0" rIns="0" bIns="0" rtlCol="0" anchor="ctr"/>
          <a:lstStyle/>
          <a:p>
            <a:pPr indent="0" marL="0">
              <a:buNone/>
            </a:pPr>
            <a:r>
              <a:rPr lang="en-US" sz="1300" dirty="0">
                <a:solidFill>
                  <a:srgbClr val="5A5F66"/>
                </a:solidFill>
                <a:latin typeface="Arial" pitchFamily="34" charset="0"/>
                <a:ea typeface="Arial" pitchFamily="34" charset="-122"/>
                <a:cs typeface="Arial" pitchFamily="34" charset="-120"/>
              </a:rPr>
              <a:t>PI: Dr. Tso-Jung Yen, Institute of Statistical Science, Academia Sinica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1.Motivation</a:t>
            </a:r>
            <a:endParaRPr lang="en-US" sz="2600" dirty="0"/>
          </a:p>
        </p:txBody>
      </p:sp>
      <p:sp>
        <p:nvSpPr>
          <p:cNvPr id="3" name="Text 1"/>
          <p:cNvSpPr/>
          <p:nvPr/>
        </p:nvSpPr>
        <p:spPr>
          <a:xfrm>
            <a:off x="658368" y="960120"/>
            <a:ext cx="10881360" cy="292608"/>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   Challenges of Kaggle competitions</a:t>
            </a:r>
            <a:endParaRPr lang="en-US" sz="1700" dirty="0"/>
          </a:p>
        </p:txBody>
      </p:sp>
      <p:sp>
        <p:nvSpPr>
          <p:cNvPr id="4" name="Text 2"/>
          <p:cNvSpPr/>
          <p:nvPr/>
        </p:nvSpPr>
        <p:spPr>
          <a:xfrm>
            <a:off x="1234440" y="1353312"/>
            <a:ext cx="10241280" cy="292608"/>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A competition requires the expert loop</a:t>
            </a:r>
            <a:endParaRPr lang="en-US" sz="1600" dirty="0"/>
          </a:p>
        </p:txBody>
      </p:sp>
      <p:sp>
        <p:nvSpPr>
          <p:cNvPr id="5" name="Text 3"/>
          <p:cNvSpPr/>
          <p:nvPr/>
        </p:nvSpPr>
        <p:spPr>
          <a:xfrm>
            <a:off x="1645920" y="1645920"/>
            <a:ext cx="9784080" cy="54864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This includes validation design, feature extraction, model selection, and ensemble building. The top entries are separated by a very small margin.</a:t>
            </a:r>
            <a:endParaRPr lang="en-US" sz="1600" dirty="0"/>
          </a:p>
        </p:txBody>
      </p:sp>
      <p:sp>
        <p:nvSpPr>
          <p:cNvPr id="6" name="Text 4"/>
          <p:cNvSpPr/>
          <p:nvPr/>
        </p:nvSpPr>
        <p:spPr>
          <a:xfrm>
            <a:off x="1234440" y="2176272"/>
            <a:ext cx="10241280" cy="292608"/>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Data preparation is repetitive</a:t>
            </a:r>
            <a:endParaRPr lang="en-US" sz="1600" dirty="0"/>
          </a:p>
        </p:txBody>
      </p:sp>
      <p:sp>
        <p:nvSpPr>
          <p:cNvPr id="7" name="Text 5"/>
          <p:cNvSpPr/>
          <p:nvPr/>
        </p:nvSpPr>
        <p:spPr>
          <a:xfrm>
            <a:off x="1645920" y="2468880"/>
            <a:ext cx="9784080" cy="54864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The same cleaning, split design, and drift checks are done on every dataset.</a:t>
            </a:r>
            <a:endParaRPr lang="en-US" sz="1600" dirty="0"/>
          </a:p>
        </p:txBody>
      </p:sp>
      <p:sp>
        <p:nvSpPr>
          <p:cNvPr id="8" name="Text 6"/>
          <p:cNvSpPr/>
          <p:nvPr/>
        </p:nvSpPr>
        <p:spPr>
          <a:xfrm>
            <a:off x="658368" y="2926080"/>
            <a:ext cx="10881360" cy="292608"/>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   Why an AI agent</a:t>
            </a:r>
            <a:endParaRPr lang="en-US" sz="1700" dirty="0"/>
          </a:p>
        </p:txBody>
      </p:sp>
      <p:sp>
        <p:nvSpPr>
          <p:cNvPr id="9" name="Text 7"/>
          <p:cNvSpPr/>
          <p:nvPr/>
        </p:nvSpPr>
        <p:spPr>
          <a:xfrm>
            <a:off x="1234440" y="3319272"/>
            <a:ext cx="10241280" cy="292608"/>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A competition is a </a:t>
            </a:r>
            <a:pPr indent="0" marL="0">
              <a:buNone/>
            </a:pPr>
            <a:r>
              <a:rPr lang="en-US" sz="1600" b="1" i="1" dirty="0">
                <a:solidFill>
                  <a:srgbClr val="111111"/>
                </a:solidFill>
                <a:latin typeface="Arial" pitchFamily="34" charset="0"/>
                <a:ea typeface="Arial" pitchFamily="34" charset="-122"/>
                <a:cs typeface="Arial" pitchFamily="34" charset="-120"/>
              </a:rPr>
              <a:t>scorable</a:t>
            </a:r>
            <a:pPr indent="0" marL="0">
              <a:buNone/>
            </a:pPr>
            <a:r>
              <a:rPr lang="en-US" sz="1600" b="1" dirty="0">
                <a:solidFill>
                  <a:srgbClr val="111111"/>
                </a:solidFill>
                <a:latin typeface="Arial" pitchFamily="34" charset="0"/>
                <a:ea typeface="Arial" pitchFamily="34" charset="-122"/>
                <a:cs typeface="Arial" pitchFamily="34" charset="-120"/>
              </a:rPr>
              <a:t> task</a:t>
            </a:r>
            <a:endParaRPr lang="en-US" sz="1600" dirty="0"/>
          </a:p>
        </p:txBody>
      </p:sp>
      <p:sp>
        <p:nvSpPr>
          <p:cNvPr id="10" name="Text 8"/>
          <p:cNvSpPr/>
          <p:nvPr/>
        </p:nvSpPr>
        <p:spPr>
          <a:xfrm>
            <a:off x="1645920" y="3611880"/>
            <a:ext cx="9784080" cy="54864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Every competitor delivers a number, so it can be optimized automatically.</a:t>
            </a:r>
            <a:endParaRPr lang="en-US" sz="1600" dirty="0"/>
          </a:p>
        </p:txBody>
      </p:sp>
      <p:sp>
        <p:nvSpPr>
          <p:cNvPr id="11" name="Text 9"/>
          <p:cNvSpPr/>
          <p:nvPr/>
        </p:nvSpPr>
        <p:spPr>
          <a:xfrm>
            <a:off x="1234440" y="4142232"/>
            <a:ext cx="10241280" cy="292608"/>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A competition requires tireless, systematic search</a:t>
            </a:r>
            <a:endParaRPr lang="en-US" sz="1600" dirty="0"/>
          </a:p>
        </p:txBody>
      </p:sp>
      <p:sp>
        <p:nvSpPr>
          <p:cNvPr id="12" name="Text 10"/>
          <p:cNvSpPr/>
          <p:nvPr/>
        </p:nvSpPr>
        <p:spPr>
          <a:xfrm>
            <a:off x="1645920" y="4434840"/>
            <a:ext cx="9784080" cy="54864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Every experiment is recorded and should be reproducible.</a:t>
            </a:r>
            <a:endParaRPr lang="en-US" sz="1600" dirty="0"/>
          </a:p>
        </p:txBody>
      </p:sp>
      <p:sp>
        <p:nvSpPr>
          <p:cNvPr id="13" name="Text 11"/>
          <p:cNvSpPr/>
          <p:nvPr/>
        </p:nvSpPr>
        <p:spPr>
          <a:xfrm>
            <a:off x="1234440" y="4828032"/>
            <a:ext cx="10241280" cy="292608"/>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Recent success of agents for Kaggle competitions</a:t>
            </a:r>
            <a:endParaRPr lang="en-US" sz="1600" dirty="0"/>
          </a:p>
        </p:txBody>
      </p:sp>
      <p:sp>
        <p:nvSpPr>
          <p:cNvPr id="14" name="Text 12"/>
          <p:cNvSpPr/>
          <p:nvPr/>
        </p:nvSpPr>
        <p:spPr>
          <a:xfrm>
            <a:off x="1645920" y="5120640"/>
            <a:ext cx="9784080" cy="54864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Notable cases include tree search over code [1], and tree search fed injected research ideas [2].</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2.Workflow</a:t>
            </a:r>
            <a:endParaRPr lang="en-US" sz="2600" dirty="0"/>
          </a:p>
        </p:txBody>
      </p:sp>
      <p:sp>
        <p:nvSpPr>
          <p:cNvPr id="3" name="Text 1"/>
          <p:cNvSpPr/>
          <p:nvPr/>
        </p:nvSpPr>
        <p:spPr>
          <a:xfrm>
            <a:off x="658368" y="960120"/>
            <a:ext cx="10881360" cy="310896"/>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From raw data to a scored submission</a:t>
            </a:r>
            <a:endParaRPr lang="en-US" sz="1900" dirty="0"/>
          </a:p>
        </p:txBody>
      </p:sp>
      <p:pic>
        <p:nvPicPr>
          <p:cNvPr id="4" name="Image 0" descr="fig1_arch_slide_hi-1.png">    </p:cNvPr>
          <p:cNvPicPr>
            <a:picLocks noChangeAspect="1"/>
          </p:cNvPicPr>
          <p:nvPr/>
        </p:nvPicPr>
        <p:blipFill>
          <a:blip r:embed="rId1"/>
          <a:stretch>
            <a:fillRect/>
          </a:stretch>
        </p:blipFill>
        <p:spPr>
          <a:xfrm>
            <a:off x="580644" y="1417320"/>
            <a:ext cx="11027664" cy="4855464"/>
          </a:xfrm>
          <a:prstGeom prst="rect">
            <a:avLst/>
          </a:prstGeom>
        </p:spPr>
      </p:pic>
      <p:sp>
        <p:nvSpPr>
          <p:cNvPr id="5" name="Text 2"/>
          <p:cNvSpPr/>
          <p:nvPr/>
        </p:nvSpPr>
        <p:spPr>
          <a:xfrm>
            <a:off x="658368" y="6355080"/>
            <a:ext cx="10881360" cy="457200"/>
          </a:xfrm>
          <a:prstGeom prst="rect">
            <a:avLst/>
          </a:prstGeom>
          <a:noFill/>
          <a:ln/>
        </p:spPr>
        <p:txBody>
          <a:bodyPr wrap="square" lIns="0" tIns="0" rIns="0" bIns="0" rtlCol="0" anchor="ctr"/>
          <a:lstStyle/>
          <a:p>
            <a:pPr indent="0" marL="0">
              <a:buNone/>
            </a:pPr>
            <a:r>
              <a:rPr lang="en-US" sz="1300" dirty="0">
                <a:solidFill>
                  <a:srgbClr val="5A5F66"/>
                </a:solidFill>
                <a:latin typeface="Arial" pitchFamily="34" charset="0"/>
                <a:ea typeface="Arial" pitchFamily="34" charset="-122"/>
                <a:cs typeface="Arial" pitchFamily="34" charset="-120"/>
              </a:rPr>
              <a:t>The LLM reasons and decides at every stage; the problem dossier classifies the task and injects external data </a:t>
            </a:r>
            <a:pPr indent="0" marL="0">
              <a:buNone/>
            </a:pPr>
            <a:r>
              <a:rPr lang="en-US" sz="1300" i="1" dirty="0">
                <a:solidFill>
                  <a:srgbClr val="5A5F66"/>
                </a:solidFill>
                <a:latin typeface="Arial" pitchFamily="34" charset="0"/>
                <a:ea typeface="Arial" pitchFamily="34" charset="-122"/>
                <a:cs typeface="Arial" pitchFamily="34" charset="-120"/>
              </a:rPr>
              <a:t>upstream</a:t>
            </a:r>
            <a:pPr indent="0" marL="0">
              <a:buNone/>
            </a:pPr>
            <a:r>
              <a:rPr lang="en-US" sz="1300" dirty="0">
                <a:solidFill>
                  <a:srgbClr val="5A5F66"/>
                </a:solidFill>
                <a:latin typeface="Arial" pitchFamily="34" charset="0"/>
                <a:ea typeface="Arial" pitchFamily="34" charset="-122"/>
                <a:cs typeface="Arial" pitchFamily="34" charset="-120"/>
              </a:rPr>
              <a:t>, before any modeling. EDA then tests the dossier's hypotheses, feature engineering and modeling follow, and evaluation returns the score the tree search uses to pick the next candidate. Each run also automatically writes a per-competition report.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3.Results</a:t>
            </a:r>
            <a:endParaRPr lang="en-US" sz="2600" dirty="0"/>
          </a:p>
        </p:txBody>
      </p:sp>
      <p:sp>
        <p:nvSpPr>
          <p:cNvPr id="3" name="Text 1"/>
          <p:cNvSpPr/>
          <p:nvPr/>
        </p:nvSpPr>
        <p:spPr>
          <a:xfrm>
            <a:off x="658368" y="960120"/>
            <a:ext cx="6766560" cy="292608"/>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Table 1: ordinary competitions</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1280160"/>
          <a:ext cx="6766560" cy="914400"/>
        </p:xfrm>
        <a:graphic>
          <a:graphicData uri="http://schemas.openxmlformats.org/drawingml/2006/table">
            <a:tbl>
              <a:tblPr/>
              <a:tblGrid>
                <a:gridCol w="1783080"/>
                <a:gridCol w="1417320"/>
                <a:gridCol w="1207008"/>
                <a:gridCol w="1207008"/>
                <a:gridCol w="1152144"/>
              </a:tblGrid>
              <a:tr h="224028">
                <a:tc>
                  <a:txBody>
                    <a:bodyPr/>
                    <a:lstStyle/>
                    <a:p>
                      <a:pPr indent="0" marL="0">
                        <a:buNone/>
                      </a:pPr>
                      <a:r>
                        <a:rPr lang="en-US" sz="1100" b="1" dirty="0">
                          <a:solidFill>
                            <a:srgbClr val="111111"/>
                          </a:solidFill>
                          <a:latin typeface="Arial" pitchFamily="34" charset="0"/>
                          <a:ea typeface="Arial" pitchFamily="34" charset="-122"/>
                          <a:cs typeface="Arial" pitchFamily="34" charset="-120"/>
                        </a:rPr>
                        <a:t>Competition</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b="1" dirty="0">
                          <a:solidFill>
                            <a:srgbClr val="111111"/>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Sinica</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NVIDIA</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AIDE</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s3e1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RMSE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0.55275</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0.55550</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0.55552</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s3e3</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AUC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0.87157</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0.89537</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0.86863</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s3e5</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QWK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0.57223</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0.56974</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0.58138</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s3e7</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AUC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0.90441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0.90458</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0.90109</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s3e9</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RMSE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12.3319</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12.2291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12.3067</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s3e11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RMSLE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0.29368</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0.29624</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0.29445</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s3e14</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MAE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333.186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330.716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332.316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s3e16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MAE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1.33822</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1.34001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1.34224</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s3e19</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SMAPE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49.4088</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48.2656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48.3413</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s4e11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Acc.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0.94107</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0.94076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0.94056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s5e1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MAPE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0.08401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0.14594</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0.17917</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s5e10</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RMSE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0.05576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0.05588</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0.05579</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s6e1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Error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8.71516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8.73239</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8.72191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s6e2</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AUC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0.95505</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0.95508</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0.95516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afsis</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MCRMSE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0.48917</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0.69855</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0.49861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cat-in-the-dat</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AUC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0.80243</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0.77084</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0.80217</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conway</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MAE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0.10414</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0.11189</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0.11065</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tps-aug-2022</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AUC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0.58930</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0.58730</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0.59106</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tps-jan-2022</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SMAPE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6.29895</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4.63651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10.6664</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dirty="0">
                          <a:solidFill>
                            <a:srgbClr val="111111"/>
                          </a:solidFill>
                          <a:latin typeface="Arial" pitchFamily="34" charset="0"/>
                          <a:ea typeface="Arial" pitchFamily="34" charset="-122"/>
                          <a:cs typeface="Arial" pitchFamily="34" charset="-120"/>
                        </a:rPr>
                        <a:t>tps-sep-2022</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100" dirty="0">
                          <a:solidFill>
                            <a:srgbClr val="111111"/>
                          </a:solidFill>
                          <a:latin typeface="Arial" pitchFamily="34" charset="0"/>
                          <a:ea typeface="Arial" pitchFamily="34" charset="-122"/>
                          <a:cs typeface="Arial" pitchFamily="34" charset="-120"/>
                        </a:rPr>
                        <a:t>SMAPE ↓</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28.4961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5.48351</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9.72095</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24028">
                <a:tc>
                  <a:txBody>
                    <a:bodyPr/>
                    <a:lstStyle/>
                    <a:p>
                      <a:pPr indent="0" marL="0">
                        <a:buNone/>
                      </a:pPr>
                      <a:r>
                        <a:rPr lang="en-US" sz="1100" b="1" dirty="0">
                          <a:solidFill>
                            <a:srgbClr val="111111"/>
                          </a:solidFill>
                          <a:latin typeface="Arial" pitchFamily="34" charset="0"/>
                          <a:ea typeface="Arial" pitchFamily="34" charset="-122"/>
                          <a:cs typeface="Arial" pitchFamily="34" charset="-120"/>
                        </a:rPr>
                        <a:t>Best private score</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dirty="0">
                          <a:solidFill>
                            <a:srgbClr val="111111"/>
                          </a:solidFill>
                          <a:latin typeface="Arial" pitchFamily="34" charset="0"/>
                          <a:ea typeface="Arial" pitchFamily="34" charset="-122"/>
                          <a:cs typeface="Arial" pitchFamily="34" charset="-120"/>
                        </a:rPr>
                        <a:t>10 / 20</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7 / 20</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dirty="0">
                          <a:solidFill>
                            <a:srgbClr val="111111"/>
                          </a:solidFill>
                          <a:latin typeface="Arial" pitchFamily="34" charset="0"/>
                          <a:ea typeface="Arial" pitchFamily="34" charset="-122"/>
                          <a:cs typeface="Arial" pitchFamily="34" charset="-120"/>
                        </a:rPr>
                        <a:t>3 / 20</a:t>
                      </a:r>
                      <a:endParaRPr lang="en-US" sz="11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658368" y="6428232"/>
            <a:ext cx="6766560" cy="274320"/>
          </a:xfrm>
          <a:prstGeom prst="rect">
            <a:avLst/>
          </a:prstGeom>
          <a:noFill/>
          <a:ln/>
        </p:spPr>
        <p:txBody>
          <a:bodyPr wrap="square" lIns="0" tIns="0" rIns="0" bIns="0" rtlCol="0" anchor="ctr"/>
          <a:lstStyle/>
          <a:p>
            <a:pPr indent="0" marL="0">
              <a:buNone/>
            </a:pPr>
            <a:r>
              <a:rPr lang="en-US" sz="1100" b="1" dirty="0">
                <a:solidFill>
                  <a:srgbClr val="5A5F66"/>
                </a:solidFill>
                <a:latin typeface="Arial" pitchFamily="34" charset="0"/>
                <a:ea typeface="Arial" pitchFamily="34" charset="-122"/>
                <a:cs typeface="Arial" pitchFamily="34" charset="-120"/>
              </a:rPr>
              <a:t>Bold</a:t>
            </a:r>
            <a:pPr indent="0" marL="0">
              <a:buNone/>
            </a:pPr>
            <a:r>
              <a:rPr lang="en-US" sz="1100" dirty="0">
                <a:solidFill>
                  <a:srgbClr val="5A5F66"/>
                </a:solidFill>
                <a:latin typeface="Arial" pitchFamily="34" charset="0"/>
                <a:ea typeface="Arial" pitchFamily="34" charset="-122"/>
                <a:cs typeface="Arial" pitchFamily="34" charset="-120"/>
              </a:rPr>
              <a:t> = best of the three; reference agents AIDE [1], NVIDIA [3].</a:t>
            </a:r>
            <a:endParaRPr lang="en-US" sz="1100" dirty="0"/>
          </a:p>
        </p:txBody>
      </p:sp>
      <p:sp>
        <p:nvSpPr>
          <p:cNvPr id="6" name="Text 3"/>
          <p:cNvSpPr/>
          <p:nvPr/>
        </p:nvSpPr>
        <p:spPr>
          <a:xfrm>
            <a:off x="7635240" y="960120"/>
            <a:ext cx="4160520" cy="292608"/>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Table 2: special competitions</a:t>
            </a:r>
            <a:endParaRPr lang="en-US" sz="14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7635240" y="1280160"/>
          <a:ext cx="4160520" cy="914400"/>
        </p:xfrm>
        <a:graphic>
          <a:graphicData uri="http://schemas.openxmlformats.org/drawingml/2006/table">
            <a:tbl>
              <a:tblPr/>
              <a:tblGrid>
                <a:gridCol w="1188720"/>
                <a:gridCol w="932688"/>
                <a:gridCol w="713232"/>
                <a:gridCol w="713232"/>
                <a:gridCol w="612648"/>
              </a:tblGrid>
              <a:tr h="237744">
                <a:tc>
                  <a:txBody>
                    <a:bodyPr/>
                    <a:lstStyle/>
                    <a:p>
                      <a:pPr indent="0" marL="0">
                        <a:buNone/>
                      </a:pPr>
                      <a:r>
                        <a:rPr lang="en-US" sz="1000" b="1" dirty="0">
                          <a:solidFill>
                            <a:srgbClr val="111111"/>
                          </a:solidFill>
                          <a:latin typeface="Arial" pitchFamily="34" charset="0"/>
                          <a:ea typeface="Arial" pitchFamily="34" charset="-122"/>
                          <a:cs typeface="Arial" pitchFamily="34" charset="-120"/>
                        </a:rPr>
                        <a:t>Competition</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b="1" dirty="0">
                          <a:solidFill>
                            <a:srgbClr val="111111"/>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b="1" dirty="0">
                          <a:solidFill>
                            <a:srgbClr val="111111"/>
                          </a:solidFill>
                          <a:latin typeface="Arial" pitchFamily="34" charset="0"/>
                          <a:ea typeface="Arial" pitchFamily="34" charset="-122"/>
                          <a:cs typeface="Arial" pitchFamily="34" charset="-120"/>
                        </a:rPr>
                        <a:t>Sinica</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b="1" dirty="0">
                          <a:solidFill>
                            <a:srgbClr val="111111"/>
                          </a:solidFill>
                          <a:latin typeface="Arial" pitchFamily="34" charset="0"/>
                          <a:ea typeface="Arial" pitchFamily="34" charset="-122"/>
                          <a:cs typeface="Arial" pitchFamily="34" charset="-120"/>
                        </a:rPr>
                        <a:t>NVIDIA</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b="1" dirty="0">
                          <a:solidFill>
                            <a:srgbClr val="111111"/>
                          </a:solidFill>
                          <a:latin typeface="Arial" pitchFamily="34" charset="0"/>
                          <a:ea typeface="Arial" pitchFamily="34" charset="-122"/>
                          <a:cs typeface="Arial" pitchFamily="34" charset="-120"/>
                        </a:rPr>
                        <a:t>AIDE</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37744">
                <a:tc>
                  <a:txBody>
                    <a:bodyPr/>
                    <a:lstStyle/>
                    <a:p>
                      <a:pPr indent="0" marL="0">
                        <a:buNone/>
                      </a:pPr>
                      <a:r>
                        <a:rPr lang="en-US" sz="1000" dirty="0">
                          <a:solidFill>
                            <a:srgbClr val="111111"/>
                          </a:solidFill>
                          <a:latin typeface="Arial" pitchFamily="34" charset="0"/>
                          <a:ea typeface="Arial" pitchFamily="34" charset="-122"/>
                          <a:cs typeface="Arial" pitchFamily="34" charset="-120"/>
                        </a:rPr>
                        <a:t>us-patent</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11111"/>
                          </a:solidFill>
                          <a:latin typeface="Arial" pitchFamily="34" charset="0"/>
                          <a:ea typeface="Arial" pitchFamily="34" charset="-122"/>
                          <a:cs typeface="Arial" pitchFamily="34" charset="-120"/>
                        </a:rPr>
                        <a:t>Pearson r ↑</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b="1" dirty="0">
                          <a:solidFill>
                            <a:srgbClr val="111111"/>
                          </a:solidFill>
                          <a:latin typeface="Arial" pitchFamily="34" charset="0"/>
                          <a:ea typeface="Arial" pitchFamily="34" charset="-122"/>
                          <a:cs typeface="Arial" pitchFamily="34" charset="-120"/>
                        </a:rPr>
                        <a:t>0.86658</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dirty="0">
                          <a:solidFill>
                            <a:srgbClr val="111111"/>
                          </a:solidFill>
                          <a:latin typeface="Arial" pitchFamily="34" charset="0"/>
                          <a:ea typeface="Arial" pitchFamily="34" charset="-122"/>
                          <a:cs typeface="Arial" pitchFamily="34" charset="-120"/>
                        </a:rPr>
                        <a:t>0.86160</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dirty="0">
                          <a:solidFill>
                            <a:srgbClr val="111111"/>
                          </a:solidFill>
                          <a:latin typeface="Arial" pitchFamily="34" charset="0"/>
                          <a:ea typeface="Arial" pitchFamily="34" charset="-122"/>
                          <a:cs typeface="Arial" pitchFamily="34" charset="-120"/>
                        </a:rPr>
                        <a:t>0.65821</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37744">
                <a:tc>
                  <a:txBody>
                    <a:bodyPr/>
                    <a:lstStyle/>
                    <a:p>
                      <a:pPr indent="0" marL="0">
                        <a:buNone/>
                      </a:pPr>
                      <a:r>
                        <a:rPr lang="en-US" sz="1000" dirty="0">
                          <a:solidFill>
                            <a:srgbClr val="111111"/>
                          </a:solidFill>
                          <a:latin typeface="Arial" pitchFamily="34" charset="0"/>
                          <a:ea typeface="Arial" pitchFamily="34" charset="-122"/>
                          <a:cs typeface="Arial" pitchFamily="34" charset="-120"/>
                        </a:rPr>
                        <a:t>ventilator</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11111"/>
                          </a:solidFill>
                          <a:latin typeface="Arial" pitchFamily="34" charset="0"/>
                          <a:ea typeface="Arial" pitchFamily="34" charset="-122"/>
                          <a:cs typeface="Arial" pitchFamily="34" charset="-120"/>
                        </a:rPr>
                        <a:t>MAE ↓</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b="1" dirty="0">
                          <a:solidFill>
                            <a:srgbClr val="111111"/>
                          </a:solidFill>
                          <a:latin typeface="Arial" pitchFamily="34" charset="0"/>
                          <a:ea typeface="Arial" pitchFamily="34" charset="-122"/>
                          <a:cs typeface="Arial" pitchFamily="34" charset="-120"/>
                        </a:rPr>
                        <a:t>0.16525</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dirty="0">
                          <a:solidFill>
                            <a:srgbClr val="111111"/>
                          </a:solidFill>
                          <a:latin typeface="Arial" pitchFamily="34" charset="0"/>
                          <a:ea typeface="Arial" pitchFamily="34" charset="-122"/>
                          <a:cs typeface="Arial" pitchFamily="34" charset="-120"/>
                        </a:rPr>
                        <a:t>0.40093</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dirty="0">
                          <a:solidFill>
                            <a:srgbClr val="111111"/>
                          </a:solidFill>
                          <a:latin typeface="Arial" pitchFamily="34" charset="0"/>
                          <a:ea typeface="Arial" pitchFamily="34" charset="-122"/>
                          <a:cs typeface="Arial" pitchFamily="34" charset="-120"/>
                        </a:rPr>
                        <a:t>0.34591</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r h="237744">
                <a:tc>
                  <a:txBody>
                    <a:bodyPr/>
                    <a:lstStyle/>
                    <a:p>
                      <a:pPr indent="0" marL="0">
                        <a:buNone/>
                      </a:pPr>
                      <a:r>
                        <a:rPr lang="en-US" sz="1000" dirty="0">
                          <a:solidFill>
                            <a:srgbClr val="111111"/>
                          </a:solidFill>
                          <a:latin typeface="Arial" pitchFamily="34" charset="0"/>
                          <a:ea typeface="Arial" pitchFamily="34" charset="-122"/>
                          <a:cs typeface="Arial" pitchFamily="34" charset="-120"/>
                        </a:rPr>
                        <a:t>SIIM-ISIC</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111111"/>
                          </a:solidFill>
                          <a:latin typeface="Arial" pitchFamily="34" charset="0"/>
                          <a:ea typeface="Arial" pitchFamily="34" charset="-122"/>
                          <a:cs typeface="Arial" pitchFamily="34" charset="-120"/>
                        </a:rPr>
                        <a:t>AUC ↑</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b="1" dirty="0">
                          <a:solidFill>
                            <a:srgbClr val="111111"/>
                          </a:solidFill>
                          <a:latin typeface="Arial" pitchFamily="34" charset="0"/>
                          <a:ea typeface="Arial" pitchFamily="34" charset="-122"/>
                          <a:cs typeface="Arial" pitchFamily="34" charset="-120"/>
                        </a:rPr>
                        <a:t>0.93529</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dirty="0">
                          <a:solidFill>
                            <a:srgbClr val="111111"/>
                          </a:solidFill>
                          <a:latin typeface="Arial" pitchFamily="34" charset="0"/>
                          <a:ea typeface="Arial" pitchFamily="34" charset="-122"/>
                          <a:cs typeface="Arial" pitchFamily="34" charset="-120"/>
                        </a:rPr>
                        <a:t>0.89822</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00" dirty="0">
                          <a:solidFill>
                            <a:srgbClr val="111111"/>
                          </a:solidFill>
                          <a:latin typeface="Arial" pitchFamily="34" charset="0"/>
                          <a:ea typeface="Arial" pitchFamily="34" charset="-122"/>
                          <a:cs typeface="Arial" pitchFamily="34" charset="-120"/>
                        </a:rPr>
                        <a:t>0.88579</a:t>
                      </a:r>
                      <a:endParaRPr lang="en-US" sz="1000" dirty="0">
                        <a:latin typeface="Arial" charset="0"/>
                        <a:ea typeface="Arial" charset="0"/>
                        <a:cs typeface="Arial" charset="0"/>
                      </a:endParaRPr>
                    </a:p>
                  </a:txBody>
                  <a:tcPr marL="38100" marR="38100" marT="12700" marB="12700">
                    <a:lnL w="0" cap="flat" cmpd="sng" algn="ctr">
                      <a:noFill/>
                    </a:lnL>
                    <a:lnR w="0" cap="flat" cmpd="sng" algn="ctr">
                      <a:noFill/>
                    </a:lnR>
                    <a:lnT w="0" cap="flat" cmpd="sng" algn="ctr">
                      <a:noFill/>
                    </a:lnT>
                    <a:lnB w="0" cap="flat" cmpd="sng" algn="ctr">
                      <a:noFill/>
                    </a:lnB>
                  </a:tcPr>
                </a:tc>
              </a:tr>
            </a:tbl>
          </a:graphicData>
        </a:graphic>
      </p:graphicFrame>
      <p:sp>
        <p:nvSpPr>
          <p:cNvPr id="8" name="Text 4"/>
          <p:cNvSpPr/>
          <p:nvPr/>
        </p:nvSpPr>
        <p:spPr>
          <a:xfrm>
            <a:off x="7635240" y="2395728"/>
            <a:ext cx="4160520" cy="274320"/>
          </a:xfrm>
          <a:prstGeom prst="rect">
            <a:avLst/>
          </a:prstGeom>
          <a:noFill/>
          <a:ln/>
        </p:spPr>
        <p:txBody>
          <a:bodyPr wrap="square" lIns="0" tIns="0" rIns="0" bIns="0" rtlCol="0" anchor="ctr"/>
          <a:lstStyle/>
          <a:p>
            <a:pPr indent="0" marL="0">
              <a:buNone/>
            </a:pPr>
            <a:r>
              <a:rPr lang="en-US" sz="1100" dirty="0">
                <a:solidFill>
                  <a:srgbClr val="5A5F66"/>
                </a:solidFill>
                <a:latin typeface="Arial" pitchFamily="34" charset="0"/>
                <a:ea typeface="Arial" pitchFamily="34" charset="-122"/>
                <a:cs typeface="Arial" pitchFamily="34" charset="-120"/>
              </a:rPr>
              <a:t>Graded by MLE-bench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4.Disadvantages of the agent-based approach</a:t>
            </a:r>
            <a:endParaRPr lang="en-US" sz="2600" dirty="0"/>
          </a:p>
        </p:txBody>
      </p:sp>
      <p:sp>
        <p:nvSpPr>
          <p:cNvPr id="100" name="Text 1"/>
          <p:cNvSpPr/>
          <p:nvPr/>
        </p:nvSpPr>
        <p:spPr>
          <a:xfrm>
            <a:off x="868680" y="1005840"/>
            <a:ext cx="10607040" cy="292608"/>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The agent is strong at coding, weak at judging</a:t>
            </a:r>
            <a:endParaRPr lang="en-US" sz="1600" dirty="0"/>
          </a:p>
        </p:txBody>
      </p:sp>
      <p:sp>
        <p:nvSpPr>
          <p:cNvPr id="101" name="Text 2"/>
          <p:cNvSpPr/>
          <p:nvPr/>
        </p:nvSpPr>
        <p:spPr>
          <a:xfrm>
            <a:off x="1234440" y="1316736"/>
            <a:ext cx="10241280" cy="73152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The agent efficiently works through whatever problem it is given. However, it does not ask whether a change is worth making. This often leads to a poor design choice that yields bugs.</a:t>
            </a:r>
            <a:endParaRPr lang="en-US" sz="1600" dirty="0"/>
          </a:p>
        </p:txBody>
      </p:sp>
      <p:sp>
        <p:nvSpPr>
          <p:cNvPr id="102" name="Text 1"/>
          <p:cNvSpPr/>
          <p:nvPr/>
        </p:nvSpPr>
        <p:spPr>
          <a:xfrm>
            <a:off x="868680" y="2194560"/>
            <a:ext cx="10607040" cy="292608"/>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The agent can only target the local validation score</a:t>
            </a:r>
            <a:endParaRPr lang="en-US" sz="1600" dirty="0"/>
          </a:p>
        </p:txBody>
      </p:sp>
      <p:sp>
        <p:nvSpPr>
          <p:cNvPr id="103" name="Text 2"/>
          <p:cNvSpPr/>
          <p:nvPr/>
        </p:nvSpPr>
        <p:spPr>
          <a:xfrm>
            <a:off x="1234440" y="2505456"/>
            <a:ext cx="10241280" cy="73152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As a result, the local validation score can look outstanding while the real leaderboard score is mediocre.</a:t>
            </a:r>
            <a:endParaRPr lang="en-US" sz="1600" dirty="0"/>
          </a:p>
        </p:txBody>
      </p:sp>
      <p:sp>
        <p:nvSpPr>
          <p:cNvPr id="104" name="Text 1"/>
          <p:cNvSpPr/>
          <p:nvPr/>
        </p:nvSpPr>
        <p:spPr>
          <a:xfrm>
            <a:off x="868680" y="3383280"/>
            <a:ext cx="10607040" cy="292608"/>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The agent often buries the main question in detail</a:t>
            </a:r>
            <a:endParaRPr lang="en-US" sz="1600" dirty="0"/>
          </a:p>
        </p:txBody>
      </p:sp>
      <p:sp>
        <p:nvSpPr>
          <p:cNvPr id="105" name="Text 2"/>
          <p:cNvSpPr/>
          <p:nvPr/>
        </p:nvSpPr>
        <p:spPr>
          <a:xfrm>
            <a:off x="1234440" y="3694176"/>
            <a:ext cx="10241280" cy="73152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AI-written reports put too much focus on technical details, drifting away from what the reader wants to know.</a:t>
            </a:r>
            <a:endParaRPr lang="en-US" sz="1600" dirty="0"/>
          </a:p>
        </p:txBody>
      </p:sp>
      <p:sp>
        <p:nvSpPr>
          <p:cNvPr id="106" name="Text 1"/>
          <p:cNvSpPr/>
          <p:nvPr/>
        </p:nvSpPr>
        <p:spPr>
          <a:xfrm>
            <a:off x="868680" y="4572000"/>
            <a:ext cx="10607040" cy="292608"/>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The agent has bad writing habits</a:t>
            </a:r>
            <a:endParaRPr lang="en-US" sz="1600" dirty="0"/>
          </a:p>
        </p:txBody>
      </p:sp>
      <p:sp>
        <p:nvSpPr>
          <p:cNvPr id="107" name="Text 2"/>
          <p:cNvSpPr/>
          <p:nvPr/>
        </p:nvSpPr>
        <p:spPr>
          <a:xfrm>
            <a:off x="1234440" y="4882896"/>
            <a:ext cx="10241280" cy="73152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Redundant headings and reinvented terms often come back in every draft. Verifying and modifying them by hand is exhausting.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5.Practical advice for building AI agents for data science</a:t>
            </a:r>
            <a:endParaRPr lang="en-US" sz="2600" dirty="0"/>
          </a:p>
        </p:txBody>
      </p:sp>
      <p:sp>
        <p:nvSpPr>
          <p:cNvPr id="100" name="Text 1"/>
          <p:cNvSpPr/>
          <p:nvPr/>
        </p:nvSpPr>
        <p:spPr>
          <a:xfrm>
            <a:off x="868680" y="987552"/>
            <a:ext cx="10607040" cy="292608"/>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Build an isolated environment before running the agent</a:t>
            </a:r>
            <a:endParaRPr lang="en-US" sz="1600" dirty="0"/>
          </a:p>
        </p:txBody>
      </p:sp>
      <p:sp>
        <p:nvSpPr>
          <p:cNvPr id="101" name="Text 2"/>
          <p:cNvSpPr/>
          <p:nvPr/>
        </p:nvSpPr>
        <p:spPr>
          <a:xfrm>
            <a:off x="1234440" y="1298448"/>
            <a:ext cx="10241280" cy="73152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This prevents any access to the leaderboard or another run's files.</a:t>
            </a:r>
            <a:endParaRPr lang="en-US" sz="1600" dirty="0"/>
          </a:p>
        </p:txBody>
      </p:sp>
      <p:sp>
        <p:nvSpPr>
          <p:cNvPr id="102" name="Text 1"/>
          <p:cNvSpPr/>
          <p:nvPr/>
        </p:nvSpPr>
        <p:spPr>
          <a:xfrm>
            <a:off x="868680" y="2270760"/>
            <a:ext cx="10607040" cy="292608"/>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Justify the design before building the pipeline</a:t>
            </a:r>
            <a:endParaRPr lang="en-US" sz="1600" dirty="0"/>
          </a:p>
        </p:txBody>
      </p:sp>
      <p:sp>
        <p:nvSpPr>
          <p:cNvPr id="103" name="Text 2"/>
          <p:cNvSpPr/>
          <p:nvPr/>
        </p:nvSpPr>
        <p:spPr>
          <a:xfrm>
            <a:off x="1234440" y="2581656"/>
            <a:ext cx="10241280" cy="73152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This mitigates redesign cost, debugging time, and a full rerun of earlier competitions.</a:t>
            </a:r>
            <a:endParaRPr lang="en-US" sz="1600" dirty="0"/>
          </a:p>
        </p:txBody>
      </p:sp>
      <p:sp>
        <p:nvSpPr>
          <p:cNvPr id="104" name="Text 1"/>
          <p:cNvSpPr/>
          <p:nvPr/>
        </p:nvSpPr>
        <p:spPr>
          <a:xfrm>
            <a:off x="868680" y="3553968"/>
            <a:ext cx="10607040" cy="292608"/>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t>
            </a:r>
            <a:pPr indent="0" marL="0">
              <a:buNone/>
            </a:pPr>
            <a:r>
              <a:rPr lang="en-US" sz="1600" b="1" dirty="0">
                <a:solidFill>
                  <a:srgbClr val="111111"/>
                </a:solidFill>
                <a:latin typeface="Arial" pitchFamily="34" charset="0"/>
                <a:ea typeface="Arial" pitchFamily="34" charset="-122"/>
                <a:cs typeface="Arial" pitchFamily="34" charset="-120"/>
              </a:rPr>
              <a:t>Inject external knowledge before data modeling</a:t>
            </a:r>
            <a:endParaRPr lang="en-US" sz="1600" dirty="0"/>
          </a:p>
        </p:txBody>
      </p:sp>
      <p:sp>
        <p:nvSpPr>
          <p:cNvPr id="105" name="Text 2"/>
          <p:cNvSpPr/>
          <p:nvPr/>
        </p:nvSpPr>
        <p:spPr>
          <a:xfrm>
            <a:off x="1234440" y="3864864"/>
            <a:ext cx="10241280" cy="731520"/>
          </a:xfrm>
          <a:prstGeom prst="rect">
            <a:avLst/>
          </a:prstGeom>
          <a:noFill/>
          <a:ln/>
        </p:spPr>
        <p:txBody>
          <a:bodyPr wrap="square" lIns="0" tIns="0" rIns="0" bIns="0" rtlCol="0" anchor="ctr"/>
          <a:lstStyle/>
          <a:p>
            <a:pPr indent="0" marL="0">
              <a:buNone/>
            </a:pPr>
            <a:r>
              <a:rPr lang="en-US" sz="1600" dirty="0">
                <a:solidFill>
                  <a:srgbClr val="111111"/>
                </a:solidFill>
                <a:latin typeface="Arial" pitchFamily="34" charset="0"/>
                <a:ea typeface="Arial" pitchFamily="34" charset="-122"/>
                <a:cs typeface="Arial" pitchFamily="34" charset="-120"/>
              </a:rPr>
              <a:t>This often improves the score. However, if those external data are injected at the final step, the score shows almost no improvement.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6.References</a:t>
            </a:r>
            <a:endParaRPr lang="en-US" sz="2600" dirty="0"/>
          </a:p>
        </p:txBody>
      </p:sp>
      <p:sp>
        <p:nvSpPr>
          <p:cNvPr id="3" name="Text 1"/>
          <p:cNvSpPr/>
          <p:nvPr/>
        </p:nvSpPr>
        <p:spPr>
          <a:xfrm>
            <a:off x="658368" y="1188720"/>
            <a:ext cx="10881360" cy="2926080"/>
          </a:xfrm>
          <a:prstGeom prst="rect">
            <a:avLst/>
          </a:prstGeom>
          <a:noFill/>
          <a:ln/>
        </p:spPr>
        <p:txBody>
          <a:bodyPr wrap="square" lIns="0" tIns="0" rIns="0" bIns="0" rtlCol="0" anchor="t"/>
          <a:lstStyle/>
          <a:p>
            <a:pPr indent="0" marL="0">
              <a:lnSpc>
                <a:spcPct val="135000"/>
              </a:lnSpc>
              <a:buNone/>
            </a:pPr>
            <a:r>
              <a:rPr lang="en-US" sz="1300" dirty="0">
                <a:solidFill>
                  <a:srgbClr val="111111"/>
                </a:solidFill>
                <a:latin typeface="Arial" pitchFamily="34" charset="0"/>
                <a:ea typeface="Arial" pitchFamily="34" charset="-122"/>
                <a:cs typeface="Arial" pitchFamily="34" charset="-120"/>
              </a:rPr>
              <a:t>[1]  Z. Jiang et al., AIDE: AI-driven exploration in the space of code, </a:t>
            </a:r>
            <a:pPr indent="0" marL="0">
              <a:lnSpc>
                <a:spcPct val="135000"/>
              </a:lnSpc>
              <a:buNone/>
            </a:pPr>
            <a:r>
              <a:rPr lang="en-US" sz="1300" i="1" dirty="0">
                <a:solidFill>
                  <a:srgbClr val="111111"/>
                </a:solidFill>
                <a:latin typeface="Arial" pitchFamily="34" charset="0"/>
                <a:ea typeface="Arial" pitchFamily="34" charset="-122"/>
                <a:cs typeface="Arial" pitchFamily="34" charset="-120"/>
              </a:rPr>
              <a:t>arXiv:2502.13138</a:t>
            </a:r>
            <a:pPr indent="0" marL="0">
              <a:lnSpc>
                <a:spcPct val="135000"/>
              </a:lnSpc>
              <a:buNone/>
            </a:pPr>
            <a:r>
              <a:rPr lang="en-US" sz="1300" dirty="0">
                <a:solidFill>
                  <a:srgbClr val="111111"/>
                </a:solidFill>
                <a:latin typeface="Arial" pitchFamily="34" charset="0"/>
                <a:ea typeface="Arial" pitchFamily="34" charset="-122"/>
                <a:cs typeface="Arial" pitchFamily="34" charset="-120"/>
              </a:rPr>
              <a:t>.
</a:t>
            </a:r>
            <a:pPr indent="0" marL="0">
              <a:lnSpc>
                <a:spcPct val="135000"/>
              </a:lnSpc>
              <a:buNone/>
            </a:pPr>
            <a:r>
              <a:rPr lang="en-US" sz="1300" dirty="0">
                <a:solidFill>
                  <a:srgbClr val="111111"/>
                </a:solidFill>
                <a:latin typeface="Arial" pitchFamily="34" charset="0"/>
                <a:ea typeface="Arial" pitchFamily="34" charset="-122"/>
                <a:cs typeface="Arial" pitchFamily="34" charset="-120"/>
              </a:rPr>
              <a:t>[2]  E. Aygün </a:t>
            </a:r>
            <a:pPr indent="0" marL="0">
              <a:lnSpc>
                <a:spcPct val="135000"/>
              </a:lnSpc>
              <a:buNone/>
            </a:pPr>
            <a:r>
              <a:rPr lang="en-US" sz="1300" i="1" dirty="0">
                <a:solidFill>
                  <a:srgbClr val="111111"/>
                </a:solidFill>
                <a:latin typeface="Arial" pitchFamily="34" charset="0"/>
                <a:ea typeface="Arial" pitchFamily="34" charset="-122"/>
                <a:cs typeface="Arial" pitchFamily="34" charset="-120"/>
              </a:rPr>
              <a:t>et al</a:t>
            </a:r>
            <a:pPr indent="0" marL="0">
              <a:lnSpc>
                <a:spcPct val="135000"/>
              </a:lnSpc>
              <a:buNone/>
            </a:pPr>
            <a:r>
              <a:rPr lang="en-US" sz="1300" dirty="0">
                <a:solidFill>
                  <a:srgbClr val="111111"/>
                </a:solidFill>
                <a:latin typeface="Arial" pitchFamily="34" charset="0"/>
                <a:ea typeface="Arial" pitchFamily="34" charset="-122"/>
                <a:cs typeface="Arial" pitchFamily="34" charset="-120"/>
              </a:rPr>
              <a:t>., An AI system to help scientists write expert-level empirical software, </a:t>
            </a:r>
            <a:pPr indent="0" marL="0">
              <a:lnSpc>
                <a:spcPct val="135000"/>
              </a:lnSpc>
              <a:buNone/>
            </a:pPr>
            <a:r>
              <a:rPr lang="en-US" sz="1300" i="1" dirty="0">
                <a:solidFill>
                  <a:srgbClr val="111111"/>
                </a:solidFill>
                <a:latin typeface="Arial" pitchFamily="34" charset="0"/>
                <a:ea typeface="Arial" pitchFamily="34" charset="-122"/>
                <a:cs typeface="Arial" pitchFamily="34" charset="-120"/>
              </a:rPr>
              <a:t>Nature</a:t>
            </a:r>
            <a:pPr indent="0" marL="0">
              <a:lnSpc>
                <a:spcPct val="135000"/>
              </a:lnSpc>
              <a:buNone/>
            </a:pPr>
            <a:r>
              <a:rPr lang="en-US" sz="1300" dirty="0">
                <a:solidFill>
                  <a:srgbClr val="111111"/>
                </a:solidFill>
                <a:latin typeface="Arial" pitchFamily="34" charset="0"/>
                <a:ea typeface="Arial" pitchFamily="34" charset="-122"/>
                <a:cs typeface="Arial" pitchFamily="34" charset="-120"/>
              </a:rPr>
              <a:t> </a:t>
            </a:r>
            <a:pPr indent="0" marL="0">
              <a:lnSpc>
                <a:spcPct val="135000"/>
              </a:lnSpc>
              <a:buNone/>
            </a:pPr>
            <a:r>
              <a:rPr lang="en-US" sz="1300" b="1" dirty="0">
                <a:solidFill>
                  <a:srgbClr val="111111"/>
                </a:solidFill>
                <a:latin typeface="Arial" pitchFamily="34" charset="0"/>
                <a:ea typeface="Arial" pitchFamily="34" charset="-122"/>
                <a:cs typeface="Arial" pitchFamily="34" charset="-120"/>
              </a:rPr>
              <a:t>654</a:t>
            </a:r>
            <a:pPr indent="0" marL="0">
              <a:lnSpc>
                <a:spcPct val="135000"/>
              </a:lnSpc>
              <a:buNone/>
            </a:pPr>
            <a:r>
              <a:rPr lang="en-US" sz="1300" dirty="0">
                <a:solidFill>
                  <a:srgbClr val="111111"/>
                </a:solidFill>
                <a:latin typeface="Arial" pitchFamily="34" charset="0"/>
                <a:ea typeface="Arial" pitchFamily="34" charset="-122"/>
                <a:cs typeface="Arial" pitchFamily="34" charset="-120"/>
              </a:rPr>
              <a:t>, 909 (2026).
</a:t>
            </a:r>
            <a:pPr indent="0" marL="0">
              <a:lnSpc>
                <a:spcPct val="135000"/>
              </a:lnSpc>
              <a:buNone/>
            </a:pPr>
            <a:r>
              <a:rPr lang="en-US" sz="1300" dirty="0">
                <a:solidFill>
                  <a:srgbClr val="111111"/>
                </a:solidFill>
                <a:latin typeface="Arial" pitchFamily="34" charset="0"/>
                <a:ea typeface="Arial" pitchFamily="34" charset="-122"/>
                <a:cs typeface="Arial" pitchFamily="34" charset="-120"/>
              </a:rPr>
              <a:t>[3]  NVIDIA Corporation, computer code NVIDIA Kaggle Plugin, Santa Clara, CA, 2026, https://github.com/NVIDIA/nvidia-kaggle.
</a:t>
            </a:r>
            <a:pPr indent="0" marL="0">
              <a:lnSpc>
                <a:spcPct val="135000"/>
              </a:lnSpc>
              <a:buNone/>
            </a:pPr>
            <a:r>
              <a:rPr lang="en-US" sz="1300" dirty="0">
                <a:solidFill>
                  <a:srgbClr val="111111"/>
                </a:solidFill>
                <a:latin typeface="Arial" pitchFamily="34" charset="0"/>
                <a:ea typeface="Arial" pitchFamily="34" charset="-122"/>
                <a:cs typeface="Arial" pitchFamily="34" charset="-120"/>
              </a:rPr>
              <a:t>[4]  J. S. Chan </a:t>
            </a:r>
            <a:pPr indent="0" marL="0">
              <a:lnSpc>
                <a:spcPct val="135000"/>
              </a:lnSpc>
              <a:buNone/>
            </a:pPr>
            <a:r>
              <a:rPr lang="en-US" sz="1300" i="1" dirty="0">
                <a:solidFill>
                  <a:srgbClr val="111111"/>
                </a:solidFill>
                <a:latin typeface="Arial" pitchFamily="34" charset="0"/>
                <a:ea typeface="Arial" pitchFamily="34" charset="-122"/>
                <a:cs typeface="Arial" pitchFamily="34" charset="-120"/>
              </a:rPr>
              <a:t>et al</a:t>
            </a:r>
            <a:pPr indent="0" marL="0">
              <a:lnSpc>
                <a:spcPct val="135000"/>
              </a:lnSpc>
              <a:buNone/>
            </a:pPr>
            <a:r>
              <a:rPr lang="en-US" sz="1300" dirty="0">
                <a:solidFill>
                  <a:srgbClr val="111111"/>
                </a:solidFill>
                <a:latin typeface="Arial" pitchFamily="34" charset="0"/>
                <a:ea typeface="Arial" pitchFamily="34" charset="-122"/>
                <a:cs typeface="Arial" pitchFamily="34" charset="-120"/>
              </a:rPr>
              <a:t>., MLE-bench: Evaluating machine learning agents on machine learning engineering, in </a:t>
            </a:r>
            <a:pPr indent="0" marL="0">
              <a:lnSpc>
                <a:spcPct val="135000"/>
              </a:lnSpc>
              <a:buNone/>
            </a:pPr>
            <a:r>
              <a:rPr lang="en-US" sz="1300" i="1" dirty="0">
                <a:solidFill>
                  <a:srgbClr val="111111"/>
                </a:solidFill>
                <a:latin typeface="Arial" pitchFamily="34" charset="0"/>
                <a:ea typeface="Arial" pitchFamily="34" charset="-122"/>
                <a:cs typeface="Arial" pitchFamily="34" charset="-120"/>
              </a:rPr>
              <a:t>Proceedings of the 13th International Conference on Learning Representations</a:t>
            </a:r>
            <a:pPr indent="0" marL="0">
              <a:lnSpc>
                <a:spcPct val="135000"/>
              </a:lnSpc>
              <a:buNone/>
            </a:pPr>
            <a:r>
              <a:rPr lang="en-US" sz="1300" dirty="0">
                <a:solidFill>
                  <a:srgbClr val="111111"/>
                </a:solidFill>
                <a:latin typeface="Arial" pitchFamily="34" charset="0"/>
                <a:ea typeface="Arial" pitchFamily="34" charset="-122"/>
                <a:cs typeface="Arial" pitchFamily="34" charset="-120"/>
              </a:rPr>
              <a:t>, 2025, https://openreview.net/forum?id=6s5uXNWGIh.</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2834640"/>
            <a:ext cx="10515600" cy="914400"/>
          </a:xfrm>
          <a:prstGeom prst="rect">
            <a:avLst/>
          </a:prstGeom>
          <a:noFill/>
          <a:ln/>
        </p:spPr>
        <p:txBody>
          <a:bodyPr wrap="square" lIns="0" tIns="0" rIns="0" bIns="0" rtlCol="0" anchor="ctr"/>
          <a:lstStyle/>
          <a:p>
            <a:pPr algn="ctr" indent="0" marL="0">
              <a:buNone/>
            </a:pPr>
            <a:r>
              <a:rPr lang="en-US" sz="4000" b="1" dirty="0">
                <a:solidFill>
                  <a:srgbClr val="111111"/>
                </a:solidFill>
                <a:latin typeface="Arial" pitchFamily="34" charset="0"/>
                <a:ea typeface="Arial" pitchFamily="34" charset="-122"/>
                <a:cs typeface="Arial" pitchFamily="34" charset="-120"/>
              </a:rPr>
              <a:t>Questions</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2026-08-21T11:51:42Z</dcterms:created>
  <dcterms:modified xsi:type="dcterms:W3CDTF">2026-08-21T11:51:42Z</dcterms:modified>
</cp:coreProperties>
</file>